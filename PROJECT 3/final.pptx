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4" r:id="rId4"/>
    <p:sldId id="258" r:id="rId5"/>
    <p:sldId id="268" r:id="rId6"/>
    <p:sldId id="260" r:id="rId7"/>
    <p:sldId id="265" r:id="rId8"/>
    <p:sldId id="261" r:id="rId9"/>
    <p:sldId id="266" r:id="rId10"/>
    <p:sldId id="267" r:id="rId11"/>
    <p:sldId id="263" r:id="rId12"/>
    <p:sldId id="269" r:id="rId13"/>
    <p:sldId id="270" r:id="rId14"/>
    <p:sldId id="271" r:id="rId15"/>
    <p:sldId id="272" r:id="rId16"/>
    <p:sldId id="273" r:id="rId17"/>
    <p:sldId id="274" r:id="rId18"/>
    <p:sldId id="277" r:id="rId19"/>
    <p:sldId id="276" r:id="rId20"/>
    <p:sldId id="275" r:id="rId21"/>
    <p:sldId id="279" r:id="rId22"/>
  </p:sldIdLst>
  <p:sldSz cx="14630400" cy="8229600"/>
  <p:notesSz cx="8229600" cy="14630400"/>
  <p:embeddedFontLst>
    <p:embeddedFont>
      <p:font typeface="Calibri" pitchFamily="34" charset="0"/>
      <p:regular r:id="rId24"/>
      <p:bold r:id="rId25"/>
      <p:italic r:id="rId26"/>
      <p:boldItalic r:id="rId27"/>
    </p:embeddedFont>
    <p:embeddedFont>
      <p:font typeface="Consolas" pitchFamily="49" charset="0"/>
      <p:regular r:id="rId28"/>
      <p:bold r:id="rId29"/>
      <p:italic r:id="rId30"/>
      <p:boldItalic r:id="rId31"/>
    </p:embeddedFont>
    <p:embeddedFont>
      <p:font typeface="Inter" charset="0"/>
      <p:regular r:id="rId32"/>
    </p:embeddedFont>
    <p:embeddedFont>
      <p:font typeface="Bahnschrift Condensed" pitchFamily="34" charset="0"/>
      <p:regular r:id="rId33"/>
      <p:bold r:id="rId34"/>
    </p:embeddedFont>
    <p:embeddedFont>
      <p:font typeface="Fraunces Extra Bold" charset="0"/>
      <p:regular r:id="rId3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8" autoAdjust="0"/>
    <p:restoredTop sz="94610" autoAdjust="0"/>
  </p:normalViewPr>
  <p:slideViewPr>
    <p:cSldViewPr snapToGrid="0" snapToObjects="1">
      <p:cViewPr>
        <p:scale>
          <a:sx n="60" d="100"/>
          <a:sy n="60" d="100"/>
        </p:scale>
        <p:origin x="-612" y="-156"/>
      </p:cViewPr>
      <p:guideLst>
        <p:guide orient="horz" pos="2592"/>
        <p:guide pos="460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408E56-E90B-4462-A6E6-57341E2A00B8}" type="doc">
      <dgm:prSet loTypeId="urn:microsoft.com/office/officeart/2005/8/layout/StepDownProcess" loCatId="process" qsTypeId="urn:microsoft.com/office/officeart/2005/8/quickstyle/simple2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8DE0FFE8-A444-4206-917D-D8C9477C9E25}">
      <dgm:prSet phldrT="[Text]" custT="1"/>
      <dgm:spPr/>
      <dgm:t>
        <a:bodyPr/>
        <a:lstStyle/>
        <a:p>
          <a:pPr algn="l"/>
          <a:r>
            <a:rPr lang="en-US" sz="1600" dirty="0" smtClean="0"/>
            <a:t>Data  profiling  analysis and cleaning</a:t>
          </a:r>
          <a:endParaRPr lang="en-US" sz="1600" dirty="0"/>
        </a:p>
      </dgm:t>
    </dgm:pt>
    <dgm:pt modelId="{08CFA8C1-7377-4D02-B918-F634DB1179A1}" type="parTrans" cxnId="{2F1BB1A3-E521-4A6A-B506-4CD85325E2F9}">
      <dgm:prSet/>
      <dgm:spPr/>
      <dgm:t>
        <a:bodyPr/>
        <a:lstStyle/>
        <a:p>
          <a:endParaRPr lang="en-US"/>
        </a:p>
      </dgm:t>
    </dgm:pt>
    <dgm:pt modelId="{5BECF223-1302-4F44-B5B8-5CB0AE517A95}" type="sibTrans" cxnId="{2F1BB1A3-E521-4A6A-B506-4CD85325E2F9}">
      <dgm:prSet/>
      <dgm:spPr/>
      <dgm:t>
        <a:bodyPr/>
        <a:lstStyle/>
        <a:p>
          <a:endParaRPr lang="en-US"/>
        </a:p>
      </dgm:t>
    </dgm:pt>
    <dgm:pt modelId="{5EC3853C-4708-474D-A598-25662600E59E}">
      <dgm:prSet phldrT="[Text]"/>
      <dgm:spPr/>
      <dgm:t>
        <a:bodyPr/>
        <a:lstStyle/>
        <a:p>
          <a:pPr algn="l"/>
          <a:r>
            <a:rPr lang="en-US" dirty="0" smtClean="0"/>
            <a:t>Feature Engineering</a:t>
          </a:r>
          <a:endParaRPr lang="en-US" dirty="0"/>
        </a:p>
      </dgm:t>
    </dgm:pt>
    <dgm:pt modelId="{D6809F5F-FB8A-4DC1-A680-6A7AED7161FD}" type="parTrans" cxnId="{EC5705D3-15D0-4B97-B843-62B4DE016CFD}">
      <dgm:prSet/>
      <dgm:spPr/>
      <dgm:t>
        <a:bodyPr/>
        <a:lstStyle/>
        <a:p>
          <a:endParaRPr lang="en-US"/>
        </a:p>
      </dgm:t>
    </dgm:pt>
    <dgm:pt modelId="{3A145E58-DAA5-4BB6-8557-D8798D2AA7CA}" type="sibTrans" cxnId="{EC5705D3-15D0-4B97-B843-62B4DE016CFD}">
      <dgm:prSet/>
      <dgm:spPr/>
      <dgm:t>
        <a:bodyPr/>
        <a:lstStyle/>
        <a:p>
          <a:endParaRPr lang="en-US"/>
        </a:p>
      </dgm:t>
    </dgm:pt>
    <dgm:pt modelId="{8A896975-B7EE-4B9C-AB3B-2F7B01D440F6}">
      <dgm:prSet phldrT="[Text]"/>
      <dgm:spPr/>
      <dgm:t>
        <a:bodyPr/>
        <a:lstStyle/>
        <a:p>
          <a:r>
            <a:rPr lang="en-US" dirty="0" smtClean="0"/>
            <a:t>Visualization</a:t>
          </a:r>
          <a:endParaRPr lang="en-US" dirty="0"/>
        </a:p>
      </dgm:t>
    </dgm:pt>
    <dgm:pt modelId="{625D55F7-2AEE-45C9-842B-B59F3074AA6A}" type="parTrans" cxnId="{71367E14-8056-45A4-B64A-1EBAE9E92C63}">
      <dgm:prSet/>
      <dgm:spPr/>
      <dgm:t>
        <a:bodyPr/>
        <a:lstStyle/>
        <a:p>
          <a:endParaRPr lang="en-US"/>
        </a:p>
      </dgm:t>
    </dgm:pt>
    <dgm:pt modelId="{0B87251A-E06B-4FC5-ADBD-D50986460583}" type="sibTrans" cxnId="{71367E14-8056-45A4-B64A-1EBAE9E92C63}">
      <dgm:prSet/>
      <dgm:spPr/>
      <dgm:t>
        <a:bodyPr/>
        <a:lstStyle/>
        <a:p>
          <a:endParaRPr lang="en-US"/>
        </a:p>
      </dgm:t>
    </dgm:pt>
    <dgm:pt modelId="{51B02F00-EFB1-422E-A5EE-378692C2DB19}">
      <dgm:prSet phldrT="[Text]"/>
      <dgm:spPr/>
      <dgm:t>
        <a:bodyPr/>
        <a:lstStyle/>
        <a:p>
          <a:pPr algn="l"/>
          <a:r>
            <a:rPr lang="en-US" dirty="0" smtClean="0"/>
            <a:t>Handling Outliers</a:t>
          </a:r>
          <a:endParaRPr lang="en-US" dirty="0"/>
        </a:p>
      </dgm:t>
    </dgm:pt>
    <dgm:pt modelId="{66F47127-9683-4B5E-9522-51A0D97854CB}" type="parTrans" cxnId="{27C3EA5A-5AB2-4C74-A6E3-A760D5891921}">
      <dgm:prSet/>
      <dgm:spPr/>
      <dgm:t>
        <a:bodyPr/>
        <a:lstStyle/>
        <a:p>
          <a:endParaRPr lang="en-US"/>
        </a:p>
      </dgm:t>
    </dgm:pt>
    <dgm:pt modelId="{CB03694C-439A-49FB-97D2-5E79F01E25BC}" type="sibTrans" cxnId="{27C3EA5A-5AB2-4C74-A6E3-A760D5891921}">
      <dgm:prSet/>
      <dgm:spPr/>
      <dgm:t>
        <a:bodyPr/>
        <a:lstStyle/>
        <a:p>
          <a:endParaRPr lang="en-US"/>
        </a:p>
      </dgm:t>
    </dgm:pt>
    <dgm:pt modelId="{8264FF7F-A0C3-4604-901E-40C64C17B14D}">
      <dgm:prSet phldrT="[Text]"/>
      <dgm:spPr/>
      <dgm:t>
        <a:bodyPr/>
        <a:lstStyle/>
        <a:p>
          <a:r>
            <a:rPr lang="en-US" dirty="0" smtClean="0"/>
            <a:t>Linear Regression</a:t>
          </a:r>
          <a:endParaRPr lang="en-US" dirty="0"/>
        </a:p>
      </dgm:t>
    </dgm:pt>
    <dgm:pt modelId="{BF76053D-BEDC-4220-831A-A10F9D18259A}" type="parTrans" cxnId="{38A70F39-9DE3-40DA-9589-8E491F45659D}">
      <dgm:prSet/>
      <dgm:spPr/>
      <dgm:t>
        <a:bodyPr/>
        <a:lstStyle/>
        <a:p>
          <a:endParaRPr lang="en-US"/>
        </a:p>
      </dgm:t>
    </dgm:pt>
    <dgm:pt modelId="{DC9E5A65-0765-4345-9CFB-1A6D43F75651}" type="sibTrans" cxnId="{38A70F39-9DE3-40DA-9589-8E491F45659D}">
      <dgm:prSet/>
      <dgm:spPr/>
      <dgm:t>
        <a:bodyPr/>
        <a:lstStyle/>
        <a:p>
          <a:endParaRPr lang="en-US"/>
        </a:p>
      </dgm:t>
    </dgm:pt>
    <dgm:pt modelId="{22781C49-9B65-4189-B128-0E84EEEFD399}">
      <dgm:prSet phldrT="[Text]"/>
      <dgm:spPr/>
      <dgm:t>
        <a:bodyPr/>
        <a:lstStyle/>
        <a:p>
          <a:r>
            <a:rPr lang="en-US" dirty="0" smtClean="0"/>
            <a:t>Findings</a:t>
          </a:r>
          <a:endParaRPr lang="en-US" dirty="0"/>
        </a:p>
      </dgm:t>
    </dgm:pt>
    <dgm:pt modelId="{CAA2884F-349E-41D2-B0EE-2D33D494E085}" type="parTrans" cxnId="{2AEA6694-1761-4674-B1AE-EAAA402DA744}">
      <dgm:prSet/>
      <dgm:spPr/>
      <dgm:t>
        <a:bodyPr/>
        <a:lstStyle/>
        <a:p>
          <a:endParaRPr lang="en-US"/>
        </a:p>
      </dgm:t>
    </dgm:pt>
    <dgm:pt modelId="{34FE1678-77E6-4FC5-80F8-687A9A23863E}" type="sibTrans" cxnId="{2AEA6694-1761-4674-B1AE-EAAA402DA744}">
      <dgm:prSet/>
      <dgm:spPr/>
      <dgm:t>
        <a:bodyPr/>
        <a:lstStyle/>
        <a:p>
          <a:endParaRPr lang="en-US"/>
        </a:p>
      </dgm:t>
    </dgm:pt>
    <dgm:pt modelId="{9E5A2280-E4A0-4B4B-AC1C-C685FB938B7D}" type="pres">
      <dgm:prSet presAssocID="{64408E56-E90B-4462-A6E6-57341E2A00B8}" presName="rootnode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549B9B4E-26AD-4944-9040-9CE1122E94F2}" type="pres">
      <dgm:prSet presAssocID="{8DE0FFE8-A444-4206-917D-D8C9477C9E25}" presName="composite" presStyleCnt="0"/>
      <dgm:spPr/>
    </dgm:pt>
    <dgm:pt modelId="{97797BC3-AD76-411A-BA40-75E364213B97}" type="pres">
      <dgm:prSet presAssocID="{8DE0FFE8-A444-4206-917D-D8C9477C9E25}" presName="bentUpArrow1" presStyleLbl="alignImgPlace1" presStyleIdx="0" presStyleCnt="5"/>
      <dgm:spPr/>
    </dgm:pt>
    <dgm:pt modelId="{B103DA49-6C81-4AE8-A9FD-D0F7EFE2B1E2}" type="pres">
      <dgm:prSet presAssocID="{8DE0FFE8-A444-4206-917D-D8C9477C9E25}" presName="ParentText" presStyleLbl="node1" presStyleIdx="0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F1A8E70-A28E-4356-A982-17EB6F7AC11D}" type="pres">
      <dgm:prSet presAssocID="{8DE0FFE8-A444-4206-917D-D8C9477C9E25}" presName="ChildText" presStyleLbl="revTx" presStyleIdx="0" presStyleCnt="5">
        <dgm:presLayoutVars>
          <dgm:chMax val="0"/>
          <dgm:chPref val="0"/>
          <dgm:bulletEnabled val="1"/>
        </dgm:presLayoutVars>
      </dgm:prSet>
      <dgm:spPr/>
    </dgm:pt>
    <dgm:pt modelId="{CF5A009F-CF59-41ED-905A-19ED96FC9E46}" type="pres">
      <dgm:prSet presAssocID="{5BECF223-1302-4F44-B5B8-5CB0AE517A95}" presName="sibTrans" presStyleCnt="0"/>
      <dgm:spPr/>
    </dgm:pt>
    <dgm:pt modelId="{007114D3-BE15-4A87-BA46-4DDEED9ABB6F}" type="pres">
      <dgm:prSet presAssocID="{5EC3853C-4708-474D-A598-25662600E59E}" presName="composite" presStyleCnt="0"/>
      <dgm:spPr/>
    </dgm:pt>
    <dgm:pt modelId="{946A351C-3E27-4B58-9A8D-E13A57077BD9}" type="pres">
      <dgm:prSet presAssocID="{5EC3853C-4708-474D-A598-25662600E59E}" presName="bentUpArrow1" presStyleLbl="alignImgPlace1" presStyleIdx="1" presStyleCnt="5"/>
      <dgm:spPr/>
    </dgm:pt>
    <dgm:pt modelId="{C7BB4B78-E5F0-4341-9F2B-9CB8E0E77F57}" type="pres">
      <dgm:prSet presAssocID="{5EC3853C-4708-474D-A598-25662600E59E}" presName="ParentText" presStyleLbl="node1" presStyleIdx="1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6309CFC-0989-4359-BF5E-7895E886D746}" type="pres">
      <dgm:prSet presAssocID="{5EC3853C-4708-474D-A598-25662600E59E}" presName="ChildText" presStyleLbl="revTx" presStyleIdx="1" presStyleCnt="5">
        <dgm:presLayoutVars>
          <dgm:chMax val="0"/>
          <dgm:chPref val="0"/>
          <dgm:bulletEnabled val="1"/>
        </dgm:presLayoutVars>
      </dgm:prSet>
      <dgm:spPr/>
    </dgm:pt>
    <dgm:pt modelId="{DF8C85E4-69CD-462C-8D24-FEF46F0F54E8}" type="pres">
      <dgm:prSet presAssocID="{3A145E58-DAA5-4BB6-8557-D8798D2AA7CA}" presName="sibTrans" presStyleCnt="0"/>
      <dgm:spPr/>
    </dgm:pt>
    <dgm:pt modelId="{44D53D45-6AF2-4CA2-919B-4ABEA5146FF9}" type="pres">
      <dgm:prSet presAssocID="{8A896975-B7EE-4B9C-AB3B-2F7B01D440F6}" presName="composite" presStyleCnt="0"/>
      <dgm:spPr/>
    </dgm:pt>
    <dgm:pt modelId="{C4AD5982-1782-433D-8343-07BDFCFED365}" type="pres">
      <dgm:prSet presAssocID="{8A896975-B7EE-4B9C-AB3B-2F7B01D440F6}" presName="bentUpArrow1" presStyleLbl="alignImgPlace1" presStyleIdx="2" presStyleCnt="5"/>
      <dgm:spPr/>
    </dgm:pt>
    <dgm:pt modelId="{7A675F01-3C34-4FB1-9EA1-11AB7EFACBF7}" type="pres">
      <dgm:prSet presAssocID="{8A896975-B7EE-4B9C-AB3B-2F7B01D440F6}" presName="ParentText" presStyleLbl="node1" presStyleIdx="2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1ECE24D-8415-4C60-A620-FB557BC585B4}" type="pres">
      <dgm:prSet presAssocID="{8A896975-B7EE-4B9C-AB3B-2F7B01D440F6}" presName="ChildText" presStyleLbl="revTx" presStyleIdx="2" presStyleCnt="5">
        <dgm:presLayoutVars>
          <dgm:chMax val="0"/>
          <dgm:chPref val="0"/>
          <dgm:bulletEnabled val="1"/>
        </dgm:presLayoutVars>
      </dgm:prSet>
      <dgm:spPr/>
    </dgm:pt>
    <dgm:pt modelId="{4A1AA38C-B29B-4B2C-8481-F7293DF7FE82}" type="pres">
      <dgm:prSet presAssocID="{0B87251A-E06B-4FC5-ADBD-D50986460583}" presName="sibTrans" presStyleCnt="0"/>
      <dgm:spPr/>
    </dgm:pt>
    <dgm:pt modelId="{F5AC001C-C886-4C9D-BFF5-D7E45060423A}" type="pres">
      <dgm:prSet presAssocID="{51B02F00-EFB1-422E-A5EE-378692C2DB19}" presName="composite" presStyleCnt="0"/>
      <dgm:spPr/>
    </dgm:pt>
    <dgm:pt modelId="{B59E6366-629D-4A3C-A3C5-E54358821D5A}" type="pres">
      <dgm:prSet presAssocID="{51B02F00-EFB1-422E-A5EE-378692C2DB19}" presName="bentUpArrow1" presStyleLbl="alignImgPlace1" presStyleIdx="3" presStyleCnt="5"/>
      <dgm:spPr/>
    </dgm:pt>
    <dgm:pt modelId="{770DEDE1-5B4F-4967-AC3A-BE0CB1090F8E}" type="pres">
      <dgm:prSet presAssocID="{51B02F00-EFB1-422E-A5EE-378692C2DB19}" presName="ParentText" presStyleLbl="node1" presStyleIdx="3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6A2FCAB-377D-4F60-8953-73559B004007}" type="pres">
      <dgm:prSet presAssocID="{51B02F00-EFB1-422E-A5EE-378692C2DB19}" presName="ChildText" presStyleLbl="revTx" presStyleIdx="3" presStyleCnt="5">
        <dgm:presLayoutVars>
          <dgm:chMax val="0"/>
          <dgm:chPref val="0"/>
          <dgm:bulletEnabled val="1"/>
        </dgm:presLayoutVars>
      </dgm:prSet>
      <dgm:spPr/>
    </dgm:pt>
    <dgm:pt modelId="{CBE32CE5-FDCC-4078-957E-C141FCBD61B4}" type="pres">
      <dgm:prSet presAssocID="{CB03694C-439A-49FB-97D2-5E79F01E25BC}" presName="sibTrans" presStyleCnt="0"/>
      <dgm:spPr/>
    </dgm:pt>
    <dgm:pt modelId="{B58F228D-66E5-422E-9AC5-6DEE4C33CCFB}" type="pres">
      <dgm:prSet presAssocID="{8264FF7F-A0C3-4604-901E-40C64C17B14D}" presName="composite" presStyleCnt="0"/>
      <dgm:spPr/>
    </dgm:pt>
    <dgm:pt modelId="{2CBFF37C-2356-4CD0-A315-CD5B5AEF6A5D}" type="pres">
      <dgm:prSet presAssocID="{8264FF7F-A0C3-4604-901E-40C64C17B14D}" presName="bentUpArrow1" presStyleLbl="alignImgPlace1" presStyleIdx="4" presStyleCnt="5"/>
      <dgm:spPr/>
    </dgm:pt>
    <dgm:pt modelId="{F8C7969A-CCAF-441F-A620-F70BD5762A5E}" type="pres">
      <dgm:prSet presAssocID="{8264FF7F-A0C3-4604-901E-40C64C17B14D}" presName="ParentText" presStyleLbl="node1" presStyleIdx="4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756EECB-4ED6-4BDB-8EA0-62FADA562729}" type="pres">
      <dgm:prSet presAssocID="{8264FF7F-A0C3-4604-901E-40C64C17B14D}" presName="ChildText" presStyleLbl="revTx" presStyleIdx="4" presStyleCnt="5">
        <dgm:presLayoutVars>
          <dgm:chMax val="0"/>
          <dgm:chPref val="0"/>
          <dgm:bulletEnabled val="1"/>
        </dgm:presLayoutVars>
      </dgm:prSet>
      <dgm:spPr/>
    </dgm:pt>
    <dgm:pt modelId="{33877D27-C80E-4A9A-B7D0-303C6630BBBB}" type="pres">
      <dgm:prSet presAssocID="{DC9E5A65-0765-4345-9CFB-1A6D43F75651}" presName="sibTrans" presStyleCnt="0"/>
      <dgm:spPr/>
    </dgm:pt>
    <dgm:pt modelId="{EF124F63-CB21-40D6-9B86-2997C10F77F8}" type="pres">
      <dgm:prSet presAssocID="{22781C49-9B65-4189-B128-0E84EEEFD399}" presName="composite" presStyleCnt="0"/>
      <dgm:spPr/>
    </dgm:pt>
    <dgm:pt modelId="{139E4F6D-4624-4BA3-A1EC-1FB14048C238}" type="pres">
      <dgm:prSet presAssocID="{22781C49-9B65-4189-B128-0E84EEEFD399}" presName="ParentText" presStyleLbl="node1" presStyleIdx="5" presStyleCnt="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7C3EA5A-5AB2-4C74-A6E3-A760D5891921}" srcId="{64408E56-E90B-4462-A6E6-57341E2A00B8}" destId="{51B02F00-EFB1-422E-A5EE-378692C2DB19}" srcOrd="3" destOrd="0" parTransId="{66F47127-9683-4B5E-9522-51A0D97854CB}" sibTransId="{CB03694C-439A-49FB-97D2-5E79F01E25BC}"/>
    <dgm:cxn modelId="{2F1BB1A3-E521-4A6A-B506-4CD85325E2F9}" srcId="{64408E56-E90B-4462-A6E6-57341E2A00B8}" destId="{8DE0FFE8-A444-4206-917D-D8C9477C9E25}" srcOrd="0" destOrd="0" parTransId="{08CFA8C1-7377-4D02-B918-F634DB1179A1}" sibTransId="{5BECF223-1302-4F44-B5B8-5CB0AE517A95}"/>
    <dgm:cxn modelId="{430BA292-11AF-4917-8BFB-99DEB4223D1D}" type="presOf" srcId="{8A896975-B7EE-4B9C-AB3B-2F7B01D440F6}" destId="{7A675F01-3C34-4FB1-9EA1-11AB7EFACBF7}" srcOrd="0" destOrd="0" presId="urn:microsoft.com/office/officeart/2005/8/layout/StepDownProcess"/>
    <dgm:cxn modelId="{D0B407D1-F2E8-4B2D-BF1C-3029B4938F7B}" type="presOf" srcId="{51B02F00-EFB1-422E-A5EE-378692C2DB19}" destId="{770DEDE1-5B4F-4967-AC3A-BE0CB1090F8E}" srcOrd="0" destOrd="0" presId="urn:microsoft.com/office/officeart/2005/8/layout/StepDownProcess"/>
    <dgm:cxn modelId="{71367E14-8056-45A4-B64A-1EBAE9E92C63}" srcId="{64408E56-E90B-4462-A6E6-57341E2A00B8}" destId="{8A896975-B7EE-4B9C-AB3B-2F7B01D440F6}" srcOrd="2" destOrd="0" parTransId="{625D55F7-2AEE-45C9-842B-B59F3074AA6A}" sibTransId="{0B87251A-E06B-4FC5-ADBD-D50986460583}"/>
    <dgm:cxn modelId="{7653CC65-E3AC-4865-9656-EF824E5E12FC}" type="presOf" srcId="{64408E56-E90B-4462-A6E6-57341E2A00B8}" destId="{9E5A2280-E4A0-4B4B-AC1C-C685FB938B7D}" srcOrd="0" destOrd="0" presId="urn:microsoft.com/office/officeart/2005/8/layout/StepDownProcess"/>
    <dgm:cxn modelId="{2AEA6694-1761-4674-B1AE-EAAA402DA744}" srcId="{64408E56-E90B-4462-A6E6-57341E2A00B8}" destId="{22781C49-9B65-4189-B128-0E84EEEFD399}" srcOrd="5" destOrd="0" parTransId="{CAA2884F-349E-41D2-B0EE-2D33D494E085}" sibTransId="{34FE1678-77E6-4FC5-80F8-687A9A23863E}"/>
    <dgm:cxn modelId="{41EEC148-1C56-4B7C-BEE7-868E33F4CF38}" type="presOf" srcId="{22781C49-9B65-4189-B128-0E84EEEFD399}" destId="{139E4F6D-4624-4BA3-A1EC-1FB14048C238}" srcOrd="0" destOrd="0" presId="urn:microsoft.com/office/officeart/2005/8/layout/StepDownProcess"/>
    <dgm:cxn modelId="{38A70F39-9DE3-40DA-9589-8E491F45659D}" srcId="{64408E56-E90B-4462-A6E6-57341E2A00B8}" destId="{8264FF7F-A0C3-4604-901E-40C64C17B14D}" srcOrd="4" destOrd="0" parTransId="{BF76053D-BEDC-4220-831A-A10F9D18259A}" sibTransId="{DC9E5A65-0765-4345-9CFB-1A6D43F75651}"/>
    <dgm:cxn modelId="{DC234B7E-A56E-47B4-BA17-7AD43F08590F}" type="presOf" srcId="{5EC3853C-4708-474D-A598-25662600E59E}" destId="{C7BB4B78-E5F0-4341-9F2B-9CB8E0E77F57}" srcOrd="0" destOrd="0" presId="urn:microsoft.com/office/officeart/2005/8/layout/StepDownProcess"/>
    <dgm:cxn modelId="{EC5705D3-15D0-4B97-B843-62B4DE016CFD}" srcId="{64408E56-E90B-4462-A6E6-57341E2A00B8}" destId="{5EC3853C-4708-474D-A598-25662600E59E}" srcOrd="1" destOrd="0" parTransId="{D6809F5F-FB8A-4DC1-A680-6A7AED7161FD}" sibTransId="{3A145E58-DAA5-4BB6-8557-D8798D2AA7CA}"/>
    <dgm:cxn modelId="{97A5B7DE-7727-4797-BA77-EE282670B1A1}" type="presOf" srcId="{8DE0FFE8-A444-4206-917D-D8C9477C9E25}" destId="{B103DA49-6C81-4AE8-A9FD-D0F7EFE2B1E2}" srcOrd="0" destOrd="0" presId="urn:microsoft.com/office/officeart/2005/8/layout/StepDownProcess"/>
    <dgm:cxn modelId="{FBC02C24-9D83-4D26-AC27-0FBB8F7EA3F8}" type="presOf" srcId="{8264FF7F-A0C3-4604-901E-40C64C17B14D}" destId="{F8C7969A-CCAF-441F-A620-F70BD5762A5E}" srcOrd="0" destOrd="0" presId="urn:microsoft.com/office/officeart/2005/8/layout/StepDownProcess"/>
    <dgm:cxn modelId="{E5ADCB20-5CDF-4AE1-BE98-61831102A7D6}" type="presParOf" srcId="{9E5A2280-E4A0-4B4B-AC1C-C685FB938B7D}" destId="{549B9B4E-26AD-4944-9040-9CE1122E94F2}" srcOrd="0" destOrd="0" presId="urn:microsoft.com/office/officeart/2005/8/layout/StepDownProcess"/>
    <dgm:cxn modelId="{AAE05371-DB6A-458D-8FF7-968F09C6CEEC}" type="presParOf" srcId="{549B9B4E-26AD-4944-9040-9CE1122E94F2}" destId="{97797BC3-AD76-411A-BA40-75E364213B97}" srcOrd="0" destOrd="0" presId="urn:microsoft.com/office/officeart/2005/8/layout/StepDownProcess"/>
    <dgm:cxn modelId="{8573DA36-99DD-454C-85D9-7FF1167D9761}" type="presParOf" srcId="{549B9B4E-26AD-4944-9040-9CE1122E94F2}" destId="{B103DA49-6C81-4AE8-A9FD-D0F7EFE2B1E2}" srcOrd="1" destOrd="0" presId="urn:microsoft.com/office/officeart/2005/8/layout/StepDownProcess"/>
    <dgm:cxn modelId="{1CA33F21-F12E-4547-B9D2-2AACD662C06B}" type="presParOf" srcId="{549B9B4E-26AD-4944-9040-9CE1122E94F2}" destId="{3F1A8E70-A28E-4356-A982-17EB6F7AC11D}" srcOrd="2" destOrd="0" presId="urn:microsoft.com/office/officeart/2005/8/layout/StepDownProcess"/>
    <dgm:cxn modelId="{BE34701E-D11F-41C5-A8DD-B12C0AB1F9CE}" type="presParOf" srcId="{9E5A2280-E4A0-4B4B-AC1C-C685FB938B7D}" destId="{CF5A009F-CF59-41ED-905A-19ED96FC9E46}" srcOrd="1" destOrd="0" presId="urn:microsoft.com/office/officeart/2005/8/layout/StepDownProcess"/>
    <dgm:cxn modelId="{CAEB5C9C-EBC1-48A4-B1CA-C5442EF44205}" type="presParOf" srcId="{9E5A2280-E4A0-4B4B-AC1C-C685FB938B7D}" destId="{007114D3-BE15-4A87-BA46-4DDEED9ABB6F}" srcOrd="2" destOrd="0" presId="urn:microsoft.com/office/officeart/2005/8/layout/StepDownProcess"/>
    <dgm:cxn modelId="{7883553A-6FFF-4807-9B5F-65213E1547AA}" type="presParOf" srcId="{007114D3-BE15-4A87-BA46-4DDEED9ABB6F}" destId="{946A351C-3E27-4B58-9A8D-E13A57077BD9}" srcOrd="0" destOrd="0" presId="urn:microsoft.com/office/officeart/2005/8/layout/StepDownProcess"/>
    <dgm:cxn modelId="{062233EF-A1EF-4A9E-9372-3E32371ECC31}" type="presParOf" srcId="{007114D3-BE15-4A87-BA46-4DDEED9ABB6F}" destId="{C7BB4B78-E5F0-4341-9F2B-9CB8E0E77F57}" srcOrd="1" destOrd="0" presId="urn:microsoft.com/office/officeart/2005/8/layout/StepDownProcess"/>
    <dgm:cxn modelId="{4B9EA982-778E-4BE0-A779-94DCC8F4F5C8}" type="presParOf" srcId="{007114D3-BE15-4A87-BA46-4DDEED9ABB6F}" destId="{36309CFC-0989-4359-BF5E-7895E886D746}" srcOrd="2" destOrd="0" presId="urn:microsoft.com/office/officeart/2005/8/layout/StepDownProcess"/>
    <dgm:cxn modelId="{9D814051-7A7F-48C6-9574-B69843D2C97A}" type="presParOf" srcId="{9E5A2280-E4A0-4B4B-AC1C-C685FB938B7D}" destId="{DF8C85E4-69CD-462C-8D24-FEF46F0F54E8}" srcOrd="3" destOrd="0" presId="urn:microsoft.com/office/officeart/2005/8/layout/StepDownProcess"/>
    <dgm:cxn modelId="{CF15DCE1-AAED-41BB-A172-448AFB45CA1D}" type="presParOf" srcId="{9E5A2280-E4A0-4B4B-AC1C-C685FB938B7D}" destId="{44D53D45-6AF2-4CA2-919B-4ABEA5146FF9}" srcOrd="4" destOrd="0" presId="urn:microsoft.com/office/officeart/2005/8/layout/StepDownProcess"/>
    <dgm:cxn modelId="{CD350C09-E6C0-4390-A635-19DC5B51670E}" type="presParOf" srcId="{44D53D45-6AF2-4CA2-919B-4ABEA5146FF9}" destId="{C4AD5982-1782-433D-8343-07BDFCFED365}" srcOrd="0" destOrd="0" presId="urn:microsoft.com/office/officeart/2005/8/layout/StepDownProcess"/>
    <dgm:cxn modelId="{3E6BC76C-4B49-42F6-A5BA-A911B7130951}" type="presParOf" srcId="{44D53D45-6AF2-4CA2-919B-4ABEA5146FF9}" destId="{7A675F01-3C34-4FB1-9EA1-11AB7EFACBF7}" srcOrd="1" destOrd="0" presId="urn:microsoft.com/office/officeart/2005/8/layout/StepDownProcess"/>
    <dgm:cxn modelId="{B15EB382-2CE0-48D8-905C-37E5D84403B6}" type="presParOf" srcId="{44D53D45-6AF2-4CA2-919B-4ABEA5146FF9}" destId="{51ECE24D-8415-4C60-A620-FB557BC585B4}" srcOrd="2" destOrd="0" presId="urn:microsoft.com/office/officeart/2005/8/layout/StepDownProcess"/>
    <dgm:cxn modelId="{BE893865-A5EC-4354-9D77-0D0CE62B682A}" type="presParOf" srcId="{9E5A2280-E4A0-4B4B-AC1C-C685FB938B7D}" destId="{4A1AA38C-B29B-4B2C-8481-F7293DF7FE82}" srcOrd="5" destOrd="0" presId="urn:microsoft.com/office/officeart/2005/8/layout/StepDownProcess"/>
    <dgm:cxn modelId="{FEEE6F8C-2772-4180-A9DC-A0EBDBC58E0E}" type="presParOf" srcId="{9E5A2280-E4A0-4B4B-AC1C-C685FB938B7D}" destId="{F5AC001C-C886-4C9D-BFF5-D7E45060423A}" srcOrd="6" destOrd="0" presId="urn:microsoft.com/office/officeart/2005/8/layout/StepDownProcess"/>
    <dgm:cxn modelId="{FA8AE51E-9492-469D-A376-DE38E7B185A8}" type="presParOf" srcId="{F5AC001C-C886-4C9D-BFF5-D7E45060423A}" destId="{B59E6366-629D-4A3C-A3C5-E54358821D5A}" srcOrd="0" destOrd="0" presId="urn:microsoft.com/office/officeart/2005/8/layout/StepDownProcess"/>
    <dgm:cxn modelId="{A2E867BB-6781-4762-B89C-1AA46DF8AB18}" type="presParOf" srcId="{F5AC001C-C886-4C9D-BFF5-D7E45060423A}" destId="{770DEDE1-5B4F-4967-AC3A-BE0CB1090F8E}" srcOrd="1" destOrd="0" presId="urn:microsoft.com/office/officeart/2005/8/layout/StepDownProcess"/>
    <dgm:cxn modelId="{A54D3F03-8E66-498A-8BEC-4E9785F3F39A}" type="presParOf" srcId="{F5AC001C-C886-4C9D-BFF5-D7E45060423A}" destId="{76A2FCAB-377D-4F60-8953-73559B004007}" srcOrd="2" destOrd="0" presId="urn:microsoft.com/office/officeart/2005/8/layout/StepDownProcess"/>
    <dgm:cxn modelId="{8BBFA5ED-7CC4-4E33-B082-CB5251F28CD1}" type="presParOf" srcId="{9E5A2280-E4A0-4B4B-AC1C-C685FB938B7D}" destId="{CBE32CE5-FDCC-4078-957E-C141FCBD61B4}" srcOrd="7" destOrd="0" presId="urn:microsoft.com/office/officeart/2005/8/layout/StepDownProcess"/>
    <dgm:cxn modelId="{D2DB61C8-3276-4D11-A57D-F18BEC8B81EA}" type="presParOf" srcId="{9E5A2280-E4A0-4B4B-AC1C-C685FB938B7D}" destId="{B58F228D-66E5-422E-9AC5-6DEE4C33CCFB}" srcOrd="8" destOrd="0" presId="urn:microsoft.com/office/officeart/2005/8/layout/StepDownProcess"/>
    <dgm:cxn modelId="{1380E68D-99DA-4F4E-A0EC-C15DBB3D6CEA}" type="presParOf" srcId="{B58F228D-66E5-422E-9AC5-6DEE4C33CCFB}" destId="{2CBFF37C-2356-4CD0-A315-CD5B5AEF6A5D}" srcOrd="0" destOrd="0" presId="urn:microsoft.com/office/officeart/2005/8/layout/StepDownProcess"/>
    <dgm:cxn modelId="{146A935D-03BB-4156-91FE-26E555701AD0}" type="presParOf" srcId="{B58F228D-66E5-422E-9AC5-6DEE4C33CCFB}" destId="{F8C7969A-CCAF-441F-A620-F70BD5762A5E}" srcOrd="1" destOrd="0" presId="urn:microsoft.com/office/officeart/2005/8/layout/StepDownProcess"/>
    <dgm:cxn modelId="{5EA0BB0E-54FC-436A-A969-334D71CE9C2C}" type="presParOf" srcId="{B58F228D-66E5-422E-9AC5-6DEE4C33CCFB}" destId="{1756EECB-4ED6-4BDB-8EA0-62FADA562729}" srcOrd="2" destOrd="0" presId="urn:microsoft.com/office/officeart/2005/8/layout/StepDownProcess"/>
    <dgm:cxn modelId="{22A21F6A-404F-426D-949E-B7AE052D552C}" type="presParOf" srcId="{9E5A2280-E4A0-4B4B-AC1C-C685FB938B7D}" destId="{33877D27-C80E-4A9A-B7D0-303C6630BBBB}" srcOrd="9" destOrd="0" presId="urn:microsoft.com/office/officeart/2005/8/layout/StepDownProcess"/>
    <dgm:cxn modelId="{2AB0CBE0-A473-44F7-B984-083B32050465}" type="presParOf" srcId="{9E5A2280-E4A0-4B4B-AC1C-C685FB938B7D}" destId="{EF124F63-CB21-40D6-9B86-2997C10F77F8}" srcOrd="10" destOrd="0" presId="urn:microsoft.com/office/officeart/2005/8/layout/StepDownProcess"/>
    <dgm:cxn modelId="{0B0898AD-00A1-44BB-A068-CEE248F7536C}" type="presParOf" srcId="{EF124F63-CB21-40D6-9B86-2997C10F77F8}" destId="{139E4F6D-4624-4BA3-A1EC-1FB14048C238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797BC3-AD76-411A-BA40-75E364213B97}">
      <dsp:nvSpPr>
        <dsp:cNvPr id="0" name=""/>
        <dsp:cNvSpPr/>
      </dsp:nvSpPr>
      <dsp:spPr>
        <a:xfrm rot="5400000">
          <a:off x="1749558" y="928260"/>
          <a:ext cx="799024" cy="90966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B103DA49-6C81-4AE8-A9FD-D0F7EFE2B1E2}">
      <dsp:nvSpPr>
        <dsp:cNvPr id="0" name=""/>
        <dsp:cNvSpPr/>
      </dsp:nvSpPr>
      <dsp:spPr>
        <a:xfrm>
          <a:off x="1537865" y="42526"/>
          <a:ext cx="1345086" cy="941516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Data  profiling  analysis and cleaning</a:t>
          </a:r>
          <a:endParaRPr lang="en-US" sz="1600" kern="1200" dirty="0"/>
        </a:p>
      </dsp:txBody>
      <dsp:txXfrm>
        <a:off x="1583834" y="88495"/>
        <a:ext cx="1253148" cy="849578"/>
      </dsp:txXfrm>
    </dsp:sp>
    <dsp:sp modelId="{3F1A8E70-A28E-4356-A982-17EB6F7AC11D}">
      <dsp:nvSpPr>
        <dsp:cNvPr id="0" name=""/>
        <dsp:cNvSpPr/>
      </dsp:nvSpPr>
      <dsp:spPr>
        <a:xfrm>
          <a:off x="2882951" y="132321"/>
          <a:ext cx="978287" cy="760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6A351C-3E27-4B58-9A8D-E13A57077BD9}">
      <dsp:nvSpPr>
        <dsp:cNvPr id="0" name=""/>
        <dsp:cNvSpPr/>
      </dsp:nvSpPr>
      <dsp:spPr>
        <a:xfrm rot="5400000">
          <a:off x="2864777" y="1985894"/>
          <a:ext cx="799024" cy="90966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7BB4B78-E5F0-4341-9F2B-9CB8E0E77F57}">
      <dsp:nvSpPr>
        <dsp:cNvPr id="0" name=""/>
        <dsp:cNvSpPr/>
      </dsp:nvSpPr>
      <dsp:spPr>
        <a:xfrm>
          <a:off x="2653084" y="1100159"/>
          <a:ext cx="1345086" cy="941516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Feature Engineering</a:t>
          </a:r>
          <a:endParaRPr lang="en-US" sz="1700" kern="1200" dirty="0"/>
        </a:p>
      </dsp:txBody>
      <dsp:txXfrm>
        <a:off x="2699053" y="1146128"/>
        <a:ext cx="1253148" cy="849578"/>
      </dsp:txXfrm>
    </dsp:sp>
    <dsp:sp modelId="{36309CFC-0989-4359-BF5E-7895E886D746}">
      <dsp:nvSpPr>
        <dsp:cNvPr id="0" name=""/>
        <dsp:cNvSpPr/>
      </dsp:nvSpPr>
      <dsp:spPr>
        <a:xfrm>
          <a:off x="3998171" y="1189954"/>
          <a:ext cx="978287" cy="760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AD5982-1782-433D-8343-07BDFCFED365}">
      <dsp:nvSpPr>
        <dsp:cNvPr id="0" name=""/>
        <dsp:cNvSpPr/>
      </dsp:nvSpPr>
      <dsp:spPr>
        <a:xfrm rot="5400000">
          <a:off x="3979997" y="3043527"/>
          <a:ext cx="799024" cy="90966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7A675F01-3C34-4FB1-9EA1-11AB7EFACBF7}">
      <dsp:nvSpPr>
        <dsp:cNvPr id="0" name=""/>
        <dsp:cNvSpPr/>
      </dsp:nvSpPr>
      <dsp:spPr>
        <a:xfrm>
          <a:off x="3768304" y="2157793"/>
          <a:ext cx="1345086" cy="941516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Visualization</a:t>
          </a:r>
          <a:endParaRPr lang="en-US" sz="1700" kern="1200" dirty="0"/>
        </a:p>
      </dsp:txBody>
      <dsp:txXfrm>
        <a:off x="3814273" y="2203762"/>
        <a:ext cx="1253148" cy="849578"/>
      </dsp:txXfrm>
    </dsp:sp>
    <dsp:sp modelId="{51ECE24D-8415-4C60-A620-FB557BC585B4}">
      <dsp:nvSpPr>
        <dsp:cNvPr id="0" name=""/>
        <dsp:cNvSpPr/>
      </dsp:nvSpPr>
      <dsp:spPr>
        <a:xfrm>
          <a:off x="5113390" y="2247588"/>
          <a:ext cx="978287" cy="760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9E6366-629D-4A3C-A3C5-E54358821D5A}">
      <dsp:nvSpPr>
        <dsp:cNvPr id="0" name=""/>
        <dsp:cNvSpPr/>
      </dsp:nvSpPr>
      <dsp:spPr>
        <a:xfrm rot="5400000">
          <a:off x="5095216" y="4101161"/>
          <a:ext cx="799024" cy="90966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770DEDE1-5B4F-4967-AC3A-BE0CB1090F8E}">
      <dsp:nvSpPr>
        <dsp:cNvPr id="0" name=""/>
        <dsp:cNvSpPr/>
      </dsp:nvSpPr>
      <dsp:spPr>
        <a:xfrm>
          <a:off x="4883523" y="3215427"/>
          <a:ext cx="1345086" cy="941516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Handling Outliers</a:t>
          </a:r>
          <a:endParaRPr lang="en-US" sz="1700" kern="1200" dirty="0"/>
        </a:p>
      </dsp:txBody>
      <dsp:txXfrm>
        <a:off x="4929492" y="3261396"/>
        <a:ext cx="1253148" cy="849578"/>
      </dsp:txXfrm>
    </dsp:sp>
    <dsp:sp modelId="{76A2FCAB-377D-4F60-8953-73559B004007}">
      <dsp:nvSpPr>
        <dsp:cNvPr id="0" name=""/>
        <dsp:cNvSpPr/>
      </dsp:nvSpPr>
      <dsp:spPr>
        <a:xfrm>
          <a:off x="6228609" y="3305222"/>
          <a:ext cx="978287" cy="760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BFF37C-2356-4CD0-A315-CD5B5AEF6A5D}">
      <dsp:nvSpPr>
        <dsp:cNvPr id="0" name=""/>
        <dsp:cNvSpPr/>
      </dsp:nvSpPr>
      <dsp:spPr>
        <a:xfrm rot="5400000">
          <a:off x="6210435" y="5158795"/>
          <a:ext cx="799024" cy="90966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F8C7969A-CCAF-441F-A620-F70BD5762A5E}">
      <dsp:nvSpPr>
        <dsp:cNvPr id="0" name=""/>
        <dsp:cNvSpPr/>
      </dsp:nvSpPr>
      <dsp:spPr>
        <a:xfrm>
          <a:off x="5998742" y="4273061"/>
          <a:ext cx="1345086" cy="941516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Linear Regression</a:t>
          </a:r>
          <a:endParaRPr lang="en-US" sz="1700" kern="1200" dirty="0"/>
        </a:p>
      </dsp:txBody>
      <dsp:txXfrm>
        <a:off x="6044711" y="4319030"/>
        <a:ext cx="1253148" cy="849578"/>
      </dsp:txXfrm>
    </dsp:sp>
    <dsp:sp modelId="{1756EECB-4ED6-4BDB-8EA0-62FADA562729}">
      <dsp:nvSpPr>
        <dsp:cNvPr id="0" name=""/>
        <dsp:cNvSpPr/>
      </dsp:nvSpPr>
      <dsp:spPr>
        <a:xfrm>
          <a:off x="7343829" y="4362856"/>
          <a:ext cx="978287" cy="760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39E4F6D-4624-4BA3-A1EC-1FB14048C238}">
      <dsp:nvSpPr>
        <dsp:cNvPr id="0" name=""/>
        <dsp:cNvSpPr/>
      </dsp:nvSpPr>
      <dsp:spPr>
        <a:xfrm>
          <a:off x="7113962" y="5330695"/>
          <a:ext cx="1345086" cy="941516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Findings</a:t>
          </a:r>
          <a:endParaRPr lang="en-US" sz="1700" kern="1200" dirty="0"/>
        </a:p>
      </dsp:txBody>
      <dsp:txXfrm>
        <a:off x="7159931" y="5376664"/>
        <a:ext cx="1253148" cy="8495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18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660900" y="0"/>
            <a:ext cx="3567113" cy="7318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84F1A3-760E-4459-9F32-81FCF2BECD41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822325" y="6950075"/>
            <a:ext cx="6584950" cy="65833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896975"/>
            <a:ext cx="3565525" cy="7302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660900" y="13896975"/>
            <a:ext cx="3567113" cy="7302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BDB7E4-EC4D-4501-B626-C4B6812AC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618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89" y="717526"/>
            <a:ext cx="7556421" cy="2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Concrete Strength Prediction Using Regression</a:t>
            </a:r>
            <a:endParaRPr lang="en-US" sz="4900" dirty="0"/>
          </a:p>
        </p:txBody>
      </p:sp>
      <p:sp>
        <p:nvSpPr>
          <p:cNvPr id="5" name="Shape 2"/>
          <p:cNvSpPr/>
          <p:nvPr/>
        </p:nvSpPr>
        <p:spPr>
          <a:xfrm>
            <a:off x="793790" y="5944672"/>
            <a:ext cx="362903" cy="362903"/>
          </a:xfrm>
          <a:prstGeom prst="roundRect">
            <a:avLst>
              <a:gd name="adj" fmla="val 25194296"/>
            </a:avLst>
          </a:prstGeom>
          <a:noFill/>
          <a:ln w="7620">
            <a:solidFill>
              <a:srgbClr val="FFFFF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270039" y="5006015"/>
            <a:ext cx="1425535" cy="396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b="1" dirty="0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By Team 6:</a:t>
            </a:r>
          </a:p>
          <a:p>
            <a:pPr marL="285750" indent="-285750" algn="l">
              <a:lnSpc>
                <a:spcPts val="3100"/>
              </a:lnSpc>
              <a:buFont typeface="Arial" pitchFamily="34" charset="0"/>
              <a:buChar char="•"/>
            </a:pPr>
            <a:r>
              <a:rPr lang="en-US" b="1" dirty="0" err="1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Saurav</a:t>
            </a:r>
            <a:r>
              <a:rPr lang="en-US" b="1" dirty="0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 Raj </a:t>
            </a:r>
            <a:r>
              <a:rPr lang="en-US" b="1" dirty="0" err="1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Aryal</a:t>
            </a:r>
            <a:endParaRPr lang="en-US" b="1" dirty="0" smtClean="0">
              <a:solidFill>
                <a:srgbClr val="272525"/>
              </a:solidFill>
              <a:latin typeface="Inter Bold" pitchFamily="34" charset="0"/>
              <a:ea typeface="Inter Bold" pitchFamily="34" charset="-122"/>
            </a:endParaRPr>
          </a:p>
          <a:p>
            <a:pPr marL="285750" indent="-285750" algn="l">
              <a:lnSpc>
                <a:spcPts val="3100"/>
              </a:lnSpc>
              <a:buFont typeface="Arial" pitchFamily="34" charset="0"/>
              <a:buChar char="•"/>
            </a:pPr>
            <a:r>
              <a:rPr lang="en-US" b="1" dirty="0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Shanti </a:t>
            </a:r>
            <a:r>
              <a:rPr lang="en-US" b="1" dirty="0" err="1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Tamang</a:t>
            </a:r>
            <a:endParaRPr lang="en-US" b="1" dirty="0" smtClean="0">
              <a:solidFill>
                <a:srgbClr val="272525"/>
              </a:solidFill>
              <a:latin typeface="Inter Bold" pitchFamily="34" charset="0"/>
              <a:ea typeface="Inter Bold" pitchFamily="34" charset="-122"/>
            </a:endParaRPr>
          </a:p>
          <a:p>
            <a:pPr marL="285750" indent="-285750" algn="l">
              <a:lnSpc>
                <a:spcPts val="3100"/>
              </a:lnSpc>
              <a:buFont typeface="Arial" pitchFamily="34" charset="0"/>
              <a:buChar char="•"/>
            </a:pPr>
            <a:r>
              <a:rPr lang="en-US" b="1" dirty="0" err="1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Manjil</a:t>
            </a:r>
            <a:r>
              <a:rPr lang="en-US" b="1" dirty="0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 </a:t>
            </a:r>
            <a:r>
              <a:rPr lang="en-US" b="1" dirty="0" err="1" smtClean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</a:rPr>
              <a:t>Shrestha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975240" y="4285396"/>
            <a:ext cx="7145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Predicting the strength of concrete using linear regression model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388358" y="3152633"/>
            <a:ext cx="3480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/>
              <a:t>17 June, 2025</a:t>
            </a:r>
            <a:endParaRPr lang="en-US" sz="2400" b="1" dirty="0"/>
          </a:p>
        </p:txBody>
      </p:sp>
      <p:sp>
        <p:nvSpPr>
          <p:cNvPr id="12" name="Rectangle 11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/>
              <a:t>1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649748" y="703226"/>
            <a:ext cx="6237684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Goal</a:t>
            </a:r>
            <a:endParaRPr lang="en-US" sz="4900" dirty="0"/>
          </a:p>
        </p:txBody>
      </p:sp>
      <p:sp>
        <p:nvSpPr>
          <p:cNvPr id="4" name="Shape 1"/>
          <p:cNvSpPr/>
          <p:nvPr/>
        </p:nvSpPr>
        <p:spPr>
          <a:xfrm>
            <a:off x="793790" y="2770823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530906" y="2848689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 smtClean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EDA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1530906" y="3374708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 EDA to obtain clean dataset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793790" y="4191238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530906" y="4269105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50"/>
              </a:lnSpc>
            </a:pPr>
            <a:r>
              <a:rPr lang="en-US" sz="2450" b="1" dirty="0" smtClean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 Engineering</a:t>
            </a:r>
            <a:endParaRPr lang="en-US" sz="2450" dirty="0"/>
          </a:p>
        </p:txBody>
      </p:sp>
      <p:sp>
        <p:nvSpPr>
          <p:cNvPr id="9" name="Text 6"/>
          <p:cNvSpPr/>
          <p:nvPr/>
        </p:nvSpPr>
        <p:spPr>
          <a:xfrm>
            <a:off x="1530906" y="4795123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feature engineering to add and remove features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793790" y="5611654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30906" y="5689521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50"/>
              </a:lnSpc>
            </a:pPr>
            <a:r>
              <a:rPr lang="en-US" sz="2450" b="1" dirty="0" smtClean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 Strength</a:t>
            </a:r>
            <a:endParaRPr lang="en-US" sz="2450" dirty="0"/>
          </a:p>
        </p:txBody>
      </p:sp>
      <p:sp>
        <p:nvSpPr>
          <p:cNvPr id="12" name="Text 9"/>
          <p:cNvSpPr/>
          <p:nvPr/>
        </p:nvSpPr>
        <p:spPr>
          <a:xfrm>
            <a:off x="1530906" y="6215539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concrete compressive strength</a:t>
            </a:r>
          </a:p>
          <a:p>
            <a:pPr>
              <a:lnSpc>
                <a:spcPts val="2850"/>
              </a:lnSpc>
            </a:pPr>
            <a:endParaRPr lang="en-US" sz="1750" dirty="0"/>
          </a:p>
        </p:txBody>
      </p:sp>
      <p:sp>
        <p:nvSpPr>
          <p:cNvPr id="14" name="Rectangle 13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/>
              <a:t>2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67775" y="585361"/>
            <a:ext cx="12207189" cy="81047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4800" b="1" u="sng" dirty="0" smtClean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Machine Learning Process Flow Diagram</a:t>
            </a:r>
          </a:p>
        </p:txBody>
      </p:sp>
      <p:graphicFrame>
        <p:nvGraphicFramePr>
          <p:cNvPr id="9" name="Diagram 8"/>
          <p:cNvGraphicFramePr/>
          <p:nvPr>
            <p:extLst>
              <p:ext uri="{D42A27DB-BD31-4B8C-83A1-F6EECF244321}">
                <p14:modId xmlns:p14="http://schemas.microsoft.com/office/powerpoint/2010/main" val="2187876029"/>
              </p:ext>
            </p:extLst>
          </p:nvPr>
        </p:nvGraphicFramePr>
        <p:xfrm>
          <a:off x="1874520" y="1671320"/>
          <a:ext cx="9996914" cy="63147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Rectangle 4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943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222653"/>
            <a:ext cx="7556421" cy="1559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Overview &amp; Preprocessing</a:t>
            </a:r>
            <a:endParaRPr lang="en-US" sz="4900" dirty="0"/>
          </a:p>
        </p:txBody>
      </p:sp>
      <p:sp>
        <p:nvSpPr>
          <p:cNvPr id="4" name="Shape 1"/>
          <p:cNvSpPr/>
          <p:nvPr/>
        </p:nvSpPr>
        <p:spPr>
          <a:xfrm>
            <a:off x="6280190" y="3122057"/>
            <a:ext cx="7556421" cy="3266837"/>
          </a:xfrm>
          <a:prstGeom prst="roundRect">
            <a:avLst>
              <a:gd name="adj" fmla="val 2916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287810" y="3129677"/>
            <a:ext cx="75411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514624" y="3273385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Samples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289024" y="3273385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1030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6287810" y="3779996"/>
            <a:ext cx="75411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6514624" y="3923705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0289024" y="3923705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6287810" y="4430316"/>
            <a:ext cx="75411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514624" y="4574024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Null Values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10289024" y="4574024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6287810" y="5080635"/>
            <a:ext cx="75411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6514624" y="5224343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Duplicates Removed</a:t>
            </a:r>
            <a:endParaRPr lang="en-US" sz="1750" dirty="0"/>
          </a:p>
        </p:txBody>
      </p:sp>
      <p:sp>
        <p:nvSpPr>
          <p:cNvPr id="16" name="Text 13"/>
          <p:cNvSpPr/>
          <p:nvPr/>
        </p:nvSpPr>
        <p:spPr>
          <a:xfrm>
            <a:off x="10289024" y="5224343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(2.4%)</a:t>
            </a:r>
            <a:endParaRPr lang="en-US" sz="1750" dirty="0"/>
          </a:p>
        </p:txBody>
      </p:sp>
      <p:sp>
        <p:nvSpPr>
          <p:cNvPr id="17" name="Shape 14"/>
          <p:cNvSpPr/>
          <p:nvPr/>
        </p:nvSpPr>
        <p:spPr>
          <a:xfrm>
            <a:off x="6287810" y="5730954"/>
            <a:ext cx="75411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6514624" y="5874663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 Records</a:t>
            </a:r>
            <a:endParaRPr lang="en-US" sz="1750" dirty="0"/>
          </a:p>
        </p:txBody>
      </p:sp>
      <p:sp>
        <p:nvSpPr>
          <p:cNvPr id="19" name="Text 16"/>
          <p:cNvSpPr/>
          <p:nvPr/>
        </p:nvSpPr>
        <p:spPr>
          <a:xfrm>
            <a:off x="10289024" y="5874663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1005</a:t>
            </a:r>
            <a:endParaRPr lang="en-US" sz="1750" dirty="0"/>
          </a:p>
        </p:txBody>
      </p:sp>
      <p:sp>
        <p:nvSpPr>
          <p:cNvPr id="21" name="Rectangle 20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4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331000"/>
            <a:ext cx="7556421" cy="1559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Exploratory Data Analysis (EDA)</a:t>
            </a:r>
            <a:endParaRPr lang="en-US" sz="4900" dirty="0"/>
          </a:p>
        </p:txBody>
      </p:sp>
      <p:sp>
        <p:nvSpPr>
          <p:cNvPr id="4" name="Shape 1"/>
          <p:cNvSpPr/>
          <p:nvPr/>
        </p:nvSpPr>
        <p:spPr>
          <a:xfrm>
            <a:off x="793790" y="3230404"/>
            <a:ext cx="3664744" cy="2083594"/>
          </a:xfrm>
          <a:prstGeom prst="roundRect">
            <a:avLst>
              <a:gd name="adj" fmla="val 4572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8224" y="3464838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Histograms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1028224" y="3990856"/>
            <a:ext cx="319587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Reveal feature distributions, e.g., cement content is skewed.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4685348" y="3230404"/>
            <a:ext cx="3664863" cy="2083594"/>
          </a:xfrm>
          <a:prstGeom prst="roundRect">
            <a:avLst>
              <a:gd name="adj" fmla="val 4572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919782" y="3464838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Heatmap</a:t>
            </a:r>
            <a:endParaRPr lang="en-US" sz="2450" dirty="0"/>
          </a:p>
        </p:txBody>
      </p:sp>
      <p:sp>
        <p:nvSpPr>
          <p:cNvPr id="9" name="Text 6"/>
          <p:cNvSpPr/>
          <p:nvPr/>
        </p:nvSpPr>
        <p:spPr>
          <a:xfrm>
            <a:off x="4919782" y="3990856"/>
            <a:ext cx="319599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correlation matrix; cement highly correlated with strength.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793790" y="5540812"/>
            <a:ext cx="7556421" cy="1357789"/>
          </a:xfrm>
          <a:prstGeom prst="roundRect">
            <a:avLst>
              <a:gd name="adj" fmla="val 7016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8224" y="5775246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Boxplots</a:t>
            </a:r>
            <a:endParaRPr lang="en-US" sz="2450" dirty="0"/>
          </a:p>
        </p:txBody>
      </p:sp>
      <p:sp>
        <p:nvSpPr>
          <p:cNvPr id="12" name="Text 9"/>
          <p:cNvSpPr/>
          <p:nvPr/>
        </p:nvSpPr>
        <p:spPr>
          <a:xfrm>
            <a:off x="1028224" y="6301264"/>
            <a:ext cx="70875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potential outliers in various concrete components.</a:t>
            </a:r>
            <a:endParaRPr lang="en-US" sz="1750" dirty="0"/>
          </a:p>
        </p:txBody>
      </p:sp>
      <p:sp>
        <p:nvSpPr>
          <p:cNvPr id="13" name="Rectangle 12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973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33080"/>
            <a:ext cx="6237684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 Engineering</a:t>
            </a:r>
            <a:endParaRPr lang="en-US" sz="49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1952863"/>
            <a:ext cx="1134070" cy="136088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54674" y="2179677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Cement/Water Ratio</a:t>
            </a:r>
            <a:endParaRPr lang="en-US" sz="2450" dirty="0"/>
          </a:p>
        </p:txBody>
      </p:sp>
      <p:sp>
        <p:nvSpPr>
          <p:cNvPr id="6" name="Text 2"/>
          <p:cNvSpPr/>
          <p:nvPr/>
        </p:nvSpPr>
        <p:spPr>
          <a:xfrm>
            <a:off x="2154674" y="2705695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Cement amount / Water amount</a:t>
            </a:r>
            <a:endParaRPr lang="en-US" sz="17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735527"/>
            <a:ext cx="1134070" cy="136088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090353" y="3858101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Net Aggregate</a:t>
            </a:r>
            <a:endParaRPr lang="en-US" sz="2450" dirty="0"/>
          </a:p>
        </p:txBody>
      </p:sp>
      <p:sp>
        <p:nvSpPr>
          <p:cNvPr id="9" name="Text 4"/>
          <p:cNvSpPr/>
          <p:nvPr/>
        </p:nvSpPr>
        <p:spPr>
          <a:xfrm>
            <a:off x="2090353" y="4415046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Coarse Aggregate + Fine Aggregate</a:t>
            </a:r>
            <a:endParaRPr lang="en-US" sz="17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5291376"/>
            <a:ext cx="1134070" cy="136088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154674" y="5291376"/>
            <a:ext cx="3682127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Improved Interpretability</a:t>
            </a:r>
            <a:endParaRPr lang="en-US" sz="2450" dirty="0"/>
          </a:p>
        </p:txBody>
      </p:sp>
      <p:sp>
        <p:nvSpPr>
          <p:cNvPr id="15" name="Text 8"/>
          <p:cNvSpPr/>
          <p:nvPr/>
        </p:nvSpPr>
        <p:spPr>
          <a:xfrm>
            <a:off x="2175748" y="5907968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Made model insights clearer.</a:t>
            </a:r>
            <a:endParaRPr lang="en-US" sz="1750" dirty="0"/>
          </a:p>
        </p:txBody>
      </p:sp>
      <p:sp>
        <p:nvSpPr>
          <p:cNvPr id="16" name="Rectangle 15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6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61706" y="7696200"/>
            <a:ext cx="1800225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2144111" y="290936"/>
            <a:ext cx="101372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 smtClean="0"/>
              <a:t>Machine Learning Code</a:t>
            </a:r>
            <a:endParaRPr lang="en-US" sz="3200" b="1" u="sn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07"/>
          <a:stretch/>
        </p:blipFill>
        <p:spPr>
          <a:xfrm>
            <a:off x="1986454" y="1013591"/>
            <a:ext cx="8182305" cy="72160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0404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720091" y="672096"/>
            <a:ext cx="10561247" cy="1559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Development &amp; Performance</a:t>
            </a:r>
            <a:endParaRPr lang="en-US" sz="4900" dirty="0"/>
          </a:p>
        </p:txBody>
      </p:sp>
      <p:sp>
        <p:nvSpPr>
          <p:cNvPr id="4" name="Text 1"/>
          <p:cNvSpPr/>
          <p:nvPr/>
        </p:nvSpPr>
        <p:spPr>
          <a:xfrm>
            <a:off x="1046039" y="2968626"/>
            <a:ext cx="3636407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0.56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1563604" y="4042350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R² Accuracy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1563604" y="4715649"/>
            <a:ext cx="36364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56% of variance in strength.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756429" y="2982202"/>
            <a:ext cx="3636526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8.78</a:t>
            </a:r>
            <a:endParaRPr lang="en-US" sz="5850" dirty="0"/>
          </a:p>
        </p:txBody>
      </p:sp>
      <p:sp>
        <p:nvSpPr>
          <p:cNvPr id="8" name="Text 5"/>
          <p:cNvSpPr/>
          <p:nvPr/>
        </p:nvSpPr>
        <p:spPr>
          <a:xfrm>
            <a:off x="8274113" y="4022565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MAE </a:t>
            </a:r>
            <a:endParaRPr lang="en-US" sz="2450" dirty="0"/>
          </a:p>
        </p:txBody>
      </p:sp>
      <p:sp>
        <p:nvSpPr>
          <p:cNvPr id="9" name="Text 6"/>
          <p:cNvSpPr/>
          <p:nvPr/>
        </p:nvSpPr>
        <p:spPr>
          <a:xfrm>
            <a:off x="8497408" y="4733151"/>
            <a:ext cx="36365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prediction error of 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8.78</a:t>
            </a:r>
            <a:endParaRPr lang="en-US" sz="1750" dirty="0"/>
          </a:p>
        </p:txBody>
      </p:sp>
      <p:sp>
        <p:nvSpPr>
          <p:cNvPr id="11" name="Rectangle 10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8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3221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0690" y="597694"/>
            <a:ext cx="7622619" cy="1494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7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Development &amp; Performance</a:t>
            </a:r>
            <a:endParaRPr lang="en-US" sz="4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690" y="2418159"/>
            <a:ext cx="1086803" cy="130409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64782" y="2635448"/>
            <a:ext cx="2988707" cy="373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Type</a:t>
            </a:r>
            <a:endParaRPr lang="en-US" sz="2350" dirty="0"/>
          </a:p>
        </p:txBody>
      </p:sp>
      <p:sp>
        <p:nvSpPr>
          <p:cNvPr id="6" name="Text 2"/>
          <p:cNvSpPr/>
          <p:nvPr/>
        </p:nvSpPr>
        <p:spPr>
          <a:xfrm>
            <a:off x="2064782" y="3139321"/>
            <a:ext cx="6318528" cy="347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Linear Regression</a:t>
            </a:r>
            <a:endParaRPr lang="en-US" sz="17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690" y="3722251"/>
            <a:ext cx="1086803" cy="13040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064782" y="3939540"/>
            <a:ext cx="2988707" cy="373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Split</a:t>
            </a:r>
            <a:endParaRPr lang="en-US" sz="2350" dirty="0"/>
          </a:p>
        </p:txBody>
      </p:sp>
      <p:sp>
        <p:nvSpPr>
          <p:cNvPr id="9" name="Text 4"/>
          <p:cNvSpPr/>
          <p:nvPr/>
        </p:nvSpPr>
        <p:spPr>
          <a:xfrm>
            <a:off x="2064782" y="4443413"/>
            <a:ext cx="6318528" cy="347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80% training, 20% testing data.</a:t>
            </a:r>
            <a:endParaRPr lang="en-US" sz="17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690" y="5026343"/>
            <a:ext cx="1086803" cy="130409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064782" y="5243632"/>
            <a:ext cx="2988707" cy="373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Accuracy (R²)</a:t>
            </a:r>
            <a:endParaRPr lang="en-US" sz="2350" dirty="0"/>
          </a:p>
        </p:txBody>
      </p:sp>
      <p:sp>
        <p:nvSpPr>
          <p:cNvPr id="12" name="Text 6"/>
          <p:cNvSpPr/>
          <p:nvPr/>
        </p:nvSpPr>
        <p:spPr>
          <a:xfrm>
            <a:off x="2064782" y="5747504"/>
            <a:ext cx="6318528" cy="347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0.56 (explains 56% of variance).</a:t>
            </a:r>
            <a:endParaRPr lang="en-US" sz="17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690" y="6330434"/>
            <a:ext cx="1086803" cy="130409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064782" y="6547723"/>
            <a:ext cx="2988707" cy="3734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MAE</a:t>
            </a:r>
            <a:endParaRPr lang="en-US" sz="2350" dirty="0"/>
          </a:p>
        </p:txBody>
      </p:sp>
      <p:sp>
        <p:nvSpPr>
          <p:cNvPr id="15" name="Text 8"/>
          <p:cNvSpPr/>
          <p:nvPr/>
        </p:nvSpPr>
        <p:spPr>
          <a:xfrm>
            <a:off x="2064782" y="7051596"/>
            <a:ext cx="6318528" cy="347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8.78 </a:t>
            </a:r>
            <a:r>
              <a:rPr lang="en-US" sz="170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(average prediction error).</a:t>
            </a:r>
            <a:endParaRPr lang="en-US" sz="1700" dirty="0"/>
          </a:p>
        </p:txBody>
      </p:sp>
      <p:sp>
        <p:nvSpPr>
          <p:cNvPr id="16" name="Rectangle 15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72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78312"/>
            <a:ext cx="6237684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Findings</a:t>
            </a:r>
            <a:endParaRPr lang="en-US" sz="4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330" y="3538418"/>
            <a:ext cx="7825621" cy="78256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12456" y="6088856"/>
            <a:ext cx="382667" cy="478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30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330" y="3538418"/>
            <a:ext cx="7825621" cy="782562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00631" y="4500682"/>
            <a:ext cx="382667" cy="478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30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330" y="3538418"/>
            <a:ext cx="7825621" cy="7825621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46745" y="4500682"/>
            <a:ext cx="382667" cy="478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30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2330" y="3538418"/>
            <a:ext cx="7825621" cy="7825621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834920" y="6088856"/>
            <a:ext cx="382667" cy="478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5"/>
          <p:cNvSpPr/>
          <p:nvPr/>
        </p:nvSpPr>
        <p:spPr>
          <a:xfrm>
            <a:off x="793790" y="3282196"/>
            <a:ext cx="3005495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Cement-Water Ratio</a:t>
            </a:r>
            <a:endParaRPr lang="en-US" sz="2450" dirty="0"/>
          </a:p>
        </p:txBody>
      </p:sp>
      <p:sp>
        <p:nvSpPr>
          <p:cNvPr id="12" name="Text 6"/>
          <p:cNvSpPr/>
          <p:nvPr/>
        </p:nvSpPr>
        <p:spPr>
          <a:xfrm>
            <a:off x="793790" y="3808214"/>
            <a:ext cx="300549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significant predictor for strength.</a:t>
            </a:r>
            <a:endParaRPr lang="en-US" sz="1750" dirty="0"/>
          </a:p>
        </p:txBody>
      </p:sp>
      <p:sp>
        <p:nvSpPr>
          <p:cNvPr id="13" name="Text 7"/>
          <p:cNvSpPr/>
          <p:nvPr/>
        </p:nvSpPr>
        <p:spPr>
          <a:xfrm>
            <a:off x="4139446" y="2011561"/>
            <a:ext cx="3005614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Ratio &amp; Strength</a:t>
            </a:r>
            <a:endParaRPr lang="en-US" sz="2450" dirty="0"/>
          </a:p>
        </p:txBody>
      </p:sp>
      <p:sp>
        <p:nvSpPr>
          <p:cNvPr id="14" name="Text 8"/>
          <p:cNvSpPr/>
          <p:nvPr/>
        </p:nvSpPr>
        <p:spPr>
          <a:xfrm>
            <a:off x="4139446" y="2537579"/>
            <a:ext cx="300561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ratio correlates with increased strength.</a:t>
            </a:r>
            <a:endParaRPr lang="en-US" sz="1750" dirty="0"/>
          </a:p>
        </p:txBody>
      </p:sp>
      <p:sp>
        <p:nvSpPr>
          <p:cNvPr id="15" name="Text 9"/>
          <p:cNvSpPr/>
          <p:nvPr/>
        </p:nvSpPr>
        <p:spPr>
          <a:xfrm>
            <a:off x="7537371" y="2374463"/>
            <a:ext cx="2901196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Cement Impact</a:t>
            </a:r>
            <a:endParaRPr lang="en-US" sz="2450" dirty="0"/>
          </a:p>
        </p:txBody>
      </p:sp>
      <p:sp>
        <p:nvSpPr>
          <p:cNvPr id="16" name="Text 10"/>
          <p:cNvSpPr/>
          <p:nvPr/>
        </p:nvSpPr>
        <p:spPr>
          <a:xfrm>
            <a:off x="7537371" y="2900482"/>
            <a:ext cx="290119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influence on strength.</a:t>
            </a:r>
            <a:endParaRPr lang="en-US" sz="1750" dirty="0"/>
          </a:p>
        </p:txBody>
      </p:sp>
      <p:sp>
        <p:nvSpPr>
          <p:cNvPr id="17" name="Text 11"/>
          <p:cNvSpPr/>
          <p:nvPr/>
        </p:nvSpPr>
        <p:spPr>
          <a:xfrm>
            <a:off x="11161633" y="3645098"/>
            <a:ext cx="234422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Superplasticizer</a:t>
            </a:r>
            <a:endParaRPr lang="en-US" sz="2450" dirty="0"/>
          </a:p>
        </p:txBody>
      </p:sp>
      <p:sp>
        <p:nvSpPr>
          <p:cNvPr id="18" name="Text 12"/>
          <p:cNvSpPr/>
          <p:nvPr/>
        </p:nvSpPr>
        <p:spPr>
          <a:xfrm>
            <a:off x="11161633" y="4171117"/>
            <a:ext cx="23442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highly influential.</a:t>
            </a:r>
            <a:endParaRPr lang="en-US" sz="1750" dirty="0"/>
          </a:p>
        </p:txBody>
      </p:sp>
      <p:sp>
        <p:nvSpPr>
          <p:cNvPr id="20" name="Rectangle 19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2858309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1</a:t>
            </a:r>
            <a:r>
              <a:rPr lang="en-US" sz="3200" dirty="0" smtClean="0"/>
              <a:t>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3897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010516" y="594002"/>
            <a:ext cx="6706314" cy="742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00"/>
              </a:lnSpc>
              <a:buNone/>
            </a:pPr>
            <a:r>
              <a:rPr lang="en-US" sz="6600" b="1" u="sng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Conclusion </a:t>
            </a:r>
            <a:endParaRPr lang="en-US" sz="6600" b="1" u="sng" dirty="0"/>
          </a:p>
        </p:txBody>
      </p:sp>
      <p:sp>
        <p:nvSpPr>
          <p:cNvPr id="16" name="Rectangle 15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880670" y="2680137"/>
            <a:ext cx="648032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3200" b="1" dirty="0" smtClean="0"/>
              <a:t>Proper EDA was done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3200" b="1" dirty="0" smtClean="0"/>
              <a:t>Data was visualized properly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3200" b="1" dirty="0" smtClean="0"/>
              <a:t>Feature Engineering was done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3200" b="1" dirty="0" smtClean="0"/>
              <a:t>Outliers were handled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3200" b="1" dirty="0" smtClean="0"/>
              <a:t>Model was trained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3200" b="1" dirty="0" smtClean="0"/>
              <a:t>56% accuracy was obtained</a:t>
            </a:r>
          </a:p>
          <a:p>
            <a:pPr marL="342900" indent="-342900">
              <a:buFont typeface="Arial" pitchFamily="34" charset="0"/>
              <a:buChar char="•"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11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1410" y="1058553"/>
            <a:ext cx="7556421" cy="1559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Body Fat Classification Using Logistic Regression</a:t>
            </a:r>
            <a:endParaRPr lang="en-US" sz="4900" dirty="0"/>
          </a:p>
        </p:txBody>
      </p:sp>
      <p:sp>
        <p:nvSpPr>
          <p:cNvPr id="4" name="Text 1"/>
          <p:cNvSpPr/>
          <p:nvPr/>
        </p:nvSpPr>
        <p:spPr>
          <a:xfrm>
            <a:off x="793790" y="4008834"/>
            <a:ext cx="7556421" cy="1459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project focuses on predictive modeling to classify individuals into body fat categories using the </a:t>
            </a:r>
            <a:r>
              <a:rPr lang="en-US" sz="1750" dirty="0">
                <a:solidFill>
                  <a:srgbClr val="272525"/>
                </a:solidFill>
                <a:highlight>
                  <a:srgbClr val="E0D7F4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bodyweight.csv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dataset</a:t>
            </a: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5740122"/>
            <a:ext cx="362903" cy="362903"/>
          </a:xfrm>
          <a:prstGeom prst="roundRect">
            <a:avLst>
              <a:gd name="adj" fmla="val 25194296"/>
            </a:avLst>
          </a:prstGeom>
          <a:noFill/>
          <a:ln w="7620">
            <a:solidFill>
              <a:srgbClr val="FFFFFF"/>
            </a:solidFill>
            <a:prstDash val="solid"/>
          </a:ln>
        </p:spPr>
      </p:sp>
      <p:sp>
        <p:nvSpPr>
          <p:cNvPr id="6" name="Rectangle 5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2858309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191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25479"/>
            <a:ext cx="8193881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Goal &amp; Classification</a:t>
            </a:r>
            <a:endParaRPr lang="en-US" sz="4900" dirty="0"/>
          </a:p>
        </p:txBody>
      </p:sp>
      <p:sp>
        <p:nvSpPr>
          <p:cNvPr id="3" name="Text 1"/>
          <p:cNvSpPr/>
          <p:nvPr/>
        </p:nvSpPr>
        <p:spPr>
          <a:xfrm>
            <a:off x="793790" y="3272076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Objective</a:t>
            </a:r>
            <a:endParaRPr lang="en-US" sz="2450" dirty="0"/>
          </a:p>
        </p:txBody>
      </p:sp>
      <p:sp>
        <p:nvSpPr>
          <p:cNvPr id="4" name="Text 2"/>
          <p:cNvSpPr/>
          <p:nvPr/>
        </p:nvSpPr>
        <p:spPr>
          <a:xfrm>
            <a:off x="793790" y="3888819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body composition: Lean, Muscular, or Fat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93920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variable: derived from % Body Fat (BF%)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332928" y="3272076"/>
            <a:ext cx="3173135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Classification Criteria</a:t>
            </a:r>
            <a:endParaRPr lang="en-US" sz="2450" dirty="0"/>
          </a:p>
        </p:txBody>
      </p:sp>
      <p:sp>
        <p:nvSpPr>
          <p:cNvPr id="7" name="Text 5"/>
          <p:cNvSpPr/>
          <p:nvPr/>
        </p:nvSpPr>
        <p:spPr>
          <a:xfrm>
            <a:off x="5332928" y="3888819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Lean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Slightly Fat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332928" y="4693920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Muscula</a:t>
            </a:r>
            <a:r>
              <a:rPr lang="en-US" sz="1750" dirty="0" smtClean="0"/>
              <a:t>r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Obese</a:t>
            </a:r>
          </a:p>
        </p:txBody>
      </p:sp>
      <p:sp>
        <p:nvSpPr>
          <p:cNvPr id="10" name="Text 8"/>
          <p:cNvSpPr/>
          <p:nvPr/>
        </p:nvSpPr>
        <p:spPr>
          <a:xfrm>
            <a:off x="9872067" y="3272076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Features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9872067" y="3888819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measurements used as features</a:t>
            </a:r>
            <a:endParaRPr lang="en-US" sz="1750" dirty="0"/>
          </a:p>
        </p:txBody>
      </p:sp>
      <p:sp>
        <p:nvSpPr>
          <p:cNvPr id="12" name="Rectangle 11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4329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97944" y="550426"/>
            <a:ext cx="7748111" cy="137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Preparation: Ensuring Quality</a:t>
            </a:r>
            <a:endParaRPr lang="en-US" sz="4300" dirty="0"/>
          </a:p>
        </p:txBody>
      </p:sp>
      <p:sp>
        <p:nvSpPr>
          <p:cNvPr id="4" name="Shape 1"/>
          <p:cNvSpPr/>
          <p:nvPr/>
        </p:nvSpPr>
        <p:spPr>
          <a:xfrm>
            <a:off x="697944" y="2220635"/>
            <a:ext cx="448747" cy="448747"/>
          </a:xfrm>
          <a:prstGeom prst="roundRect">
            <a:avLst>
              <a:gd name="adj" fmla="val 18667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57773" y="2239328"/>
            <a:ext cx="328970" cy="411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1346121" y="2289096"/>
            <a:ext cx="2742367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Overview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1346121" y="2751415"/>
            <a:ext cx="709993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highlight>
                  <a:srgbClr val="E0D7F4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bodyweight.csv</a:t>
            </a: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252 entries, 15 features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7944" y="3469362"/>
            <a:ext cx="448747" cy="448747"/>
          </a:xfrm>
          <a:prstGeom prst="roundRect">
            <a:avLst>
              <a:gd name="adj" fmla="val 18667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7773" y="3488055"/>
            <a:ext cx="328970" cy="411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550" dirty="0"/>
          </a:p>
        </p:txBody>
      </p:sp>
      <p:sp>
        <p:nvSpPr>
          <p:cNvPr id="10" name="Text 7"/>
          <p:cNvSpPr/>
          <p:nvPr/>
        </p:nvSpPr>
        <p:spPr>
          <a:xfrm>
            <a:off x="1346121" y="3537823"/>
            <a:ext cx="2742367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Null Values</a:t>
            </a:r>
            <a:endParaRPr lang="en-US" sz="2150" dirty="0"/>
          </a:p>
        </p:txBody>
      </p:sp>
      <p:sp>
        <p:nvSpPr>
          <p:cNvPr id="11" name="Text 8"/>
          <p:cNvSpPr/>
          <p:nvPr/>
        </p:nvSpPr>
        <p:spPr>
          <a:xfrm>
            <a:off x="1346121" y="4000143"/>
            <a:ext cx="709993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missing entries confirmed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97944" y="4718090"/>
            <a:ext cx="448747" cy="448747"/>
          </a:xfrm>
          <a:prstGeom prst="roundRect">
            <a:avLst>
              <a:gd name="adj" fmla="val 18667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7773" y="4736783"/>
            <a:ext cx="328970" cy="411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550" dirty="0"/>
          </a:p>
        </p:txBody>
      </p:sp>
      <p:sp>
        <p:nvSpPr>
          <p:cNvPr id="14" name="Text 11"/>
          <p:cNvSpPr/>
          <p:nvPr/>
        </p:nvSpPr>
        <p:spPr>
          <a:xfrm>
            <a:off x="1346121" y="4786551"/>
            <a:ext cx="2742367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Duplicate Records</a:t>
            </a:r>
            <a:endParaRPr lang="en-US" sz="2150" dirty="0"/>
          </a:p>
        </p:txBody>
      </p:sp>
      <p:sp>
        <p:nvSpPr>
          <p:cNvPr id="15" name="Text 12"/>
          <p:cNvSpPr/>
          <p:nvPr/>
        </p:nvSpPr>
        <p:spPr>
          <a:xfrm>
            <a:off x="1346121" y="5248870"/>
            <a:ext cx="709993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duplicate rows identified, ensuring unique data points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97944" y="5966817"/>
            <a:ext cx="448747" cy="448747"/>
          </a:xfrm>
          <a:prstGeom prst="roundRect">
            <a:avLst>
              <a:gd name="adj" fmla="val 18667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7773" y="5985510"/>
            <a:ext cx="328970" cy="411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1346121" y="6035278"/>
            <a:ext cx="2742367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Types</a:t>
            </a:r>
            <a:endParaRPr lang="en-US" sz="2150" dirty="0"/>
          </a:p>
        </p:txBody>
      </p:sp>
      <p:sp>
        <p:nvSpPr>
          <p:cNvPr id="19" name="Text 16"/>
          <p:cNvSpPr/>
          <p:nvPr/>
        </p:nvSpPr>
        <p:spPr>
          <a:xfrm>
            <a:off x="1346121" y="6497598"/>
            <a:ext cx="709993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features correctly parsed as numeric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97944" y="7040999"/>
            <a:ext cx="7748111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result is a clean, ready-to-use dataset for subsequent analysis and model training.</a:t>
            </a:r>
            <a:endParaRPr lang="en-US" sz="1550" dirty="0"/>
          </a:p>
        </p:txBody>
      </p:sp>
      <p:sp>
        <p:nvSpPr>
          <p:cNvPr id="21" name="Rectangle 20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2858309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696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3174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2955" y="615196"/>
            <a:ext cx="7578090" cy="1537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50"/>
              </a:lnSpc>
              <a:buNone/>
            </a:pPr>
            <a:r>
              <a:rPr lang="en-US" sz="48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Exploratory Data Analysis: Distributions</a:t>
            </a:r>
            <a:endParaRPr lang="en-US" sz="4800" dirty="0"/>
          </a:p>
        </p:txBody>
      </p:sp>
      <p:sp>
        <p:nvSpPr>
          <p:cNvPr id="4" name="Shape 1"/>
          <p:cNvSpPr/>
          <p:nvPr/>
        </p:nvSpPr>
        <p:spPr>
          <a:xfrm>
            <a:off x="782955" y="2488525"/>
            <a:ext cx="3677126" cy="3564969"/>
          </a:xfrm>
          <a:prstGeom prst="roundRect">
            <a:avLst>
              <a:gd name="adj" fmla="val 2636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4293" y="2719864"/>
            <a:ext cx="3076099" cy="384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Histograms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014293" y="3238619"/>
            <a:ext cx="3214449" cy="715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Fat %: right-skewed distribution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14293" y="4032647"/>
            <a:ext cx="3214449" cy="715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Age: relatively uniform across dataset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4683800" y="2488525"/>
            <a:ext cx="3677245" cy="3564969"/>
          </a:xfrm>
          <a:prstGeom prst="roundRect">
            <a:avLst>
              <a:gd name="adj" fmla="val 2636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15138" y="2719864"/>
            <a:ext cx="3076099" cy="384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b="1" dirty="0" smtClean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Scatter </a:t>
            </a:r>
            <a:r>
              <a:rPr lang="en-US" sz="2400" b="1" dirty="0" smtClean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Plots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4915138" y="3238619"/>
            <a:ext cx="3214568" cy="1073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Visualized relationships between highly correlated features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4915138" y="4390549"/>
            <a:ext cx="3214568" cy="1431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Identified linear trends among various circumference measurements</a:t>
            </a:r>
            <a:endParaRPr lang="en-US" sz="1750" dirty="0"/>
          </a:p>
        </p:txBody>
      </p:sp>
      <p:sp>
        <p:nvSpPr>
          <p:cNvPr id="14" name="Text 11"/>
          <p:cNvSpPr/>
          <p:nvPr/>
        </p:nvSpPr>
        <p:spPr>
          <a:xfrm>
            <a:off x="1014293" y="7027307"/>
            <a:ext cx="7115413" cy="357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endParaRPr lang="en-US" sz="1750" dirty="0"/>
          </a:p>
        </p:txBody>
      </p:sp>
      <p:sp>
        <p:nvSpPr>
          <p:cNvPr id="15" name="Rectangle 14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940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35541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9487" y="2873931"/>
            <a:ext cx="11926014" cy="647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0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Exploratory Data Analysis: Correlations &amp; Outliers</a:t>
            </a:r>
            <a:endParaRPr lang="en-US" sz="40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87" y="3804166"/>
            <a:ext cx="471011" cy="47101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66004" y="3915966"/>
            <a:ext cx="2590919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Correlation Heatmap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1366004" y="4352806"/>
            <a:ext cx="12604909" cy="30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 positive correlations: circumference measurements (&gt;0.85)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1366004" y="4767263"/>
            <a:ext cx="12604909" cy="30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Moderate correlation: weight and body fat % (0.75)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87" y="5539740"/>
            <a:ext cx="471011" cy="47101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66004" y="5651540"/>
            <a:ext cx="2590919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Box Plots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1366004" y="6088380"/>
            <a:ext cx="12604909" cy="30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Outliers observed in 'BMI' and 'Abdomen circumference'</a:t>
            </a:r>
            <a:endParaRPr lang="en-US" sz="14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487" y="6860858"/>
            <a:ext cx="471011" cy="47101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366004" y="6972657"/>
            <a:ext cx="2590919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Decision</a:t>
            </a:r>
            <a:endParaRPr lang="en-US" sz="2000" dirty="0"/>
          </a:p>
        </p:txBody>
      </p:sp>
      <p:sp>
        <p:nvSpPr>
          <p:cNvPr id="13" name="Text 7"/>
          <p:cNvSpPr/>
          <p:nvPr/>
        </p:nvSpPr>
        <p:spPr>
          <a:xfrm>
            <a:off x="1366004" y="7409498"/>
            <a:ext cx="12604909" cy="30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Outliers retained as representative of extreme body types</a:t>
            </a:r>
            <a:endParaRPr lang="en-US" sz="1450" dirty="0"/>
          </a:p>
        </p:txBody>
      </p:sp>
      <p:sp>
        <p:nvSpPr>
          <p:cNvPr id="14" name="Rectangle 13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977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3425" y="883444"/>
            <a:ext cx="7677150" cy="1440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50"/>
              </a:lnSpc>
              <a:buNone/>
            </a:pPr>
            <a:r>
              <a:rPr lang="en-US" sz="45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Implementation &amp; Performance</a:t>
            </a:r>
            <a:endParaRPr lang="en-US" sz="4500" dirty="0"/>
          </a:p>
        </p:txBody>
      </p:sp>
      <p:sp>
        <p:nvSpPr>
          <p:cNvPr id="4" name="Shape 1"/>
          <p:cNvSpPr/>
          <p:nvPr/>
        </p:nvSpPr>
        <p:spPr>
          <a:xfrm>
            <a:off x="733425" y="2638425"/>
            <a:ext cx="7677150" cy="4707612"/>
          </a:xfrm>
          <a:prstGeom prst="roundRect">
            <a:avLst>
              <a:gd name="adj" fmla="val 187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1045" y="2646045"/>
            <a:ext cx="7661910" cy="62686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950595" y="2779395"/>
            <a:ext cx="2881432" cy="36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Type</a:t>
            </a:r>
            <a:endParaRPr lang="en-US" sz="2250" dirty="0"/>
          </a:p>
        </p:txBody>
      </p:sp>
      <p:sp>
        <p:nvSpPr>
          <p:cNvPr id="7" name="Text 4"/>
          <p:cNvSpPr/>
          <p:nvPr/>
        </p:nvSpPr>
        <p:spPr>
          <a:xfrm>
            <a:off x="4785360" y="2779395"/>
            <a:ext cx="3408045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 smtClean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 </a:t>
            </a:r>
            <a:r>
              <a:rPr lang="en-US" sz="1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Regression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741045" y="3272909"/>
            <a:ext cx="7661910" cy="62686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950595" y="3406259"/>
            <a:ext cx="2881432" cy="36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Features Used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4785360" y="3406259"/>
            <a:ext cx="3408045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anthropometric measurements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741045" y="3899773"/>
            <a:ext cx="7661910" cy="93726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950595" y="4033123"/>
            <a:ext cx="2881432" cy="36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Split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4785360" y="4033123"/>
            <a:ext cx="340804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80% Training, 20% Testing (stratified)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741045" y="4837033"/>
            <a:ext cx="7661910" cy="62686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950595" y="4970383"/>
            <a:ext cx="2881432" cy="36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Overall Accuracy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4785360" y="4970383"/>
            <a:ext cx="3408045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on test set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741045" y="5463897"/>
            <a:ext cx="7661910" cy="93726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4785360" y="5597247"/>
            <a:ext cx="340804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741045" y="6401157"/>
            <a:ext cx="7661910" cy="93726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950595" y="6534507"/>
            <a:ext cx="2881432" cy="36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Conclusion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4785360" y="6534507"/>
            <a:ext cx="340804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 considered reasonable for baseline model</a:t>
            </a:r>
            <a:endParaRPr lang="en-US" sz="1650" dirty="0"/>
          </a:p>
        </p:txBody>
      </p:sp>
      <p:sp>
        <p:nvSpPr>
          <p:cNvPr id="23" name="Rectangle 22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210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98465" y="423088"/>
            <a:ext cx="518122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4000" b="1" u="sng" dirty="0" smtClean="0"/>
              <a:t>Machine Learning Code</a:t>
            </a:r>
            <a:endParaRPr lang="en-US" sz="4000" b="1" u="sng" dirty="0"/>
          </a:p>
        </p:txBody>
      </p:sp>
      <p:sp>
        <p:nvSpPr>
          <p:cNvPr id="3" name="Rectangle 2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428" y="1130974"/>
            <a:ext cx="10058400" cy="709862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009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936665"/>
            <a:ext cx="7042428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Conclusion &amp; Next Steps</a:t>
            </a:r>
            <a:endParaRPr lang="en-US" sz="49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2056448"/>
            <a:ext cx="1134070" cy="220444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54674" y="2283262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Baseline Model</a:t>
            </a:r>
            <a:endParaRPr lang="en-US" sz="2450" dirty="0"/>
          </a:p>
        </p:txBody>
      </p:sp>
      <p:sp>
        <p:nvSpPr>
          <p:cNvPr id="6" name="Text 2"/>
          <p:cNvSpPr/>
          <p:nvPr/>
        </p:nvSpPr>
        <p:spPr>
          <a:xfrm>
            <a:off x="2154674" y="2809280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 Regression provides a solid initial system</a:t>
            </a:r>
            <a:endParaRPr lang="en-US" sz="1750" dirty="0"/>
          </a:p>
        </p:txBody>
      </p:sp>
      <p:sp>
        <p:nvSpPr>
          <p:cNvPr id="7" name="Text 3"/>
          <p:cNvSpPr/>
          <p:nvPr/>
        </p:nvSpPr>
        <p:spPr>
          <a:xfrm>
            <a:off x="2154674" y="3308271"/>
            <a:ext cx="619553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accuracy indicates significant potential for improvement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260890"/>
            <a:ext cx="1134070" cy="303204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154674" y="4487704"/>
            <a:ext cx="316075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Future Enhancements</a:t>
            </a:r>
            <a:endParaRPr lang="en-US" sz="2450" dirty="0"/>
          </a:p>
        </p:txBody>
      </p:sp>
      <p:sp>
        <p:nvSpPr>
          <p:cNvPr id="10" name="Text 5"/>
          <p:cNvSpPr/>
          <p:nvPr/>
        </p:nvSpPr>
        <p:spPr>
          <a:xfrm>
            <a:off x="2154674" y="5013722"/>
            <a:ext cx="619553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Experiment with advanced models (e.g., Random Forest, SVM)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2154674" y="5818823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engineering (e.g., Waist-to-Hip Ratio, BMI)</a:t>
            </a:r>
            <a:endParaRPr lang="en-US" sz="1750" dirty="0"/>
          </a:p>
        </p:txBody>
      </p:sp>
      <p:sp>
        <p:nvSpPr>
          <p:cNvPr id="12" name="Text 7"/>
          <p:cNvSpPr/>
          <p:nvPr/>
        </p:nvSpPr>
        <p:spPr>
          <a:xfrm>
            <a:off x="2154674" y="6261021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class imbalance via sampling techniques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2154674" y="6703219"/>
            <a:ext cx="619553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more diverse data to improve generalization</a:t>
            </a:r>
            <a:endParaRPr lang="en-US" sz="1750" dirty="0"/>
          </a:p>
        </p:txBody>
      </p:sp>
      <p:sp>
        <p:nvSpPr>
          <p:cNvPr id="14" name="Rectangle 13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20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514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36238"/>
            <a:ext cx="7182803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Findings from Model</a:t>
            </a:r>
            <a:endParaRPr lang="en-US" sz="4900" dirty="0"/>
          </a:p>
        </p:txBody>
      </p:sp>
      <p:sp>
        <p:nvSpPr>
          <p:cNvPr id="3" name="Text 1"/>
          <p:cNvSpPr/>
          <p:nvPr/>
        </p:nvSpPr>
        <p:spPr>
          <a:xfrm>
            <a:off x="1916787" y="3546872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Class Distribution</a:t>
            </a:r>
            <a:endParaRPr lang="en-US" sz="2450" dirty="0"/>
          </a:p>
        </p:txBody>
      </p:sp>
      <p:sp>
        <p:nvSpPr>
          <p:cNvPr id="4" name="Text 2"/>
          <p:cNvSpPr/>
          <p:nvPr/>
        </p:nvSpPr>
        <p:spPr>
          <a:xfrm>
            <a:off x="793790" y="4072890"/>
            <a:ext cx="424184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'Lean' category most prevalent (45% of dataset)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934783"/>
            <a:ext cx="424184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'Muscular/Average' (35%), 'Fat' (20%)</a:t>
            </a:r>
            <a:endParaRPr lang="en-US" sz="1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9258" y="2596396"/>
            <a:ext cx="3651885" cy="365188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74231" y="4138851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30083" y="4262795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481304" y="2569488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Predictive Power</a:t>
            </a:r>
            <a:endParaRPr lang="en-US" sz="2450" dirty="0"/>
          </a:p>
        </p:txBody>
      </p:sp>
      <p:sp>
        <p:nvSpPr>
          <p:cNvPr id="10" name="Text 7"/>
          <p:cNvSpPr/>
          <p:nvPr/>
        </p:nvSpPr>
        <p:spPr>
          <a:xfrm>
            <a:off x="9481304" y="3095506"/>
            <a:ext cx="435530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'Abdomen circumference' &amp; 'Weight' were most influential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9481304" y="3957399"/>
            <a:ext cx="435530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Followed by 'Chest' &amp; 'Hip circumference'</a:t>
            </a:r>
            <a:endParaRPr lang="en-US" sz="17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9258" y="2596396"/>
            <a:ext cx="3651885" cy="3651885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910393" y="2616756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066246" y="2740700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9481304" y="5023366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Misclassifications</a:t>
            </a:r>
            <a:endParaRPr lang="en-US" sz="2450" dirty="0"/>
          </a:p>
        </p:txBody>
      </p:sp>
      <p:sp>
        <p:nvSpPr>
          <p:cNvPr id="16" name="Text 12"/>
          <p:cNvSpPr/>
          <p:nvPr/>
        </p:nvSpPr>
        <p:spPr>
          <a:xfrm>
            <a:off x="9481304" y="5549384"/>
            <a:ext cx="435530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error rate: distinguishing 'Muscular' from 'Fat' individuals</a:t>
            </a:r>
            <a:endParaRPr lang="en-US" sz="175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258" y="2596396"/>
            <a:ext cx="3651885" cy="3651885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910393" y="5660827"/>
            <a:ext cx="566976" cy="566976"/>
          </a:xfrm>
          <a:prstGeom prst="roundRect">
            <a:avLst>
              <a:gd name="adj" fmla="val 1611154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066246" y="5784771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793790" y="653034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successfully captures general trends in body fat classification.</a:t>
            </a:r>
            <a:endParaRPr lang="en-US" sz="1750" dirty="0"/>
          </a:p>
        </p:txBody>
      </p:sp>
      <p:sp>
        <p:nvSpPr>
          <p:cNvPr id="21" name="Rectangle 20"/>
          <p:cNvSpPr/>
          <p:nvPr/>
        </p:nvSpPr>
        <p:spPr>
          <a:xfrm>
            <a:off x="12842543" y="7710985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526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63040" y="2910840"/>
            <a:ext cx="11262360" cy="1862048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  <a:effectLst>
            <a:innerShdw blurRad="63500" dist="50800" dir="13500000">
              <a:prstClr val="black">
                <a:alpha val="50000"/>
              </a:prstClr>
            </a:innerShdw>
            <a:reflection blurRad="6350" stA="50000" endA="300" endPos="90000" dist="50800" dir="5400000" sy="-100000" algn="bl" rotWithShape="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1500" dirty="0" smtClean="0">
                <a:latin typeface="Bahnschrift Condensed" pitchFamily="34" charset="0"/>
              </a:rPr>
              <a:t>THANK    YOU</a:t>
            </a:r>
            <a:endParaRPr lang="en-US" sz="11500" dirty="0">
              <a:latin typeface="Bahnschrift Condensed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2842543" y="7726751"/>
            <a:ext cx="1787857" cy="51861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/>
              <a:t>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65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692</Words>
  <Application>Microsoft Office PowerPoint</Application>
  <PresentationFormat>Custom</PresentationFormat>
  <Paragraphs>199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Consolas</vt:lpstr>
      <vt:lpstr>Inter Bold</vt:lpstr>
      <vt:lpstr>Inter</vt:lpstr>
      <vt:lpstr>Bahnschrift Condensed</vt:lpstr>
      <vt:lpstr>Petrona Bold</vt:lpstr>
      <vt:lpstr>Fraunces Extra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Saurav Aryal</cp:lastModifiedBy>
  <cp:revision>11</cp:revision>
  <dcterms:created xsi:type="dcterms:W3CDTF">2025-06-14T05:10:34Z</dcterms:created>
  <dcterms:modified xsi:type="dcterms:W3CDTF">2025-06-16T01:49:29Z</dcterms:modified>
</cp:coreProperties>
</file>