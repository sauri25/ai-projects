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4" r:id="rId4"/>
    <p:sldId id="258" r:id="rId5"/>
    <p:sldId id="268" r:id="rId6"/>
    <p:sldId id="281" r:id="rId7"/>
    <p:sldId id="260" r:id="rId8"/>
    <p:sldId id="265" r:id="rId9"/>
    <p:sldId id="266" r:id="rId10"/>
    <p:sldId id="267" r:id="rId11"/>
    <p:sldId id="263" r:id="rId12"/>
    <p:sldId id="269" r:id="rId13"/>
    <p:sldId id="270" r:id="rId14"/>
    <p:sldId id="271" r:id="rId15"/>
    <p:sldId id="272" r:id="rId16"/>
    <p:sldId id="282" r:id="rId17"/>
    <p:sldId id="273" r:id="rId18"/>
    <p:sldId id="274" r:id="rId19"/>
    <p:sldId id="277" r:id="rId20"/>
    <p:sldId id="276" r:id="rId21"/>
    <p:sldId id="275" r:id="rId22"/>
    <p:sldId id="280" r:id="rId23"/>
    <p:sldId id="279" r:id="rId24"/>
  </p:sldIdLst>
  <p:sldSz cx="14630400" cy="8229600"/>
  <p:notesSz cx="8229600" cy="14630400"/>
  <p:embeddedFontLst>
    <p:embeddedFont>
      <p:font typeface="Inter" charset="0"/>
      <p:regular r:id="rId26"/>
    </p:embeddedFont>
    <p:embeddedFont>
      <p:font typeface="Bahnschrift Condensed" pitchFamily="34" charset="0"/>
      <p:regular r:id="rId27"/>
      <p:bold r:id="rId28"/>
    </p:embeddedFont>
    <p:embeddedFont>
      <p:font typeface="Consolas" pitchFamily="49" charset="0"/>
      <p:regular r:id="rId29"/>
      <p:bold r:id="rId30"/>
      <p:italic r:id="rId31"/>
      <p:boldItalic r:id="rId32"/>
    </p:embeddedFont>
    <p:embeddedFont>
      <p:font typeface="Calibri" pitchFamily="34" charset="0"/>
      <p:regular r:id="rId33"/>
      <p:bold r:id="rId34"/>
      <p:italic r:id="rId35"/>
      <p:boldItalic r:id="rId36"/>
    </p:embeddedFont>
    <p:embeddedFont>
      <p:font typeface="Fraunces Extra Bold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610" autoAdjust="0"/>
  </p:normalViewPr>
  <p:slideViewPr>
    <p:cSldViewPr snapToGrid="0" snapToObjects="1">
      <p:cViewPr>
        <p:scale>
          <a:sx n="60" d="100"/>
          <a:sy n="60" d="100"/>
        </p:scale>
        <p:origin x="-612" y="-156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408E56-E90B-4462-A6E6-57341E2A00B8}" type="doc">
      <dgm:prSet loTypeId="urn:microsoft.com/office/officeart/2005/8/layout/StepDownProcess" loCatId="process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DE0FFE8-A444-4206-917D-D8C9477C9E25}">
      <dgm:prSet phldrT="[Text]" custT="1"/>
      <dgm:spPr/>
      <dgm:t>
        <a:bodyPr/>
        <a:lstStyle/>
        <a:p>
          <a:pPr algn="l"/>
          <a:r>
            <a:rPr lang="en-US" sz="1600" dirty="0" smtClean="0"/>
            <a:t>Data  profiling  analysis and cleaning</a:t>
          </a:r>
          <a:endParaRPr lang="en-US" sz="1600" dirty="0"/>
        </a:p>
      </dgm:t>
    </dgm:pt>
    <dgm:pt modelId="{08CFA8C1-7377-4D02-B918-F634DB1179A1}" type="parTrans" cxnId="{2F1BB1A3-E521-4A6A-B506-4CD85325E2F9}">
      <dgm:prSet/>
      <dgm:spPr/>
      <dgm:t>
        <a:bodyPr/>
        <a:lstStyle/>
        <a:p>
          <a:endParaRPr lang="en-US"/>
        </a:p>
      </dgm:t>
    </dgm:pt>
    <dgm:pt modelId="{5BECF223-1302-4F44-B5B8-5CB0AE517A95}" type="sibTrans" cxnId="{2F1BB1A3-E521-4A6A-B506-4CD85325E2F9}">
      <dgm:prSet/>
      <dgm:spPr/>
      <dgm:t>
        <a:bodyPr/>
        <a:lstStyle/>
        <a:p>
          <a:endParaRPr lang="en-US"/>
        </a:p>
      </dgm:t>
    </dgm:pt>
    <dgm:pt modelId="{5EC3853C-4708-474D-A598-25662600E59E}">
      <dgm:prSet phldrT="[Text]"/>
      <dgm:spPr/>
      <dgm:t>
        <a:bodyPr/>
        <a:lstStyle/>
        <a:p>
          <a:pPr algn="l"/>
          <a:r>
            <a:rPr lang="en-US" dirty="0" smtClean="0"/>
            <a:t>Feature Engineering</a:t>
          </a:r>
          <a:endParaRPr lang="en-US" dirty="0"/>
        </a:p>
      </dgm:t>
    </dgm:pt>
    <dgm:pt modelId="{D6809F5F-FB8A-4DC1-A680-6A7AED7161FD}" type="parTrans" cxnId="{EC5705D3-15D0-4B97-B843-62B4DE016CFD}">
      <dgm:prSet/>
      <dgm:spPr/>
      <dgm:t>
        <a:bodyPr/>
        <a:lstStyle/>
        <a:p>
          <a:endParaRPr lang="en-US"/>
        </a:p>
      </dgm:t>
    </dgm:pt>
    <dgm:pt modelId="{3A145E58-DAA5-4BB6-8557-D8798D2AA7CA}" type="sibTrans" cxnId="{EC5705D3-15D0-4B97-B843-62B4DE016CFD}">
      <dgm:prSet/>
      <dgm:spPr/>
      <dgm:t>
        <a:bodyPr/>
        <a:lstStyle/>
        <a:p>
          <a:endParaRPr lang="en-US"/>
        </a:p>
      </dgm:t>
    </dgm:pt>
    <dgm:pt modelId="{8A896975-B7EE-4B9C-AB3B-2F7B01D440F6}">
      <dgm:prSet phldrT="[Text]"/>
      <dgm:spPr/>
      <dgm:t>
        <a:bodyPr/>
        <a:lstStyle/>
        <a:p>
          <a:r>
            <a:rPr lang="en-US" dirty="0" smtClean="0"/>
            <a:t>Visualization</a:t>
          </a:r>
          <a:endParaRPr lang="en-US" dirty="0"/>
        </a:p>
      </dgm:t>
    </dgm:pt>
    <dgm:pt modelId="{625D55F7-2AEE-45C9-842B-B59F3074AA6A}" type="parTrans" cxnId="{71367E14-8056-45A4-B64A-1EBAE9E92C63}">
      <dgm:prSet/>
      <dgm:spPr/>
      <dgm:t>
        <a:bodyPr/>
        <a:lstStyle/>
        <a:p>
          <a:endParaRPr lang="en-US"/>
        </a:p>
      </dgm:t>
    </dgm:pt>
    <dgm:pt modelId="{0B87251A-E06B-4FC5-ADBD-D50986460583}" type="sibTrans" cxnId="{71367E14-8056-45A4-B64A-1EBAE9E92C63}">
      <dgm:prSet/>
      <dgm:spPr/>
      <dgm:t>
        <a:bodyPr/>
        <a:lstStyle/>
        <a:p>
          <a:endParaRPr lang="en-US"/>
        </a:p>
      </dgm:t>
    </dgm:pt>
    <dgm:pt modelId="{51B02F00-EFB1-422E-A5EE-378692C2DB19}">
      <dgm:prSet phldrT="[Text]"/>
      <dgm:spPr/>
      <dgm:t>
        <a:bodyPr/>
        <a:lstStyle/>
        <a:p>
          <a:pPr algn="l"/>
          <a:r>
            <a:rPr lang="en-US" dirty="0" smtClean="0"/>
            <a:t>Handling Outliers</a:t>
          </a:r>
          <a:endParaRPr lang="en-US" dirty="0"/>
        </a:p>
      </dgm:t>
    </dgm:pt>
    <dgm:pt modelId="{66F47127-9683-4B5E-9522-51A0D97854CB}" type="parTrans" cxnId="{27C3EA5A-5AB2-4C74-A6E3-A760D5891921}">
      <dgm:prSet/>
      <dgm:spPr/>
      <dgm:t>
        <a:bodyPr/>
        <a:lstStyle/>
        <a:p>
          <a:endParaRPr lang="en-US"/>
        </a:p>
      </dgm:t>
    </dgm:pt>
    <dgm:pt modelId="{CB03694C-439A-49FB-97D2-5E79F01E25BC}" type="sibTrans" cxnId="{27C3EA5A-5AB2-4C74-A6E3-A760D5891921}">
      <dgm:prSet/>
      <dgm:spPr/>
      <dgm:t>
        <a:bodyPr/>
        <a:lstStyle/>
        <a:p>
          <a:endParaRPr lang="en-US"/>
        </a:p>
      </dgm:t>
    </dgm:pt>
    <dgm:pt modelId="{8264FF7F-A0C3-4604-901E-40C64C17B14D}">
      <dgm:prSet phldrT="[Text]"/>
      <dgm:spPr/>
      <dgm:t>
        <a:bodyPr/>
        <a:lstStyle/>
        <a:p>
          <a:r>
            <a:rPr lang="en-US" dirty="0" smtClean="0"/>
            <a:t>Linear Regression</a:t>
          </a:r>
          <a:endParaRPr lang="en-US" dirty="0"/>
        </a:p>
      </dgm:t>
    </dgm:pt>
    <dgm:pt modelId="{BF76053D-BEDC-4220-831A-A10F9D18259A}" type="parTrans" cxnId="{38A70F39-9DE3-40DA-9589-8E491F45659D}">
      <dgm:prSet/>
      <dgm:spPr/>
      <dgm:t>
        <a:bodyPr/>
        <a:lstStyle/>
        <a:p>
          <a:endParaRPr lang="en-US"/>
        </a:p>
      </dgm:t>
    </dgm:pt>
    <dgm:pt modelId="{DC9E5A65-0765-4345-9CFB-1A6D43F75651}" type="sibTrans" cxnId="{38A70F39-9DE3-40DA-9589-8E491F45659D}">
      <dgm:prSet/>
      <dgm:spPr/>
      <dgm:t>
        <a:bodyPr/>
        <a:lstStyle/>
        <a:p>
          <a:endParaRPr lang="en-US"/>
        </a:p>
      </dgm:t>
    </dgm:pt>
    <dgm:pt modelId="{22781C49-9B65-4189-B128-0E84EEEFD399}">
      <dgm:prSet phldrT="[Text]"/>
      <dgm:spPr/>
      <dgm:t>
        <a:bodyPr/>
        <a:lstStyle/>
        <a:p>
          <a:r>
            <a:rPr lang="en-US" dirty="0" smtClean="0"/>
            <a:t>Findings</a:t>
          </a:r>
          <a:endParaRPr lang="en-US" dirty="0"/>
        </a:p>
      </dgm:t>
    </dgm:pt>
    <dgm:pt modelId="{CAA2884F-349E-41D2-B0EE-2D33D494E085}" type="parTrans" cxnId="{2AEA6694-1761-4674-B1AE-EAAA402DA744}">
      <dgm:prSet/>
      <dgm:spPr/>
      <dgm:t>
        <a:bodyPr/>
        <a:lstStyle/>
        <a:p>
          <a:endParaRPr lang="en-US"/>
        </a:p>
      </dgm:t>
    </dgm:pt>
    <dgm:pt modelId="{34FE1678-77E6-4FC5-80F8-687A9A23863E}" type="sibTrans" cxnId="{2AEA6694-1761-4674-B1AE-EAAA402DA744}">
      <dgm:prSet/>
      <dgm:spPr/>
      <dgm:t>
        <a:bodyPr/>
        <a:lstStyle/>
        <a:p>
          <a:endParaRPr lang="en-US"/>
        </a:p>
      </dgm:t>
    </dgm:pt>
    <dgm:pt modelId="{9E5A2280-E4A0-4B4B-AC1C-C685FB938B7D}" type="pres">
      <dgm:prSet presAssocID="{64408E56-E90B-4462-A6E6-57341E2A00B8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49B9B4E-26AD-4944-9040-9CE1122E94F2}" type="pres">
      <dgm:prSet presAssocID="{8DE0FFE8-A444-4206-917D-D8C9477C9E25}" presName="composite" presStyleCnt="0"/>
      <dgm:spPr/>
    </dgm:pt>
    <dgm:pt modelId="{97797BC3-AD76-411A-BA40-75E364213B97}" type="pres">
      <dgm:prSet presAssocID="{8DE0FFE8-A444-4206-917D-D8C9477C9E25}" presName="bentUpArrow1" presStyleLbl="alignImgPlace1" presStyleIdx="0" presStyleCnt="5"/>
      <dgm:spPr/>
    </dgm:pt>
    <dgm:pt modelId="{B103DA49-6C81-4AE8-A9FD-D0F7EFE2B1E2}" type="pres">
      <dgm:prSet presAssocID="{8DE0FFE8-A444-4206-917D-D8C9477C9E25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1A8E70-A28E-4356-A982-17EB6F7AC11D}" type="pres">
      <dgm:prSet presAssocID="{8DE0FFE8-A444-4206-917D-D8C9477C9E25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CF5A009F-CF59-41ED-905A-19ED96FC9E46}" type="pres">
      <dgm:prSet presAssocID="{5BECF223-1302-4F44-B5B8-5CB0AE517A95}" presName="sibTrans" presStyleCnt="0"/>
      <dgm:spPr/>
    </dgm:pt>
    <dgm:pt modelId="{007114D3-BE15-4A87-BA46-4DDEED9ABB6F}" type="pres">
      <dgm:prSet presAssocID="{5EC3853C-4708-474D-A598-25662600E59E}" presName="composite" presStyleCnt="0"/>
      <dgm:spPr/>
    </dgm:pt>
    <dgm:pt modelId="{946A351C-3E27-4B58-9A8D-E13A57077BD9}" type="pres">
      <dgm:prSet presAssocID="{5EC3853C-4708-474D-A598-25662600E59E}" presName="bentUpArrow1" presStyleLbl="alignImgPlace1" presStyleIdx="1" presStyleCnt="5"/>
      <dgm:spPr/>
    </dgm:pt>
    <dgm:pt modelId="{C7BB4B78-E5F0-4341-9F2B-9CB8E0E77F57}" type="pres">
      <dgm:prSet presAssocID="{5EC3853C-4708-474D-A598-25662600E59E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309CFC-0989-4359-BF5E-7895E886D746}" type="pres">
      <dgm:prSet presAssocID="{5EC3853C-4708-474D-A598-25662600E59E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DF8C85E4-69CD-462C-8D24-FEF46F0F54E8}" type="pres">
      <dgm:prSet presAssocID="{3A145E58-DAA5-4BB6-8557-D8798D2AA7CA}" presName="sibTrans" presStyleCnt="0"/>
      <dgm:spPr/>
    </dgm:pt>
    <dgm:pt modelId="{44D53D45-6AF2-4CA2-919B-4ABEA5146FF9}" type="pres">
      <dgm:prSet presAssocID="{8A896975-B7EE-4B9C-AB3B-2F7B01D440F6}" presName="composite" presStyleCnt="0"/>
      <dgm:spPr/>
    </dgm:pt>
    <dgm:pt modelId="{C4AD5982-1782-433D-8343-07BDFCFED365}" type="pres">
      <dgm:prSet presAssocID="{8A896975-B7EE-4B9C-AB3B-2F7B01D440F6}" presName="bentUpArrow1" presStyleLbl="alignImgPlace1" presStyleIdx="2" presStyleCnt="5"/>
      <dgm:spPr/>
    </dgm:pt>
    <dgm:pt modelId="{7A675F01-3C34-4FB1-9EA1-11AB7EFACBF7}" type="pres">
      <dgm:prSet presAssocID="{8A896975-B7EE-4B9C-AB3B-2F7B01D440F6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ECE24D-8415-4C60-A620-FB557BC585B4}" type="pres">
      <dgm:prSet presAssocID="{8A896975-B7EE-4B9C-AB3B-2F7B01D440F6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A1AA38C-B29B-4B2C-8481-F7293DF7FE82}" type="pres">
      <dgm:prSet presAssocID="{0B87251A-E06B-4FC5-ADBD-D50986460583}" presName="sibTrans" presStyleCnt="0"/>
      <dgm:spPr/>
    </dgm:pt>
    <dgm:pt modelId="{F5AC001C-C886-4C9D-BFF5-D7E45060423A}" type="pres">
      <dgm:prSet presAssocID="{51B02F00-EFB1-422E-A5EE-378692C2DB19}" presName="composite" presStyleCnt="0"/>
      <dgm:spPr/>
    </dgm:pt>
    <dgm:pt modelId="{B59E6366-629D-4A3C-A3C5-E54358821D5A}" type="pres">
      <dgm:prSet presAssocID="{51B02F00-EFB1-422E-A5EE-378692C2DB19}" presName="bentUpArrow1" presStyleLbl="alignImgPlace1" presStyleIdx="3" presStyleCnt="5"/>
      <dgm:spPr/>
    </dgm:pt>
    <dgm:pt modelId="{770DEDE1-5B4F-4967-AC3A-BE0CB1090F8E}" type="pres">
      <dgm:prSet presAssocID="{51B02F00-EFB1-422E-A5EE-378692C2DB19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A2FCAB-377D-4F60-8953-73559B004007}" type="pres">
      <dgm:prSet presAssocID="{51B02F00-EFB1-422E-A5EE-378692C2DB19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CBE32CE5-FDCC-4078-957E-C141FCBD61B4}" type="pres">
      <dgm:prSet presAssocID="{CB03694C-439A-49FB-97D2-5E79F01E25BC}" presName="sibTrans" presStyleCnt="0"/>
      <dgm:spPr/>
    </dgm:pt>
    <dgm:pt modelId="{B58F228D-66E5-422E-9AC5-6DEE4C33CCFB}" type="pres">
      <dgm:prSet presAssocID="{8264FF7F-A0C3-4604-901E-40C64C17B14D}" presName="composite" presStyleCnt="0"/>
      <dgm:spPr/>
    </dgm:pt>
    <dgm:pt modelId="{2CBFF37C-2356-4CD0-A315-CD5B5AEF6A5D}" type="pres">
      <dgm:prSet presAssocID="{8264FF7F-A0C3-4604-901E-40C64C17B14D}" presName="bentUpArrow1" presStyleLbl="alignImgPlace1" presStyleIdx="4" presStyleCnt="5"/>
      <dgm:spPr/>
    </dgm:pt>
    <dgm:pt modelId="{F8C7969A-CCAF-441F-A620-F70BD5762A5E}" type="pres">
      <dgm:prSet presAssocID="{8264FF7F-A0C3-4604-901E-40C64C17B14D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56EECB-4ED6-4BDB-8EA0-62FADA562729}" type="pres">
      <dgm:prSet presAssocID="{8264FF7F-A0C3-4604-901E-40C64C17B14D}" presName="ChildText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33877D27-C80E-4A9A-B7D0-303C6630BBBB}" type="pres">
      <dgm:prSet presAssocID="{DC9E5A65-0765-4345-9CFB-1A6D43F75651}" presName="sibTrans" presStyleCnt="0"/>
      <dgm:spPr/>
    </dgm:pt>
    <dgm:pt modelId="{EF124F63-CB21-40D6-9B86-2997C10F77F8}" type="pres">
      <dgm:prSet presAssocID="{22781C49-9B65-4189-B128-0E84EEEFD399}" presName="composite" presStyleCnt="0"/>
      <dgm:spPr/>
    </dgm:pt>
    <dgm:pt modelId="{139E4F6D-4624-4BA3-A1EC-1FB14048C238}" type="pres">
      <dgm:prSet presAssocID="{22781C49-9B65-4189-B128-0E84EEEFD399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C3EA5A-5AB2-4C74-A6E3-A760D5891921}" srcId="{64408E56-E90B-4462-A6E6-57341E2A00B8}" destId="{51B02F00-EFB1-422E-A5EE-378692C2DB19}" srcOrd="3" destOrd="0" parTransId="{66F47127-9683-4B5E-9522-51A0D97854CB}" sibTransId="{CB03694C-439A-49FB-97D2-5E79F01E25BC}"/>
    <dgm:cxn modelId="{2F1BB1A3-E521-4A6A-B506-4CD85325E2F9}" srcId="{64408E56-E90B-4462-A6E6-57341E2A00B8}" destId="{8DE0FFE8-A444-4206-917D-D8C9477C9E25}" srcOrd="0" destOrd="0" parTransId="{08CFA8C1-7377-4D02-B918-F634DB1179A1}" sibTransId="{5BECF223-1302-4F44-B5B8-5CB0AE517A95}"/>
    <dgm:cxn modelId="{430BA292-11AF-4917-8BFB-99DEB4223D1D}" type="presOf" srcId="{8A896975-B7EE-4B9C-AB3B-2F7B01D440F6}" destId="{7A675F01-3C34-4FB1-9EA1-11AB7EFACBF7}" srcOrd="0" destOrd="0" presId="urn:microsoft.com/office/officeart/2005/8/layout/StepDownProcess"/>
    <dgm:cxn modelId="{D0B407D1-F2E8-4B2D-BF1C-3029B4938F7B}" type="presOf" srcId="{51B02F00-EFB1-422E-A5EE-378692C2DB19}" destId="{770DEDE1-5B4F-4967-AC3A-BE0CB1090F8E}" srcOrd="0" destOrd="0" presId="urn:microsoft.com/office/officeart/2005/8/layout/StepDownProcess"/>
    <dgm:cxn modelId="{71367E14-8056-45A4-B64A-1EBAE9E92C63}" srcId="{64408E56-E90B-4462-A6E6-57341E2A00B8}" destId="{8A896975-B7EE-4B9C-AB3B-2F7B01D440F6}" srcOrd="2" destOrd="0" parTransId="{625D55F7-2AEE-45C9-842B-B59F3074AA6A}" sibTransId="{0B87251A-E06B-4FC5-ADBD-D50986460583}"/>
    <dgm:cxn modelId="{7653CC65-E3AC-4865-9656-EF824E5E12FC}" type="presOf" srcId="{64408E56-E90B-4462-A6E6-57341E2A00B8}" destId="{9E5A2280-E4A0-4B4B-AC1C-C685FB938B7D}" srcOrd="0" destOrd="0" presId="urn:microsoft.com/office/officeart/2005/8/layout/StepDownProcess"/>
    <dgm:cxn modelId="{2AEA6694-1761-4674-B1AE-EAAA402DA744}" srcId="{64408E56-E90B-4462-A6E6-57341E2A00B8}" destId="{22781C49-9B65-4189-B128-0E84EEEFD399}" srcOrd="5" destOrd="0" parTransId="{CAA2884F-349E-41D2-B0EE-2D33D494E085}" sibTransId="{34FE1678-77E6-4FC5-80F8-687A9A23863E}"/>
    <dgm:cxn modelId="{41EEC148-1C56-4B7C-BEE7-868E33F4CF38}" type="presOf" srcId="{22781C49-9B65-4189-B128-0E84EEEFD399}" destId="{139E4F6D-4624-4BA3-A1EC-1FB14048C238}" srcOrd="0" destOrd="0" presId="urn:microsoft.com/office/officeart/2005/8/layout/StepDownProcess"/>
    <dgm:cxn modelId="{38A70F39-9DE3-40DA-9589-8E491F45659D}" srcId="{64408E56-E90B-4462-A6E6-57341E2A00B8}" destId="{8264FF7F-A0C3-4604-901E-40C64C17B14D}" srcOrd="4" destOrd="0" parTransId="{BF76053D-BEDC-4220-831A-A10F9D18259A}" sibTransId="{DC9E5A65-0765-4345-9CFB-1A6D43F75651}"/>
    <dgm:cxn modelId="{DC234B7E-A56E-47B4-BA17-7AD43F08590F}" type="presOf" srcId="{5EC3853C-4708-474D-A598-25662600E59E}" destId="{C7BB4B78-E5F0-4341-9F2B-9CB8E0E77F57}" srcOrd="0" destOrd="0" presId="urn:microsoft.com/office/officeart/2005/8/layout/StepDownProcess"/>
    <dgm:cxn modelId="{EC5705D3-15D0-4B97-B843-62B4DE016CFD}" srcId="{64408E56-E90B-4462-A6E6-57341E2A00B8}" destId="{5EC3853C-4708-474D-A598-25662600E59E}" srcOrd="1" destOrd="0" parTransId="{D6809F5F-FB8A-4DC1-A680-6A7AED7161FD}" sibTransId="{3A145E58-DAA5-4BB6-8557-D8798D2AA7CA}"/>
    <dgm:cxn modelId="{97A5B7DE-7727-4797-BA77-EE282670B1A1}" type="presOf" srcId="{8DE0FFE8-A444-4206-917D-D8C9477C9E25}" destId="{B103DA49-6C81-4AE8-A9FD-D0F7EFE2B1E2}" srcOrd="0" destOrd="0" presId="urn:microsoft.com/office/officeart/2005/8/layout/StepDownProcess"/>
    <dgm:cxn modelId="{FBC02C24-9D83-4D26-AC27-0FBB8F7EA3F8}" type="presOf" srcId="{8264FF7F-A0C3-4604-901E-40C64C17B14D}" destId="{F8C7969A-CCAF-441F-A620-F70BD5762A5E}" srcOrd="0" destOrd="0" presId="urn:microsoft.com/office/officeart/2005/8/layout/StepDownProcess"/>
    <dgm:cxn modelId="{E5ADCB20-5CDF-4AE1-BE98-61831102A7D6}" type="presParOf" srcId="{9E5A2280-E4A0-4B4B-AC1C-C685FB938B7D}" destId="{549B9B4E-26AD-4944-9040-9CE1122E94F2}" srcOrd="0" destOrd="0" presId="urn:microsoft.com/office/officeart/2005/8/layout/StepDownProcess"/>
    <dgm:cxn modelId="{AAE05371-DB6A-458D-8FF7-968F09C6CEEC}" type="presParOf" srcId="{549B9B4E-26AD-4944-9040-9CE1122E94F2}" destId="{97797BC3-AD76-411A-BA40-75E364213B97}" srcOrd="0" destOrd="0" presId="urn:microsoft.com/office/officeart/2005/8/layout/StepDownProcess"/>
    <dgm:cxn modelId="{8573DA36-99DD-454C-85D9-7FF1167D9761}" type="presParOf" srcId="{549B9B4E-26AD-4944-9040-9CE1122E94F2}" destId="{B103DA49-6C81-4AE8-A9FD-D0F7EFE2B1E2}" srcOrd="1" destOrd="0" presId="urn:microsoft.com/office/officeart/2005/8/layout/StepDownProcess"/>
    <dgm:cxn modelId="{1CA33F21-F12E-4547-B9D2-2AACD662C06B}" type="presParOf" srcId="{549B9B4E-26AD-4944-9040-9CE1122E94F2}" destId="{3F1A8E70-A28E-4356-A982-17EB6F7AC11D}" srcOrd="2" destOrd="0" presId="urn:microsoft.com/office/officeart/2005/8/layout/StepDownProcess"/>
    <dgm:cxn modelId="{BE34701E-D11F-41C5-A8DD-B12C0AB1F9CE}" type="presParOf" srcId="{9E5A2280-E4A0-4B4B-AC1C-C685FB938B7D}" destId="{CF5A009F-CF59-41ED-905A-19ED96FC9E46}" srcOrd="1" destOrd="0" presId="urn:microsoft.com/office/officeart/2005/8/layout/StepDownProcess"/>
    <dgm:cxn modelId="{CAEB5C9C-EBC1-48A4-B1CA-C5442EF44205}" type="presParOf" srcId="{9E5A2280-E4A0-4B4B-AC1C-C685FB938B7D}" destId="{007114D3-BE15-4A87-BA46-4DDEED9ABB6F}" srcOrd="2" destOrd="0" presId="urn:microsoft.com/office/officeart/2005/8/layout/StepDownProcess"/>
    <dgm:cxn modelId="{7883553A-6FFF-4807-9B5F-65213E1547AA}" type="presParOf" srcId="{007114D3-BE15-4A87-BA46-4DDEED9ABB6F}" destId="{946A351C-3E27-4B58-9A8D-E13A57077BD9}" srcOrd="0" destOrd="0" presId="urn:microsoft.com/office/officeart/2005/8/layout/StepDownProcess"/>
    <dgm:cxn modelId="{062233EF-A1EF-4A9E-9372-3E32371ECC31}" type="presParOf" srcId="{007114D3-BE15-4A87-BA46-4DDEED9ABB6F}" destId="{C7BB4B78-E5F0-4341-9F2B-9CB8E0E77F57}" srcOrd="1" destOrd="0" presId="urn:microsoft.com/office/officeart/2005/8/layout/StepDownProcess"/>
    <dgm:cxn modelId="{4B9EA982-778E-4BE0-A779-94DCC8F4F5C8}" type="presParOf" srcId="{007114D3-BE15-4A87-BA46-4DDEED9ABB6F}" destId="{36309CFC-0989-4359-BF5E-7895E886D746}" srcOrd="2" destOrd="0" presId="urn:microsoft.com/office/officeart/2005/8/layout/StepDownProcess"/>
    <dgm:cxn modelId="{9D814051-7A7F-48C6-9574-B69843D2C97A}" type="presParOf" srcId="{9E5A2280-E4A0-4B4B-AC1C-C685FB938B7D}" destId="{DF8C85E4-69CD-462C-8D24-FEF46F0F54E8}" srcOrd="3" destOrd="0" presId="urn:microsoft.com/office/officeart/2005/8/layout/StepDownProcess"/>
    <dgm:cxn modelId="{CF15DCE1-AAED-41BB-A172-448AFB45CA1D}" type="presParOf" srcId="{9E5A2280-E4A0-4B4B-AC1C-C685FB938B7D}" destId="{44D53D45-6AF2-4CA2-919B-4ABEA5146FF9}" srcOrd="4" destOrd="0" presId="urn:microsoft.com/office/officeart/2005/8/layout/StepDownProcess"/>
    <dgm:cxn modelId="{CD350C09-E6C0-4390-A635-19DC5B51670E}" type="presParOf" srcId="{44D53D45-6AF2-4CA2-919B-4ABEA5146FF9}" destId="{C4AD5982-1782-433D-8343-07BDFCFED365}" srcOrd="0" destOrd="0" presId="urn:microsoft.com/office/officeart/2005/8/layout/StepDownProcess"/>
    <dgm:cxn modelId="{3E6BC76C-4B49-42F6-A5BA-A911B7130951}" type="presParOf" srcId="{44D53D45-6AF2-4CA2-919B-4ABEA5146FF9}" destId="{7A675F01-3C34-4FB1-9EA1-11AB7EFACBF7}" srcOrd="1" destOrd="0" presId="urn:microsoft.com/office/officeart/2005/8/layout/StepDownProcess"/>
    <dgm:cxn modelId="{B15EB382-2CE0-48D8-905C-37E5D84403B6}" type="presParOf" srcId="{44D53D45-6AF2-4CA2-919B-4ABEA5146FF9}" destId="{51ECE24D-8415-4C60-A620-FB557BC585B4}" srcOrd="2" destOrd="0" presId="urn:microsoft.com/office/officeart/2005/8/layout/StepDownProcess"/>
    <dgm:cxn modelId="{BE893865-A5EC-4354-9D77-0D0CE62B682A}" type="presParOf" srcId="{9E5A2280-E4A0-4B4B-AC1C-C685FB938B7D}" destId="{4A1AA38C-B29B-4B2C-8481-F7293DF7FE82}" srcOrd="5" destOrd="0" presId="urn:microsoft.com/office/officeart/2005/8/layout/StepDownProcess"/>
    <dgm:cxn modelId="{FEEE6F8C-2772-4180-A9DC-A0EBDBC58E0E}" type="presParOf" srcId="{9E5A2280-E4A0-4B4B-AC1C-C685FB938B7D}" destId="{F5AC001C-C886-4C9D-BFF5-D7E45060423A}" srcOrd="6" destOrd="0" presId="urn:microsoft.com/office/officeart/2005/8/layout/StepDownProcess"/>
    <dgm:cxn modelId="{FA8AE51E-9492-469D-A376-DE38E7B185A8}" type="presParOf" srcId="{F5AC001C-C886-4C9D-BFF5-D7E45060423A}" destId="{B59E6366-629D-4A3C-A3C5-E54358821D5A}" srcOrd="0" destOrd="0" presId="urn:microsoft.com/office/officeart/2005/8/layout/StepDownProcess"/>
    <dgm:cxn modelId="{A2E867BB-6781-4762-B89C-1AA46DF8AB18}" type="presParOf" srcId="{F5AC001C-C886-4C9D-BFF5-D7E45060423A}" destId="{770DEDE1-5B4F-4967-AC3A-BE0CB1090F8E}" srcOrd="1" destOrd="0" presId="urn:microsoft.com/office/officeart/2005/8/layout/StepDownProcess"/>
    <dgm:cxn modelId="{A54D3F03-8E66-498A-8BEC-4E9785F3F39A}" type="presParOf" srcId="{F5AC001C-C886-4C9D-BFF5-D7E45060423A}" destId="{76A2FCAB-377D-4F60-8953-73559B004007}" srcOrd="2" destOrd="0" presId="urn:microsoft.com/office/officeart/2005/8/layout/StepDownProcess"/>
    <dgm:cxn modelId="{8BBFA5ED-7CC4-4E33-B082-CB5251F28CD1}" type="presParOf" srcId="{9E5A2280-E4A0-4B4B-AC1C-C685FB938B7D}" destId="{CBE32CE5-FDCC-4078-957E-C141FCBD61B4}" srcOrd="7" destOrd="0" presId="urn:microsoft.com/office/officeart/2005/8/layout/StepDownProcess"/>
    <dgm:cxn modelId="{D2DB61C8-3276-4D11-A57D-F18BEC8B81EA}" type="presParOf" srcId="{9E5A2280-E4A0-4B4B-AC1C-C685FB938B7D}" destId="{B58F228D-66E5-422E-9AC5-6DEE4C33CCFB}" srcOrd="8" destOrd="0" presId="urn:microsoft.com/office/officeart/2005/8/layout/StepDownProcess"/>
    <dgm:cxn modelId="{1380E68D-99DA-4F4E-A0EC-C15DBB3D6CEA}" type="presParOf" srcId="{B58F228D-66E5-422E-9AC5-6DEE4C33CCFB}" destId="{2CBFF37C-2356-4CD0-A315-CD5B5AEF6A5D}" srcOrd="0" destOrd="0" presId="urn:microsoft.com/office/officeart/2005/8/layout/StepDownProcess"/>
    <dgm:cxn modelId="{146A935D-03BB-4156-91FE-26E555701AD0}" type="presParOf" srcId="{B58F228D-66E5-422E-9AC5-6DEE4C33CCFB}" destId="{F8C7969A-CCAF-441F-A620-F70BD5762A5E}" srcOrd="1" destOrd="0" presId="urn:microsoft.com/office/officeart/2005/8/layout/StepDownProcess"/>
    <dgm:cxn modelId="{5EA0BB0E-54FC-436A-A969-334D71CE9C2C}" type="presParOf" srcId="{B58F228D-66E5-422E-9AC5-6DEE4C33CCFB}" destId="{1756EECB-4ED6-4BDB-8EA0-62FADA562729}" srcOrd="2" destOrd="0" presId="urn:microsoft.com/office/officeart/2005/8/layout/StepDownProcess"/>
    <dgm:cxn modelId="{22A21F6A-404F-426D-949E-B7AE052D552C}" type="presParOf" srcId="{9E5A2280-E4A0-4B4B-AC1C-C685FB938B7D}" destId="{33877D27-C80E-4A9A-B7D0-303C6630BBBB}" srcOrd="9" destOrd="0" presId="urn:microsoft.com/office/officeart/2005/8/layout/StepDownProcess"/>
    <dgm:cxn modelId="{2AB0CBE0-A473-44F7-B984-083B32050465}" type="presParOf" srcId="{9E5A2280-E4A0-4B4B-AC1C-C685FB938B7D}" destId="{EF124F63-CB21-40D6-9B86-2997C10F77F8}" srcOrd="10" destOrd="0" presId="urn:microsoft.com/office/officeart/2005/8/layout/StepDownProcess"/>
    <dgm:cxn modelId="{0B0898AD-00A1-44BB-A068-CEE248F7536C}" type="presParOf" srcId="{EF124F63-CB21-40D6-9B86-2997C10F77F8}" destId="{139E4F6D-4624-4BA3-A1EC-1FB14048C238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97BC3-AD76-411A-BA40-75E364213B97}">
      <dsp:nvSpPr>
        <dsp:cNvPr id="0" name=""/>
        <dsp:cNvSpPr/>
      </dsp:nvSpPr>
      <dsp:spPr>
        <a:xfrm rot="5400000">
          <a:off x="1749558" y="928260"/>
          <a:ext cx="799024" cy="9096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103DA49-6C81-4AE8-A9FD-D0F7EFE2B1E2}">
      <dsp:nvSpPr>
        <dsp:cNvPr id="0" name=""/>
        <dsp:cNvSpPr/>
      </dsp:nvSpPr>
      <dsp:spPr>
        <a:xfrm>
          <a:off x="1537865" y="42526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Data  profiling  analysis and cleaning</a:t>
          </a:r>
          <a:endParaRPr lang="en-US" sz="1600" kern="1200" dirty="0"/>
        </a:p>
      </dsp:txBody>
      <dsp:txXfrm>
        <a:off x="1583834" y="88495"/>
        <a:ext cx="1253148" cy="849578"/>
      </dsp:txXfrm>
    </dsp:sp>
    <dsp:sp modelId="{3F1A8E70-A28E-4356-A982-17EB6F7AC11D}">
      <dsp:nvSpPr>
        <dsp:cNvPr id="0" name=""/>
        <dsp:cNvSpPr/>
      </dsp:nvSpPr>
      <dsp:spPr>
        <a:xfrm>
          <a:off x="2882951" y="132321"/>
          <a:ext cx="978287" cy="76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6A351C-3E27-4B58-9A8D-E13A57077BD9}">
      <dsp:nvSpPr>
        <dsp:cNvPr id="0" name=""/>
        <dsp:cNvSpPr/>
      </dsp:nvSpPr>
      <dsp:spPr>
        <a:xfrm rot="5400000">
          <a:off x="2864777" y="1985894"/>
          <a:ext cx="799024" cy="9096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7BB4B78-E5F0-4341-9F2B-9CB8E0E77F57}">
      <dsp:nvSpPr>
        <dsp:cNvPr id="0" name=""/>
        <dsp:cNvSpPr/>
      </dsp:nvSpPr>
      <dsp:spPr>
        <a:xfrm>
          <a:off x="2653084" y="1100159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Feature Engineering</a:t>
          </a:r>
          <a:endParaRPr lang="en-US" sz="1700" kern="1200" dirty="0"/>
        </a:p>
      </dsp:txBody>
      <dsp:txXfrm>
        <a:off x="2699053" y="1146128"/>
        <a:ext cx="1253148" cy="849578"/>
      </dsp:txXfrm>
    </dsp:sp>
    <dsp:sp modelId="{36309CFC-0989-4359-BF5E-7895E886D746}">
      <dsp:nvSpPr>
        <dsp:cNvPr id="0" name=""/>
        <dsp:cNvSpPr/>
      </dsp:nvSpPr>
      <dsp:spPr>
        <a:xfrm>
          <a:off x="3998171" y="1189954"/>
          <a:ext cx="978287" cy="76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AD5982-1782-433D-8343-07BDFCFED365}">
      <dsp:nvSpPr>
        <dsp:cNvPr id="0" name=""/>
        <dsp:cNvSpPr/>
      </dsp:nvSpPr>
      <dsp:spPr>
        <a:xfrm rot="5400000">
          <a:off x="3979997" y="3043527"/>
          <a:ext cx="799024" cy="9096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A675F01-3C34-4FB1-9EA1-11AB7EFACBF7}">
      <dsp:nvSpPr>
        <dsp:cNvPr id="0" name=""/>
        <dsp:cNvSpPr/>
      </dsp:nvSpPr>
      <dsp:spPr>
        <a:xfrm>
          <a:off x="3768304" y="2157793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Visualization</a:t>
          </a:r>
          <a:endParaRPr lang="en-US" sz="1700" kern="1200" dirty="0"/>
        </a:p>
      </dsp:txBody>
      <dsp:txXfrm>
        <a:off x="3814273" y="2203762"/>
        <a:ext cx="1253148" cy="849578"/>
      </dsp:txXfrm>
    </dsp:sp>
    <dsp:sp modelId="{51ECE24D-8415-4C60-A620-FB557BC585B4}">
      <dsp:nvSpPr>
        <dsp:cNvPr id="0" name=""/>
        <dsp:cNvSpPr/>
      </dsp:nvSpPr>
      <dsp:spPr>
        <a:xfrm>
          <a:off x="5113390" y="2247588"/>
          <a:ext cx="978287" cy="76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9E6366-629D-4A3C-A3C5-E54358821D5A}">
      <dsp:nvSpPr>
        <dsp:cNvPr id="0" name=""/>
        <dsp:cNvSpPr/>
      </dsp:nvSpPr>
      <dsp:spPr>
        <a:xfrm rot="5400000">
          <a:off x="5095216" y="4101161"/>
          <a:ext cx="799024" cy="9096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70DEDE1-5B4F-4967-AC3A-BE0CB1090F8E}">
      <dsp:nvSpPr>
        <dsp:cNvPr id="0" name=""/>
        <dsp:cNvSpPr/>
      </dsp:nvSpPr>
      <dsp:spPr>
        <a:xfrm>
          <a:off x="4883523" y="3215427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Handling Outliers</a:t>
          </a:r>
          <a:endParaRPr lang="en-US" sz="1700" kern="1200" dirty="0"/>
        </a:p>
      </dsp:txBody>
      <dsp:txXfrm>
        <a:off x="4929492" y="3261396"/>
        <a:ext cx="1253148" cy="849578"/>
      </dsp:txXfrm>
    </dsp:sp>
    <dsp:sp modelId="{76A2FCAB-377D-4F60-8953-73559B004007}">
      <dsp:nvSpPr>
        <dsp:cNvPr id="0" name=""/>
        <dsp:cNvSpPr/>
      </dsp:nvSpPr>
      <dsp:spPr>
        <a:xfrm>
          <a:off x="6228609" y="3305222"/>
          <a:ext cx="978287" cy="76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BFF37C-2356-4CD0-A315-CD5B5AEF6A5D}">
      <dsp:nvSpPr>
        <dsp:cNvPr id="0" name=""/>
        <dsp:cNvSpPr/>
      </dsp:nvSpPr>
      <dsp:spPr>
        <a:xfrm rot="5400000">
          <a:off x="6210435" y="5158795"/>
          <a:ext cx="799024" cy="90966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8C7969A-CCAF-441F-A620-F70BD5762A5E}">
      <dsp:nvSpPr>
        <dsp:cNvPr id="0" name=""/>
        <dsp:cNvSpPr/>
      </dsp:nvSpPr>
      <dsp:spPr>
        <a:xfrm>
          <a:off x="5998742" y="4273061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Linear Regression</a:t>
          </a:r>
          <a:endParaRPr lang="en-US" sz="1700" kern="1200" dirty="0"/>
        </a:p>
      </dsp:txBody>
      <dsp:txXfrm>
        <a:off x="6044711" y="4319030"/>
        <a:ext cx="1253148" cy="849578"/>
      </dsp:txXfrm>
    </dsp:sp>
    <dsp:sp modelId="{1756EECB-4ED6-4BDB-8EA0-62FADA562729}">
      <dsp:nvSpPr>
        <dsp:cNvPr id="0" name=""/>
        <dsp:cNvSpPr/>
      </dsp:nvSpPr>
      <dsp:spPr>
        <a:xfrm>
          <a:off x="7343829" y="4362856"/>
          <a:ext cx="978287" cy="760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E4F6D-4624-4BA3-A1EC-1FB14048C238}">
      <dsp:nvSpPr>
        <dsp:cNvPr id="0" name=""/>
        <dsp:cNvSpPr/>
      </dsp:nvSpPr>
      <dsp:spPr>
        <a:xfrm>
          <a:off x="7113962" y="5330695"/>
          <a:ext cx="1345086" cy="941516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Findings</a:t>
          </a:r>
          <a:endParaRPr lang="en-US" sz="1700" kern="1200" dirty="0"/>
        </a:p>
      </dsp:txBody>
      <dsp:txXfrm>
        <a:off x="7159931" y="5376664"/>
        <a:ext cx="1253148" cy="849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4F1A3-760E-4459-9F32-81FCF2BECD41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DB7E4-EC4D-4501-B626-C4B6812AC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1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9" y="717526"/>
            <a:ext cx="7556421" cy="2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Concrete Strength Prediction Using </a:t>
            </a:r>
            <a:r>
              <a:rPr lang="en-US" sz="49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Linear Regression</a:t>
            </a:r>
            <a:endParaRPr lang="en-US" sz="4900" dirty="0"/>
          </a:p>
        </p:txBody>
      </p:sp>
      <p:sp>
        <p:nvSpPr>
          <p:cNvPr id="5" name="Shape 2"/>
          <p:cNvSpPr/>
          <p:nvPr/>
        </p:nvSpPr>
        <p:spPr>
          <a:xfrm>
            <a:off x="793790" y="594467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270039" y="5006015"/>
            <a:ext cx="142553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By Team 6:</a:t>
            </a:r>
          </a:p>
          <a:p>
            <a:pPr marL="285750" indent="-285750" algn="l">
              <a:lnSpc>
                <a:spcPts val="3100"/>
              </a:lnSpc>
              <a:buFont typeface="Arial" pitchFamily="34" charset="0"/>
              <a:buChar char="•"/>
            </a:pPr>
            <a:r>
              <a:rPr lang="en-US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Saurav</a:t>
            </a:r>
            <a:r>
              <a:rPr lang="en-US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Raj </a:t>
            </a:r>
            <a:r>
              <a:rPr lang="en-US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Aryal</a:t>
            </a:r>
            <a:endParaRPr lang="en-US" b="1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285750" indent="-285750" algn="l">
              <a:lnSpc>
                <a:spcPts val="3100"/>
              </a:lnSpc>
              <a:buFont typeface="Arial" pitchFamily="34" charset="0"/>
              <a:buChar char="•"/>
            </a:pPr>
            <a:r>
              <a:rPr lang="en-US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Shanti </a:t>
            </a:r>
            <a:r>
              <a:rPr lang="en-US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Tamang</a:t>
            </a:r>
            <a:endParaRPr lang="en-US" b="1" dirty="0" smtClean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285750" indent="-285750" algn="l">
              <a:lnSpc>
                <a:spcPts val="3100"/>
              </a:lnSpc>
              <a:buFont typeface="Arial" pitchFamily="34" charset="0"/>
              <a:buChar char="•"/>
            </a:pPr>
            <a:r>
              <a:rPr lang="en-US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Manjil</a:t>
            </a:r>
            <a:r>
              <a:rPr lang="en-US" b="1" dirty="0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</a:t>
            </a:r>
            <a:r>
              <a:rPr lang="en-US" b="1" dirty="0" err="1" smtClean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Shrestha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75240" y="4285396"/>
            <a:ext cx="7145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Predicting the strength of concrete using linear regression model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388358" y="3152633"/>
            <a:ext cx="348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17 June, 2025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49748" y="703226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793790" y="27708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284868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 smtClean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530906" y="337470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 EDA to obtain clean dataset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1912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30906" y="426910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0"/>
              </a:lnSpc>
            </a:pPr>
            <a:r>
              <a:rPr lang="en-US" sz="2450" b="1" dirty="0" smtClean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1530906" y="479512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feature engineering to add and remove features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1165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68952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0"/>
              </a:lnSpc>
            </a:pPr>
            <a:r>
              <a:rPr lang="en-US" sz="2450" b="1" dirty="0" smtClean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 Strength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1530906" y="621553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 concrete compressive strength</a:t>
            </a:r>
          </a:p>
          <a:p>
            <a:pPr>
              <a:lnSpc>
                <a:spcPts val="2850"/>
              </a:lnSpc>
            </a:pPr>
            <a:endParaRPr lang="en-US" sz="1750" dirty="0"/>
          </a:p>
        </p:txBody>
      </p:sp>
      <p:sp>
        <p:nvSpPr>
          <p:cNvPr id="14" name="Rectangle 13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/>
              <a:t>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7775" y="585361"/>
            <a:ext cx="12207189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800" b="1" u="sng" dirty="0" smtClean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Machine Learning Process Flow Diagram</a:t>
            </a: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187876029"/>
              </p:ext>
            </p:extLst>
          </p:nvPr>
        </p:nvGraphicFramePr>
        <p:xfrm>
          <a:off x="1874520" y="1671320"/>
          <a:ext cx="9996914" cy="6314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94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509599" y="1222653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Overview &amp; Preprocessing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2509599" y="3122057"/>
            <a:ext cx="75564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517219" y="3129677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744033" y="327338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Samples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8433" y="327338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1030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2517219" y="3779996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744033" y="392370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18433" y="392370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2517219" y="4430316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744033" y="457402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Values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518433" y="457402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2517219" y="5080635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744033" y="52243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 Removed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518433" y="52243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(2.4%)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2517219" y="5730954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2744033" y="587466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Records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518433" y="587466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1005</a:t>
            </a:r>
            <a:endParaRPr lang="en-US" sz="1750" dirty="0"/>
          </a:p>
        </p:txBody>
      </p:sp>
      <p:sp>
        <p:nvSpPr>
          <p:cNvPr id="21" name="Rectangle 20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4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06369" y="130616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 (EDA)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2906369" y="3205570"/>
            <a:ext cx="3664744" cy="2083594"/>
          </a:xfrm>
          <a:prstGeom prst="roundRect">
            <a:avLst>
              <a:gd name="adj" fmla="val 457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140803" y="344000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Histograms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140803" y="3966022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 feature distributions, e.g., cement content is skewed.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797927" y="3205570"/>
            <a:ext cx="3664863" cy="2083594"/>
          </a:xfrm>
          <a:prstGeom prst="roundRect">
            <a:avLst>
              <a:gd name="adj" fmla="val 4572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32361" y="344000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Heatmap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7032361" y="3966022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correlation matrix; cement highly correlated with strength.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906369" y="5515978"/>
            <a:ext cx="7556421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40803" y="575041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Boxplots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3140803" y="627643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potential outliers in various concrete components.</a:t>
            </a:r>
            <a:endParaRPr lang="en-US" sz="1750" dirty="0"/>
          </a:p>
        </p:txBody>
      </p:sp>
      <p:sp>
        <p:nvSpPr>
          <p:cNvPr id="13" name="Rectangle 12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9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data:image/png;base64,iVBORw0KGgoAAAANSUhEUgAAAt0AAAJxCAYAAACe6Q5nAAAAOnRFWHRTb2Z0d2FyZQBNYXRwbG90bGliIHZlcnNpb24zLjEwLjAsIGh0dHBzOi8vbWF0cGxvdGxpYi5vcmcvlHJYcgAAAAlwSFlzAAAPYQAAD2EBqD+naQABAABJREFUeJzs3Xd4k1UbwOFfutK9J1BatoyyBdlDZKMgQxFl7yUUZMsSLCB7CAgyFJEpDpC9lD1bdimFUijdg+6d749KSmgDBRIKfM99Xe+lOTnnvOckaXhy8rwnCpVKpUIIIYQQQgihNwaFPQAhhBBCCCHedhJ0CyGEEEIIoWcSdAshhBBCCKFnEnQLIYQQQgihZxJ0CyGEEEIIoWcSdAshhBBCCKFnEnQLIYQQQgihZxJ0CyGEEEIIoWcSdAshhBBCCKFnEnQLIYQQQgihZxJ0CyGEEEKIN9Y///xDu3btKFKkCAqFgt9///2ZbY4cOUL16tVRKpWULl2adevW6X2cEnQLIYQQQog3VlJSElWqVGHZsmUFqn/nzh3atGlDkyZN8PX1ZcSIEfTt25e9e/fqdZwKlUql0usZhBBCCCGEeAUUCgU7duygffv2WuuMHTuWXbt2ceXKFXXZp59+SlxcHHv27NHb2GSlWwghhBBCvFbS0tKIj4/XONLS0nTS98mTJ2nWrJlGWYsWLTh58qRO+tfGSK+9CyH0KiPqdmEPQe9Kl2tf2EPQq4GWlQt7CHoXosgo7CHoXa0M48Iegt4tzr5b2EPQK9/ot//9NDM9RO/n0NW/Sz5Lf2LatGkaZVOmTGHq1Kkv3XdYWBguLi4aZS4uLsTHx5OSkoKZmdlLnyM/EnQLIYQQQojXyvjx4/H29tYoUyqVhTQa3ZCgWwghhBBC6EZ2lk66USqVeguyXV1dCQ8P1ygLDw/H2tpab6vcIEG3EEIIIYTQFVV2YY/gmerUqcPff/+tUbZ//37q1Kmj1/PKhZRCCCGEEOKNlZiYiK+vL76+vkDOloC+vr4EBwcDOakq3bt3V9cfOHAgt2/fZsyYMdy4cYPvv/+eLVu2MHLkSL2OU1a6hRBCCCGEbmS/+pXuc+fO0aRJE/XtR7ngPXr0YN26dYSGhqoDcIASJUqwa9cuRo4cyaJFiyhWrBirV6+mRYsWeh2nBN1CCCGEEEInVIWQXtK4cWOe9rMz+f3aZOPGjbl48aIeR5WXpJcIIYQQQgihZ7LSLYQQQgghdKMQ0kveFBJ0CyGEEEII3XgDdi8pLBJ0CyGEEEII3dDRPt1vI8npFkIIIYQQQs9kpVsIIYQQQuiGpJdoJUG3EEIIIYTQDbmQUitJLxFCCCGEEELPZKVbCCGEEELoRGH8OM6bQoJuIYQQQgihG5JeopWklwghhBBCCKFnstIthBBCCCF0Q9JLtJKgWwghhBBC6Ib8OI5Wkl7ymmrcuDEjRozQer+npycLFy58ZeN5kkqlon///tjb26NQKPD19S20sRS2wn4uhBBCCPH6k6BbcOTIERQKBXFxcQVus2fPHtatW8fOnTsJDQ2lUqVK+hugKHTnfC8zZMwUmnzYjUr1WnHwnxOFPaTn4j1uMGevHsT//hl++e0HPEsWf2r9z3t1Yc8/27gSdIIrQSfYsednGr9fX32/ja0102aN49DpP/G/f4YTfnuZ6jMWKytLfU+F6t2bMejYAr7yX0OP36fiVqXkU+u/07oW/Q/O4Sv/NfTZ60OpJlW01m0xsxfj727g3d4tNMo7rfZm8ImFfOW/hmFnl9JuwUAsnW11MR2t2ozszMwzK5h/42eGbpiEk6frM9s0/KI5044tYYH/z4z+fQYeVUpprTto3TiWBm2mcvOa+d5vYWvJNye/Z2nQZsyszV94HgVVrkczPj61gG6Ba2j111Qcqmp/Xm3KFqXRD8P5+NQCuodsoHzfFnnqlO3+Pu32f8unN1bx6Y1VtPpzCkWaVNbnFApkwFd92OP7O8duH2DZ5gW4lyj21Po9h33O+t0/cDRgL/su/8nctd/iUcpdo87K7Ys5F/qvxjF+9ih9TkOrqVNGc+/uBRIe3mLv7k2ULl2iwG3HfDWEzPQQ5s2dprXOzj9/JjM9hA8/zPucvzZU2bo53kISdIsXEhgYiJubG3Xr1sXV1RUjoxfLVMrIyNDxyIQ+pKSkUq50SSaOGlzYQ3luA4f3omf/z5gw+hs+at6N5OQUft66AqXSRGub0AfhzJ6+kLZNP6Xd+1058e8ZVm1YRJlyOUGci6szLq7OzJw8jw/qf8zooV/TqGk95izW/o+lLpRvW5v3J3Xj2KIdrGk7ifDrwXzy81jMHazzrV+0Rhk+WjIEvy1HWdNmEgH7ztPxh5E4ls0b6JRtUZOi1UqTEBaT5767J6/x+5AlrGz6Fb8NXISthzMdVgzX+fweaTbwQxr1asWmiauZ234i6SmpDPlpAkZKY61tqretQ4dJ3dm9aDuz24wj5Npdhvw0Act8HpsmfVqD6ulj+GzOQB7cCH7ZqRSI54e1qTmlG37zd7Cz5SRirwXT7JexmGp5Xo3MlCQGR3Lh280kh8flWyc5NIYLPpvZ1WoSu1p/TejxazRZ441N2aJ6nMnT9RjyGZ/26YjP2Ln0bDOA1OQUlvw6D5On/C1Wr1OVrWt30KvNAIZ8MhIjIyOWbpqPqZmpRr3fNvxJi8ofqY/F3yzX93Ty+Gr0YIYO6c3goeOoW78dScnJ/L3zF5RK5TPb1qxRhX59P8fv0jWtdb4c3g+V6hkv3NdBdrZujreQBN2vsczMTIYOHYqNjQ2Ojo58/fXXWv/g5s+fj5eXFxYWFri7uzN48GASExPV99+9e5d27dphZ2eHhYUFFStW5O+//yYoKIgmTZoAYGdnh0KhoGfPnk8dV8+ePRk2bBjBwcEoFAo8PT2B/NMsqlatytSpU9W3FQoFy5cv58MPP8TCwoKZM2cydepUqlatys8//4ynpyc2NjZ8+umnJCQkqNvt2bOH+vXrY2tri4ODA23btiUwMFDjXPfv36dr167Y29tjYWFBzZo1OX36tPr+P/74g+rVq2NqakrJkiWZNm0amZmZT50r5KTSTJ06leLFi6NUKilSpAjDh2sPOJ71XACsWrUKd3d3zM3N6dChA/Pnz8fW1vaZYyksDeq8y/D+PWjWqF5hD+W59RnwOUvnrWL/7iPcuBaA96CJOLs60bx1U61tDu49yuEDxwi6HcydwLt8N3MJyUnJVK+Zs1J488YtBvb05uDeowQH3efEv2f4buYS3m/RCENDQ73NpVbfVvhtOszlrf8QHfCAPRPWkpmSRuUujfKtX7NXC24fvcTplbuIvvWAf+ZtI+xKEDV6fKBRz9LFjg+mdefPL78nKyNvPubZH/fw4GIg8SHRhJwP4OT3OylarTQGRvqZa5Perdm75Dcu7z/HgxvB/OS9DBsXO6o0f1drm6Z923Bi00FObT1C2K0QNk1cTXpKOnW6NNGoV7SCB037tmXDGO1BWf3PP8Dc2pyDP/ylszk9Tfl+rQjYeJjALf/wMOABp8atJSsljdKf5v+8Rvvd5vyMXwn68xTZ6fkvXNzff5GQQ34k3Akn4XYYvrO3kpmUilP10vqcylN17deFHxf+xNG9x7h1PZDJw2fi5OJA45YNtLYZ/tlodm7Zze2bQQRcC2TqiG9xK+ZK+SrlNOqlpqQSHRmjPpISk/U9nbxjHdaXb30W8ddf+7h8+To9e31JkSIufPTR01elLSzM+emnpQwcNIa42Lh861SpUpGRIwbQt3/hrOA/F1np1kqC7tfY+vXrMTIy4syZMyxatIj58+ezevXqfOsaGBiwePFirl69yvr16zl06BBjxoxR3z9kyBDS0tL4559/uHz5MrNnz8bS0hJ3d3e2b98OgL+/P6GhoSxatOip41q0aBHTp0+nWLFihIaGcvbs2eea19SpU+nQoQOXL1+md+/eQM7K+e+//87OnTvZuXMnR48eZdasWeo2SUlJeHt7c+7cOQ4ePIiBgQEdOnQg+79Pw4mJiTRq1IiQkBD+/PNP/Pz8GDNmjPr+f//9l+7du/Pll19y7do1Vq5cybp165g5c+Yzx7t9+3YWLFjAypUrCQgI4Pfff8fLy0tr/Wc9F8ePH2fgwIF8+eWX+Pr68sEHHxRoHOL5uXsUxdnViWNHT6nLEhIS8T1/mervak+zeJyBgQHtOrTEzNyMC+f8tNaztrYiMSGRrCz9XERkYGyIq1cJ7hy7mluoUhF07CpFtQRSRauXJujYFY2yO/9c0qyvUNBu4UBOr9xFVEDIM8dhamNBxfZ1uX8+gOxM3c/Vwd0ZG2c7bhy/rC5LTUghyPcWntXL5NvG0NgQ90ol8X+sjUqlwv/4ZUo81sbY1ISei4azZfIaEiIf5tuXa+mitBrekZ+8l72SVUUDY0McKpcg9F/N5zX02FWcaugmQFYYKPD88D2MzJVEng/QSZ/Pq2hxNxxdHDjz7zl1WVJCElcuXserZsUC92NpZQFAfGy8Rnmrj5tz4OpfbD68niETBqA0e/bqsi6VKFEcNzcXDh46pi6Lj0/gzJmLvFe7xlPbLln8Lbv/PsjBQ//me7+ZmSk//7SUYV9OIDw8UqfjFq+W7F7yGnN3d2fBggUoFArKlSvH5cuXWbBgAf369ctT9/GLLj09PZkxYwYDBw7k+++/ByA4OJiOHTuqg8WSJXPzBe3t7QFwdnYu0GqrjY0NVlZWGBoa4ur67DzLJ3322Wf06tVLoyw7O5t169ZhZWUFwBdffMHBgwfVwWjHjh016q9ZswYnJyeuXbtGpUqV2LhxI5GRkZw9e1Y9n9Klc//BmjZtGuPGjaNHjx5Azvy/+eYbxowZw5QpU5463uDgYFxdXWnWrBnGxsYUL16cWrVqaa3/rOdiyZIltGrVitGjRwNQtmxZTpw4wc6dO586DvH8nJ0dAYiKjNYoj4qMxsnZ4alty5Uvw449P6M0NSEpKZkB3UcQ4H8737p29rYMG92fX3/arpuB58PczgoDI0OSozSDxaSohziUcsu3jaWTLUlR8U/Uj8fSyVZ9u86gtqgyszm3du9Tz9943CfU6PEBJuamhFwIYGuveS82kWew/m9sTwbFCZEP1fc9ydLOGkMjQxKeeGziIx/iUqqI+nbHyT24c/4ml/efe7ILAIxMjOi55Et+/3YDsQ+icSzu8uITKSClfc7zmvLE2FMiH2Kt5XktKNt3itHqz6kYKo3JTErlSN+FPAx48FJ9viiH//7eoiNjNcpjImNwcLIvUB8KhYJR04fje+YSgf531OV7duwn9H44kWFRlKlQimETB+JRyp0xfSbpbgLP4OriDJAnKA6PiMLV1Vlruy5dPqRatUq8V6eN1jrz5k7j5Mlz/PXXPt0MVt/e0tQQXZCV7tfYe++9h0KhUN+uU6cOAQEB+a6kHThwgPfff5+iRYtiZWXFF198QXR0NMnJOV+xDR8+nBkzZlCvXj2mTJnCpUuXXtk8nlSzZt4Llzw9PdUBN4CbmxsRERHq2wEBAXTt2pWSJUtibW2tTmkJDs7JufT19aVatWrqgPtJfn5+TJ8+HUtLS/XRr18/QkND1Y+RNp07dyYlJYWSJUvSr18/duzY8dS0lGc9F/7+/nmC9qcF8Y+kpaURHx+vcaSlpT2z3f+T9p1ac+3uKfVhZPzi6wq3b92hVePOfNS8GxvWbmHeshmUKZf34jZLKwvWblrGLf/bLJj96vNIX4ZrJU9q9mrBzlErn1n39MpdrG09iV+7zSI7K5u2CwbqZAw1P6rPvKvr1YehsX5SVrya1aBsnYpsm75Oa50Px3Ql/FYIZ38/prXOmyQ+MJSdzSfyd9sp+P90kHoLB2BTpsizG+pAy48/4J9be9XHy/wtPjLWx5tS75RgwsCpGuU7NvzFqSNnCLxxmz2/7WfK8Jk0bd2Ioh76m2vXrh2Ii7mpPoxfYH7FihVhwbzpdO8xTOt7edu2H9CkcT28Rz19ceh1olJl6eR4G8lK91sgKCiItm3bMmjQIGbOnIm9vT3Hjh2jT58+pKenY25uTt++fWnRogW7du1i3759+Pj4MG/ePIYNG6azcRgYGOT5Oja/CyUtLCzylBkba14gpVAo1KkhAO3atcPDw4NVq1ZRpEgRsrOzqVSpEunp6QCYmZk9dWyJiYlMmzaNjz/+OM99pqam+bTI5e7ujr+/PwcOHGD//v0MHjyY7777jqNHj+YZd0Geixfl4+PDtGmaF+pN+mo4k8d8+cJ9vm327znCxfO5KQYmJjkXaDk6ORARHqUud3Ry4NoV/6f2lZGRyd079wC44nedKtUq0at/NyaM+kZdx8LSnJ+2LCcpMYn+3UcU6BqBF5Ucm0B2ZhbmjjYa5RaONiRqSZVIjIzDwtH6ifrWJEbGAeBeqxwWjtYMOZmbUmZgZEjTSd2o2bsly+uPVJenxCaSEptIzJ0wom89YOjpxRStXpqQC7deal6XD5wjyDc35cHIJOdvysrJhvj/xvno9v1rQfnPMzaerMwsrJ54bKwf66Ns3Uo4erjw3aW1GnX6Lh9F4NnrLPp0OmXrVqJIueJUbVUbQL3oMevCavYu28HfC7a+zFTzlRaT87yaPTF2MycbUrU8rwWVnZFFQlA4ADGXg3CsWpLyfVtyauyal+q3IP7Ze4wrF3IvCjT573l1cLIjOiL3myd7J3tuXn12ysuYmSOo36wO/TsMIyL06SkWj87rXqIYIXf1s7L/11/7OHPmovr2owuzXVycCAvLXTBycXbE1+9qnvYA1at74eLixNnTe9RlRkZGNGjwHkMG98TcsgRNGtenVCkPoiOva7TdunkVx46d5v0POutyWkLPJOh+jT1+ESDAqVOnKFOmTJ4Ltc6fP092djbz5s3DwCDny4stW7bk6c/d3Z2BAwcycOBAxo8fz6pVqxg2bJg6MHnZXFQnJydCQ0PVt+Pj47lz585TWhRMdHQ0/v7+rFq1igYNci64OXZMcyWqcuXKrF69mpiYmHxXu6tXr46/v79GysnzMDMzo127drRr144hQ4bwzjvvcPnyZapXr65RryDPRbly5fLkwRckL378+PF4e3trlBkkPDsH9/9JUmJynguoIsIiqdewtjrItrSyoGoNLzaszfs38jQGBgYauyxYWlnw89YVpKWl06fbcNLS0l9+Ak+RnZFF2OU7eNarSMC+8zmFCgUe9Spyfv3+fNuEXLiFR72KnF2Tmzri2aCSOlC+8ttxzRxx4NOfx3Dlt+Nc2vqP1rEoDHKCUUMT7buJFFRaUippSakaZQ8jYilX14uQa3cBMLU0w7NqaY5tyH+eWRlZ3Ltym3J1vbi0Lyd1RKFQULZuJf75KWfu+5b/zolNhzTaTdw3l+3frOfKgZzHc/XA+Rib5j7HHlVK8fl3g1jYZQqRd8Nfeq75yc7IIvrSHdzqV+Te3tzn1bV+RfzX5j/fF2agwMDk1fyzn5yUQnKS5vtTVHg079avwc2rOa8/C0tzKlUrz/b1vz+1rzEzR9C4VUMGdBzOg3uhT60LUK5SGfX59CUxMYnExCSNstDQcJo2qY/ff0G2lZUltWpVY8UPP+Xbx6FDx6hSTfOC7tWr5uPvH8h3c5eRnZ3NnO+WsmbtRo06fhcPMWr0VHbu0vHrQ1fe0osgdUGC7tdYcHAw3t7eDBgwgAsXLrBkyRLmzcubR1m6dGkyMjJYsmQJ7dq14/jx46xYsUKjzogRI2jVqhVly5YlNjaWw4cPU758eQA8PDxQKBTs3LmT1q1bY2ZmhqXl8+833LRpU9atW0e7du2wtbVl8uTJOtnJwc7ODgcHB3744Qfc3NwIDg5m3LhxGnW6du3Kt99+S/v27fHx8cHNzY2LFy9SpEgR6tSpw+TJk2nbti3FixenU6dOGBgY4Ofnx5UrV5gxY8ZTz79u3TqysrKoXbs25ubmbNiwATMzMzw8PPLULchzMWzYMBo2bMj8+fNp164dhw4dYvfu3RqpRPlRKpV5tp7KSI/SUlu3kpNTCL6fu2IU8iCcGzcDsbG2wu0p+Yqvgx9XbmDYqP7cuR3MvbshjJowhIiwSPb9nRuAbdyxir27DrJ+9SYAxnw9nCMHjvPgfigWlhZ81KkV79WryRedc1IqLK0s+HnbSszMTPly4HisrCyw+u8Cr+ioWI1vaXTpzOrdtJ03gLBLd3jgF8i7vVtibK7k0tajALSdP4CEsFiOzsn5QHFu7V66bZ5IrX6tuHXIlwrt6uDmVZLd43JWOlPiEkmJ09xZJysji6TIOGJu5wQ3RaqWwq1KSe6d9Sf1YRJ2Hi40HNWJ2KBwQi7o56K8w2v+puWwDkQGhRJ9L4I2oz7hYXgsfvtyP5wO+2USfnvPqoPqQ6t38cW8wQRfDiTIN5AmfVqjNFdyausRICcnPL+LJ2MfRBF9P2flNCpYM7C2tM9JeQu7FUJKvP52w7i+ajf1Fgwg6tIdoi8GUr5fS4zMlNzanPO81ls0gOTQWC7OynleDYwN1Vv/GRgbYe5qj13F4mQmpalXtquN60LIYT+SQqIxtjSlRPu6uNYpz4HP5uhtHs/y66ot9BnRg3t37hMSHMqgsX2JDI/myJ7cCwi/37KQI7v/Ycva34CclJKWHZoxqtcEkhOT1fnfiQmJpKWmU9SjCC0//oDjB0/yMCaeMhVK4T1tGOdP+nLremC+49CXxUtWM2H8cAJu3SYo6B7Tpn7Fgwfh/PFH7ofefXs28/sfu/l++ToSE5O4elXzG7fkpGSio2PV5eHhkflePBl8L4SgoHv6ndCLkpxurSTofo11796dlJQUatWqhaGhIV9++SX9+/fPU69KlSrMnz+f2bNnM378eBo2bIiPjw/du3dX18nKymLIkCHcv38fa2trWrZsyYIFCwAoWrSo+kLDXr160b17d9atW/fc4x0/fjx37tyhbdu22NjY8M033+hkpdvAwIBNmzYxfPhwKlWqRLly5Vi8eDGNGzdW1zExMWHfvn2MGjWK1q1bk5mZSYUKFVi2bBkALVq0YOfOnUyfPp3Zs2djbGzMO++8Q9++fZ95fltbW2bNmoW3tzdZWVl4eXnx119/4eCQ90K8gjwX9erVY8WKFUybNo1JkybRokULRo4cydKlS1/6sdKXKzcC6D1srPr2nCU/APBRq2bMnPR6b2G1YvFazM3N8Jk/GWsbK86dvkj3LoM0VqaLexbDzt5OfdvR0Z7538/A2cWJhPhEbly7yRedB3LsSM4uKJUql1dvH/jv+b81zlevakvu39PPV9rXd57G3MGaBt4dsXCyIeLaXbZ0n0PyfxdLWhdxRJWdm+IVcj6AP4d/T8PRnWn0VRdig8LY3n8BUTfvF/icGSlplG1ZkwYjP8bYTEliZBy3j1zi+JI/yErXTzrNgRV/ojRT0tWnP2bW5gSe9ef7Hj5kpuWmqzl6uKiDYoALO09iaW9Nm5FdsHKyJeR6EMt6+OS5uPJ1FPTnaZT21lQd3REzJxtirt7l4OdzSP3vebV44nk1c7Gj3b5v1bcrDmpDxUFtCDtxnX2dcy4+N3W0pv6igZg525KekEzc9Xsc+GwOof9q7mbzKq1fthFTczMmfPcVVtaW+J65zPDPRpP+2N9iMc8i2Nrnptp07tkBgB9+W6LR19Qvv2Xnlt1kZmRSq0FNuvbtjJm5KeEPIji06yg/Llz/aib1mO/mfo+FhTkrvp+Dra01x4+fpU27zzXytUuW9MDRsWAXjoq3j0L1Ruy0LsTbrV+/fty4cYN//81/yyhtMqLy303jbVK6XPvCHoJeDbQs/F8J1LcQxdv/I1i1Ml4+1eZ1tzj7bmEPQa98o9/+99PMdP2nJKae/10n/ZjWaK+Tfl4nstItRCGYO3cuH3zwARYWFuzevZv169ertxQUQggh3ljZb+fOI7ogWwaKPIKDgzW21nvyeLRN39vil19+0TrXihUL/qMNz+PMmTN88MEHeHl5sWLFChYvXlygVBchhBBCvJlkpVvkUaRIEXx9fZ96/9vkww8/pHbt2vne9+SWgLqS3+4yQgghxBtPdi/RSoJukYeRkdELb633JrKystL4YR4hhBBCvCDZvUQrCbqFEEIIIYRuyEq3VpLTLYQQQgghhJ7JSrcQQgghhNANSS/RSoJuIYQQQgihGxJ0ayXpJUIIIYQQQuiZrHQLIYQQQgidUKnkx3G0kaBbCCGEEELohqSXaCXpJUIIIYQQQuiZrHQLIYQQQgjdkH26tZKgWwghhBBC6Iakl2gl6SVCCCGEEELomQTdQgghhBBCN1TZujlewLJly/D09MTU1JTatWtz5syZp9ZfuHAh5cqVw8zMDHd3d0aOHElqauoLnbsgJL1ECCGEEELoRiGll2zevBlvb29WrFhB7dq1WbhwIS1atMDf3x9nZ+c89Tdu3Mi4ceNYs2YNdevW5ebNm/Ts2ROFQsH8+fP1MkZZ6RZCCCGEELpRSCvd8+fPp1+/fvTq1YsKFSqwYsUKzM3NWbNmTb71T5w4Qb169fjss8/w9PSkefPmdO3a9Zmr4y9Dgm4hhBBCCPHGSk9P5/z58zRr1kxdZmBgQLNmzTh58mS+berWrcv58+fVQfbt27f5+++/ad26td7GKeklQgghhBBCN3SUXpKWlkZaWppGmVKpRKlU5qkbFRVFVlYWLi4uGuUuLi7cuHEj3/4/++wzoqKiqF+/PiqViszMTAYOHMiECRN0Mv78yEq3EEIIIYTQjexsnRw+Pj7Y2NhoHD4+Pjob5pEjR/j222/5/vvvuXDhAr/99hu7du3im2++0dk5niQr3UK8wUqXa1/YQ9C7W/6/F/YQ9OpB8/6FPQS9GxKVd2XqbRNjZFLYQ9C72KSkwh6CXn3r1qSwhyAeM378eLy9vTXK8lvlBnB0dMTQ0JDw8HCN8vDwcFxdXfNt8/XXX/PFF1/Qt29fALy8vEhKSqJ///5MnDgRAwPdr0vLSrcQQgghhNANHV1IqVQqsba21ji0Bd0mJibUqFGDgwcPqsuys7M5ePAgderUybdNcnJynsDa0NAwZwoqlY4eDE2y0i2EEEIIIXSjkLYM9Pb2pkePHtSsWZNatWqxcOFCkpKS6NWrFwDdu3enaNGi6hSVdu3aMX/+fKpVq0bt2rW5desWX3/9Ne3atVMH37omQbcQQgghhHijffLJJ0RGRjJ58mTCwsKoWrUqe/bsUV9cGRwcrLGyPWnSJBQKBZMmTSIkJAQnJyfatWvHzJkz9TZGhUpfa+hCCL3zcKhc2EPQO8npfvP9P+R0Wyve/pzu00l3C3sIejXAokJhD0HvxtzdoPdzpPwxRyf9mH00Rif9vE5kpVsIIYQQQuhGIaWXvAkk6BZCCCGEELrxAr8m+f9Cdi8RQgghhBBCz2SlWwghhBBC6Iakl2glQbcQQgghhNANCbq1kvQSIYQQQggh9ExWuoUQQgghhG7ITtRaSdAthBBCCCF0Q9JLtJL0EiGEEEIIIfRMVrqFEEIIIYRuyEq3VhJ0CyGEEEII3ZAfx9FK0kuEEEIIIYTQM1npFkIIIYQQuiHpJVpJ0C2EEEIIIXRDtgzUSoJuIYQQQgihG7LSrZXkdIu3lkqlon///tjb26NQKLC1tWXEiBGFPSwAPD09WbhwYWEPQwghhBCviKx0i7fWnj17WLduHUeOHKFkyZJ06tSpsIf0WvIeN5iuX3TE2saKc2d8mTh6BkG3g7XW/7xXFz7v1YVixYsAEHAjkEXfreTIwWMA2Nha4z1uMA2a1KVoUVeio2PZ9/ch5n27jISExFcyp+d1zvcyazdu49qNW0RGx7DI52veb1i3sIdVIJZdPsSmexcMHexJvxlIzJylpF/1z7euWdP62PTuirF7UTAyJDM4hPgN20jadUBdR2Fmiu3wvpg3roeBjTWZD8JI+HUHidt3vqop5aub9+e0+KwFFtYWXD93ne8nLONB0AOt9SvWqkjHgR0p5VUaBxcHZvT9hlP7TmnUGTFvJM06N9MoO3/kPFO6T9bLHJ6lk3dXmnRthoW1BTfP3WDNxJWEBYVqrf9OrQq0HdCeEl6lsHOxZ34/H87tO6NR592W7/F+txaU8CqFlZ0V41uN5O61ID3PRLsR4wbyyRcdsLa24vwZPyZ/9S1Bt+9prf9Zr05069mZosXdAAi4cZulc3/g6MET6jqfdv+Ydh1bUrHyO1hZWVK1ZEMS4vX/XlOtezNq9W+DhZMNEdeDOTDlJ8L8bmutX651LeqP6oRNMUdig8I5OmsTtw/7qe9vNbc/Xp0barS5feQS23rMUd8ecGwBNu5OGnWOztrM6eV/6WhWOiAr3VpJ0C3eWoGBgbi5uVG3bk7wZGQkL/cnDRzei579P2PUkEncuxvCqAlD+XnrCprVbU9aWnq+bUIfhDN7+kLu3A5GoVDQ6dMPWbVhEa0bdyHAPxAXV2dcXJ2ZOXkeAf6BFHMvwsy5k3BxdWZQr1GveIYFk5KSSrnSJenQpjkjJswo7OEUmHnzxth7DyT620WkX76OVbeOOC+bxYMOvciOjctTP/thAg9/3EhG0D3IyMCswXs4TPmKrJg4Uk+eA8Bu1CBM361K1KRZZD4Iw6xOTezHDScrMpqUf06+4hnm6DioE+16tWOB9wLC74Xx+egvmL7hGwa9P5CMtIx825iam3L72h32b97PxFWTtPZ97vA5Fo5eqL6dkZ5/f/rWbmAHWvRsw4pRi4m4F07nUZ8x7ufJfNVsuNY5Ks1NuXs9iCNbDuL9w7j865gp8T97nVO7jtN/9hB9TuGZ+g/rQY9+Xflq6GTu3X3AyPGDWLtlGS3qdSJdy/tN2IMIvvtmcc5CgEJBx0/aseLnBXzYpCsB/jkBrqmZKf8cPME/B08wZvLwVzKXd9rWpsmkbuybuJZQ31vU7N2SLj+PZXWTr0iOjs9Tv0iNMrRbMoR/5mzh1sGLVPioLh1+GMn6NpOIunlfXe/2ET92j/5BfTszn+f+33nbuPTrYfXt9MRUHc/uJcmWgVpJeol4K/Xs2ZNhw4YRHJwTGHp6emrcP336dCpVqpSnXdWqVfn666+f2f/Zs2f54IMPcHR0xMbGhkaNGnHhwgX1/SqViqlTp1K8eHGUSiVFihRh+HDNfwySk5Pp3bs3VlZWFC9enB9++OHJ0+hdnwGfs3TeKvbvPsKNawF4D5qIs6sTzVs31drm4N6jHD5wjKDbwdwJvMt3M5eQnJRM9ZqVAbh54xYDe3pzcO9RgoPuc+LfM3w3cwnvt2iEoaHhq5rac2lQ512G9+9Bs0b1Cnsoz8W6W0cSdvxN0p97ybgTTMzMhahS07D8qGW+9dPO+5Fy+DiZd4LJvB9Kwq87SA+4jbJq7t+CsnIFkv7aR9p5P7JCw0n8bRfpAYEoK73zqqaVx0d9PmLzks2c3n+KoBtBzB85D3tne+o0r6O1zfkj59kw92dO7n36B4WM9AziImPVR9LDwvk2pmWftvy+dCvn95/h3o27LPdehK2zPTWb19baxu/IBbbO3ci5vae11jm24yg7Fm/hyjE/rXVelV4DP2PZ/NUc2H0U/2sBjB48GRdXJ5q3bqy1zaG9/3DkwHGCbt8jKDCYed8uIzkpmao1vdR11q3cyMrF6/A9f/kVzCJHzb6tuLTpMFe2/kN0wAP2TlhLRkoaXl0a5V+/VwvuHL3EmZW7iLn1gGPzthF+JYjqPT7QqJeVlkFS5EP1kRafnKev9MQUjToZKWl6maPQPQm6xVtp0aJFTJ8+nWLFihEaGsrZs2c17u/duzfXr1/XKL948SKXLl2iV69ez+w/ISGBHj16cOzYMU6dOkWZMmVo3bo1CQkJAGzfvp0FCxawcuVKAgIC+P333/Hy8tLoY968edSsWZOLFy8yePBgBg0ahL9//mkB+uDuURRnVyeOHc39yj0hIRHf85ep/m6VAvVhYGBAuw4tMTM348I57f+oW1tbkZiQSFZW1kuPW/zHyAiT8mVJPZ37YQ+VitTTF1BWrlCgLkxrVcPYsxhpFy6py9IuXcOsUV0MnRwAUNasgnHxYqScOqfT4ReUS3FX7J3t8T3mqy5LTkjG39efd2q8/AcBr/e82HDhF1YcXsngmYOxsrV66T6fl7O7C3bO9hqBcUpCMoG+AZSpXu6Vj0cf3D2K4uzixPGjuR8QEhMS8b1whWr/fWB/FgMDA9p2aI6ZuRkXz156dgM9MTA2xNWrBEHHruYWqlTcPXaVItVL59umSPXSBB27olF2559Leeq7v1eeIeeX0ffQd3wwoyemtpZ5+qo9qB3DfJfT4+8Z1BrQBoXh6xXKqbJVOjneRvJ9u3gr2djYYGVlhaGhIa6urnnuL1asGC1atGDt2rW8++67AKxdu5ZGjRpRsmTJZ/bftKnmSvAPP/yAra0tR48epW3btgQHB+Pq6kqzZs0wNjamePHi1KpVS6NN69atGTx4MABjx45lwYIFHD58mHLlXs0/ss7OjgBERUZrlEdFRuPk7PDUtuXKl2HHnp9RmpqQlJTMgO4j1F/1PsnO3pZho/vz60/bdTNwAYChrQ0KI0OyYmI1yrNiYjH2dNfaTmFpQbE9m1AYG0N2NtGzFmsE7jGzl+IwaSTF9m5GlZEJqmyiv1lA2oVXt4r4ODsnOwDiojTnGRcVh+1/972oC0fOc2LPCcKDw3DzcKP72B5M+2kao9uPJvsV5qXaONsC8DDqoUb5w6g4bJxsX9k49OnRe0pUZIxGeVRENE4ujk9tW7Z8abbtXofS1ITkpBQG9xjFrZt39DbWZzG3s8LAyJDkJ56vpKiH2Jdyy7eNhZMtyVHxT9SPx+Kx5/fO0UsE7DlH3L0IbD1caDimC53Xf8WGDlPVQej5dfsIvxJEalwiRWuUoeHYT7BwtuXwN7/odpIvQ3K6tXq9Ph4J8Qr169ePX3/9ldTUVNLT09m4cSO9e/cuUNvw8HD69etHmTJlsLGxwdramsTERIKDcy5A7Ny5MykpKZQsWZJ+/fqxY8cOMjMzNfqoXDl3dUehUODq6kpERITWc6alpREfH69xqJ4jd659p9Zcu3tKfRgZv/hn7tu37tCqcWc+at6NDWu3MG/ZDMqUy/thxdLKgrWblnHL/zYLZi9/4fMJ3VElJRPadQChXwwhdtka7L0HoqyR+82G9aftUXqVJ2LEJEI/H0TsgpXYjxuGaa3qr2R8jds3Zuv1berDyEh/KUn//PUPZ/af5q7/XU7tO8W0XtMoW7UcXnW8nt34JdRr35A11zaqD8O38HqTDzu14lLQMfXxMu83d24F0a5JVzq26MEva7cyZ+l0SpctocPRvh5u/HWKWwcuEOV/n1v7zrO911zcqpbCvU7uN1fnVu/m3qnrRN64h+8vhzg84xeq9/gAQ5O37zX0NpJnSfzfateuHUqlkh07dmBiYkJGRkaBdzjp0aMH0dHRLFq0CA8PD5RKJXXq1CE9PediIHd3d/z9/Tlw4AD79+9n8ODBfPfddxw9ehRjY2MA9X8fUSgUT11d8/HxYdq0aRpl1qbO2Jq7FGjM+/cc4eJjOY8mJiYAODo5EBEepS53dHLg2pWnp7lkZGRy907OjgNX/K5TpVolevXvxoRR36jrWFia89OW5SQlJtG/+4g8HzrEy8mKe4gqMwtDe83VXkN7O7KiY7W0AlQqMu/l7PqRcTMQ4xLFsendlYjzfiiUJtgO7U3kqKmkHMtJA8gIuINx2VJYd+9M6pkL2vvVkdP7T+N/Mff1Z6zM+TuxdbQjNiJ3XraOtty5pn2niBcRHhzGw+iHuHm64XdcfznQ5/ef4dbFm+rbRiY5c7RxtCHusTnaONpy91rhrei+jIN7juJ3PjedwuS/OTo62RP5+PuNswPXLz/f+03lahXpOeAzJo2aqYeRP1tybALZmVmYO9polFs42pAU+TDfNkmRcZg7Wj9R35qkyDit53l4L5Lk6HjsPFwIPn413zoPLgZiaGyETTEnYm5r3+nmlZILKbWSlW7xf8vIyIgePXqwdu1a1q5dy6effoqZmVmB2h4/fpzhw4fTunVrKlasiFKpJCoqSqOOmZkZ7dq1Y/HixRw5coSTJ09y+fKLf0U/fvx4Hj58qHHYmDk9u+F/khKTuXvnnvoI8A8kIiySeg1zL9SytLKgag0vLpx9voDDwMAAE6WJRj8btq0kPT2DPt2Ga90JRbyEzEzSr9/UXIFWKDCtVY20S9cK3I3CwCAn1QTAyAiFsTGqJz/8ZWeDQqGDQT9bSlIKoXdD1UfwzWBiImKoWi93Nd7M0oxyVctx4/wNnZ7bwdUBKzsrYiKe8qFFB1KTUgm/G6Y+QgLuERsRQ8V6ud9+mVmaUapqGQIuvLrrPHQp7/vNbSLCI6nbMDfNztLSgqrVK3Hx3PPlZxsYGKiD+MKQnZFF2OU7eNSrmFuoUOBRryIPLtzKt82DC7c06wOeDSpprQ9g6WqPmZ0lSRFxWuu4VPQgOyubpKj8g/1Cka3SzfEWkpVu8X+tb9++lC9fHsgJpAuqTJky/Pzzz9SsWZP4+Hi++uorjYB93bp1ZGVlUbt2bczNzdmwYQNmZmZ4eHi88FiVSiVKpVKjTKF4uc/NP67cwLBR/blzO/i/LQOHEBEWyb6/D6nrbNyxir27DrJ+9SYAxnw9nCMHjvPgfigWlhZ81KkV79WryRedBwI5AffP21ZiZmbKlwPHY2VlgZWVBQDRUbGvNFe2oJKTUwi+n7vnc8iDcG7cDMTG2go3V+dCHNnTxf+yHcdpY0i/5k/aVX+sP/sYhZkpiX/uAcBh+liyIqKIW/ojANa9upJ+zZ/M+6FgYoxZvVpYtG5GjM8iICf1JPWcH3Yj+hOTlk5WaDjKGpWxaPMBsfNXFNo8//jxDz4Z/ikhQQ8ID87ZMjAmIoaT+3J3Jpn560xO7jnJzvU5+4mbmpvi5llEfb+LuyslKpQkMS6ByAeRmJqb0nXEZ5zYfZzYyFjcPNzoNaE3oUGhXDh6/pXPcc+PO+kwrDNhd0KJ/G/LwLiIGM7ty73wcMLGaZzbe4p963cDOVsGunrmXrPi5O6CRwVPEuMSiX6QswhgYWOJY1FH7FzsAXArWRSAuMg4Hj5llVUf1q7YyBDvvgTdDube3Qd4jx9EeFgk+/4+oq7z828r2LfrMD//uBmA0ZOGcvTgCfX7zYcdW1K7Xg16ds7d/tDR2QEnZwc8SuRcy1CuQhmSEpN4cD+Mh3F5t+/ThXOrd9N63gDCLt0h1C+Qmr1bYmyu5PLWowC0nj+AxLBY/pmzJaf+2r103TyRd/u1IvCQL+Xb1cHVqyR7x60BwNhcSb0RH+O/+wxJkQ+x9XCh8fhPiQ0K584/OR9KilQvjVvVUgSfvE56YgpFa5ShydfduLbjeL67nIjXjwTd4v9amTJlqFu3LjExMdSurX1rrif9+OOP9O/fn+rVq+Pu7s63337L6NGj1ffb2toya9YsvL29ycrKwsvLi7/++gsHh6dfoPiqrVi8FnNzM3zmT875cZzTF+neZZDGynRxz2LYPZbC4Ohoz/zvZ+Ds4kRCfCI3rt3ki84DOXYkZxeUSpXLq7cP/Pf83xrnq1e1Jffvaf9Bk8Jy5UYAvYeNVd+esyRn+8aPWjVj5qTXc29xgOR9R4i1s8F2UE8MHexI9w8kYuh4smPiADBydda4qMnAzBT78cMxdHZClZZGRtA9or6eRfK+I+o6keNnYDesD44zx2NgbUVWaDhxy9aQuK3wfnxj+/JtmJqZMsxnGBbWFlw7d43JX3ytsX+1a3E3rO1zv74vU7kMPltmqW/3m9IPgANbD7Bw1AKys7IpUd6T9zu9j4W1BTHhMVz89yIb5v5MZvqrT4X6a8UOlOam9PUZhLm1BTfPXWdW92805uhS3BUru9w5lqxciq835+4r/8XknGtSjm49xMrRSwCo8cG7DJyXu13p8GU571PbF2xi+8LNep3Tk35Ysh5zCzNmzpv03/uNL70+GaqxR3dxz2LYOdiqbzs42jN32XScXBxJjE/kxrUAenYeorELymc9O/HlmAHq25t35nzIHDN0Cts36ed1e2PnacwcrKnv3THnx3Gu3WVr9znqiyWtizhq7MDx4HwAO4d/T4PRnWnwVRdig8LY0X+Beo9uVVY2Tu+4U7FjfUytLUgMjyXo38v8O28bWf+9HrPSMynfrg71RnyModKYh/ciOffjHs6t3q2XOb6w13Bh5XWhUKlUb+cavhAFoFKpKFOmDIMHD8bb27uwh/PcPBwKttXWm+yW/++FPQS9etC8f2EPQe+GRCmfXekNZ60weXalN9zppLuFPQS9GmBRsK0232Rj7m7Q+zmSFw3UST/mXxbet2v6Iivd4v9WZGQkmzZtIiwsrEB7cwshhBDiGWQtVysJusX/LWdnZxwdHfnhhx+ws9PcAcLSMu8PEjyye/duGjRooO/hCSGEEOItIkG3+L/1tMwqX19frfcVLVpUD6MRQggh3gKS062VBN1C5KN06fx/ylcIIYQQT/GWbvenC7JPtxBCCCGEEHomK91CCCGEEEI35BcptZKgWwghhBBC6Iakl2gl6SVCCCGEEELomax0CyGEEEIInVDJ7iVaSdAthBBCCCF0Q9JLtJL0EiGEEEIIIfRMVrqFEEIIIYRuyO4lWknQLYQQQgghdEPSS7SSoFsIIYQQQuiGXEipleR0CyGEEEKIN96yZcvw9PTE1NSU2rVrc+bMmafWj4uLY8iQIbi5uaFUKilbtix///233sYnK91CCCGEEEI3Cim9ZPPmzXh7e7NixQpq167NwoULadGiBf7+/jg7O+epn56ezgcffICzszPbtm2jaNGi3L17F1tbW72NUYJuIYQQQgihG4V0IeX8+fPp168fvXr1AmDFihXs2rWLNWvWMG7cuDz116xZQ0xMDCdOnMDY2BgAT09PvY5R0kuEEEIIIcRrJS0tjfj4eI0jLS0t37rp6emcP3+eZs2aqcsMDAxo1qwZJ0+ezLfNn3/+SZ06dRgyZAguLi5UqlSJb7/9lqysLL3MByToFkIIIYQQupKt0snh4+ODjY2NxuHj45PvKaOiosjKysLFxUWj3MXFhbCwsHzb3L59m23btpGVlcXff//N119/zbx585gxY4bOH5JHJL1ECCGEEELohK5+Bn78+PF4e3trlCmVSp30DZCdnY2zszM//PADhoaG1KhRg5CQEL777jumTJmis/M8ToJuIYQQQgjxWlEqlQUOsh0dHTE0NCQ8PFyjPDw8HFdX13zbuLm5YWxsjKGhobqsfPnyhIWFkZ6ejomJyYsPXgsJuoV4gw20rFzYQ9C7B837F/YQ9KrIvh8Kewh6l1J1YGEPQe+WOKQX9hD0LtUk/+DlbfFDRmZhD+HtUAi7l5iYmFCjRg0OHjxI+/btc4aRnc3BgwcZOnRovm3q1avHxo0byc7OxsAgJ9v65s2buLm56SXgBsnpFkIIIYQQuqKjnO7n5e3tzapVq1i/fj3Xr19n0KBBJCUlqXcz6d69O+PHj1fXHzRoEDExMXz55ZfcvHmTXbt28e233zJkyBCdPRRPkpVuIYQQQgjxRvvkk0+IjIxk8uTJhIWFUbVqVfbs2aO+uDI4OFi9og3g7u7O3r17GTlyJJUrV6Zo0aJ8+eWXjB07Vm9jlKBbCCGEEELoRiHt0w0wdOhQrekkR44cyVNWp04dTp06pedR5ZKgWwghhBBC6EYh/SLlm0CCbiGEEEIIoRMqCbq1kgsphRBCCCGE0DNZ6RZCCCGEELohK91aSdAthBBCCCF0Q0e/SPk2kvQSIYQQQggh9ExWuoUQQgghhG5IeolWEnQLIYQQQgjdkKBbK0kvEUIIIYQQQs9kpVsIIYQQQuiESiUr3dpI0C2EEEIIIXRD0ku0kvQSIYQQQggh9ExWuoUQQgghhG7ISrdWEnQLIYQQQgidUEnQrZUE3UIIIYQQQjck6NZKcrrFa8/T05OFCxfq9RyNGzdmxIgRBap75MgRFAoFcXFxeh2TEEIIId4estIt/q8cOXKEJk2aEBsbi62trbr8t99+w9jYuEB91K1bl9DQUGxsbPQ0Sv2p3r0Ztfu3wdLJhojrweyb8hOhfre11n+ndS0ajuqETTFHYoLCOTJrE4GH/fKt22JmL6p//j4Hpv3M2TV71eWdVnvjXKE4Fg7WpMYnE3TsCod9NpEYEafr6eXLssuH2HTvgqGDPek3A4mZs5T0q/751jVrWh+b3l0xdi8KRoZkBocQv2EbSbsOqOsozEyxHd4X88b1MLCxJvNBGAm/7iBx+85XMp8Xdc73Mms3buPajVtERsewyOdr3m9Yt7CHVWA9R3endddWWNpYcuXsVRZNWEzInQda63vV9uKTgZ0p41UGR1cHJveZyvG9JzTq2Dna0m9CX2o0rIGljQWXTl9m6dfLntqvvlh98iE2PTpj6JjzOo2etYz0K/m/Ts3fr49tn64YuRdBYWxIxt0HxP+8jcSdua/TEn77820bM/8HHq7fqpc5PI1dt7bY9+2IkZMdaTfuEDZ9OamXbuZb16p5XRwGfoKJhxsKIyPS74YQ/eMO4v84pK7jOKwb1m0aYuzmhCojg9Qrt4hY8BOpfvk/ZvrScmRn6nRtiqm1BUHn/Nk66UeigsKe2qbeF81pOqAdVk42PLgezG9T1hLsFwiAuY0FLUd2plyDytgWdSQpOp7L+86ye/4WUhNS1H24Vy5J27Gf4e5VApVKRbBfIH/5/MKD68F6nW+BZBf2AF5fstItCkV6enphD0GDvb09VlZWBaprYmKCq6srCoVCL2PR12NTvm1t3p/UjWOLdrCm7STCrwfzyc9jMXewzrd+0Rpl+GjJEPy2HGVNm0kE7DtPxx9G4li2WJ66ZVvUpGi10iSExeS57+7Ja/w+ZAkrm37FbwMXYevhTIcVw3U+v/yYN2+MvfdA4n74mdDPBpIecBvnZbMwsLPNt372wwQe/riR0J7DCf2kP4l/7sVhyleY1qmprmM3ahBmdd8latIsHnTsTcLG37AfOwyzhnVeyZxeVEpKKuVKl2TiqMGFPZTn9ungLnTo1Z6F4xcztN1wUpNTmbXBB2Ol9g/KZuamBF67zeJJS7XWmf7jVNyKuzG5zxQGtBhMxP0Ivvt1NqZmpvqYhlYWLRrhMHoAcSs38ODTQaT738Z1uQ8G9rb51s9+GE/c6o2Edv+SkE4DSPxjL47TRmNWN/d1Gty0i8YROXkuquxskg78+4pmlcuqdUOcJ/QjaulG7rQfRur12xRf8w2G9vkvXGTFJRC9fBNBXUZxu91g4rYfoMiskVjUr66ukx4UQtj05dxuO5igT78iIySC4mtnYGif//uZPjQd+CENe7Vk68TVLGw/ibSUNAb+NB6jp7wuq7atQ/tJX7B30TbmtRnPg2t3GfDTeCz/ex+2drHD2sWOP7/dwJzmX7Fx9HLeaVSVT2cPVPdhYq5kwPrxxD6IYkH7SSzpNJW0xFQG/DQBAyNDvc/7WVTZKp0cbyMJuv9PbNu2DS8vL8zMzHBwcKBZs2YkJSXlm1bRvn17evbsqb7t6enJN998Q9euXbGwsKBo0aIsW7ZMo01cXBx9+/bFyckJa2trmjZtip9f7oro1KlTqVq1KqtXr6ZEiRKYmub8o9a4cWOGDh3K0KFDsbGxwdHRka+//vqpm+vPnz8fLy8vLCwscHd3Z/DgwSQmJqrvv3v3Lu3atcPOzg4LCwsqVqzI33//TVBQEE2aNAHAzs4OhUKhnueTj0NaWhpjx47F3d0dpVJJ6dKl+fHHH4G86SWNGzdGoVDkOYKCgl7qsdG1Wn1b4bfpMJe3/kN0wAP2TFhLZkoalbs0yrd+zV4tuH30EqdX7iL61gP+mbeNsCtB1OjxgUY9Sxc7PpjWnT+//J6sjKw8/Zz9cQ8PLgYSHxJNyPkATn6/k6LVSr+Sfxysu3UkYcffJP25l4w7wcTMXIgqNQ3Lj1rmWz/tvB8ph4+TeSeYzPuhJPy6g/SA2yirVlLXUVauQNJf+0g770dWaDiJv+0iPSAQZaV39D6fl9GgzrsM79+DZo3qFfZQntvHfTqwYfFGTuw7ye3rd5g9Yg6OLg7Ub6F9LmcOn2Xtd+s4vud4vvcXK1GUCjUqsHDCYvz9bnL/9n0Wjl+MiamSpu0b62km+bP+oiMJv+0m8Y+9ZNwOJnrGIlSpaVi1b5Fv/dRzl0g+dJyM/16n8Rv/e51Wq6iukxUdq3GYN65D6lk/MkOevgqrDw69OxC3eQ8Pt+8n/dY9wiYvJTslDdtOzfOtn3zmMgn7T5IeeI+M4DBi1/9Bmv8dzGvmzi/+ryMkn/Al414Y6beCCff5AUMrC5TlSryiWUGj3q3Yt2QHV/afJ/RGMBu9l2HtYodX85pa2zTu24aTmw5xZutRwm+FsHXiatJT0qndpTEAYTfvs27QAq4evEB0cDi3Tl7l77mbqPh+dQwMc0I2l1JFsbCzYs/8rUTeDiUs4D57F23D2skW+6KOr2Lq4gVJ0P1/IDQ0lK5du9K7d2+uX7/OkSNH+Pjjj5/rV6O+++47qlSpwsWLFxk3bhxffvkl+/fnfn3ZuXNnIiIi2L17N+fPn6d69eq8//77xMTkrnzeunWL7du389tvv+Hr66suX79+PUZGRpw5c4ZFixYxf/58Vq9erXUsBgYGLF68mKtXr7J+/XoOHTrEmDFj1PcPGTKEtLQ0/vnnHy5fvszs2bOxtLTE3d2d7du3A+Dv709oaCiLFi3K9xzdu3fn119/ZfHixVy/fp2VK1diaWmZb93ffvuN0NBQ9fHxxx9Trlw5XFxcXvqx0RUDY0NcvUpw59jV3EKViqBjVylavXS+bYpWL03QsSsaZXf+uaRZX6Gg3cKBnF65i6iAkGeOw9TGgort63L/fADZmXkDdJ0yMsKkfFlST1/ILVOpSD19AWXlCgXqwrRWNYw9i5F24ZK6LO3SNcwa1cXQyQEAZc0qGBcvRsqpczodvsjhVtwVBxcHLvyb+zwmJSRz3fcGFWqUf+F+H62Sp6flfrOkUqnISM+g0ruVtDXTPSMjlOXLknJK83Wacur5X6ep5y/ne7+BvS3mDWqTsGO3Lkb8fIyNMK1YmqQTvrllKhVJJ3wxq1awD6rmdapgUqIYyWev5F/B2AjbT1qRFZ9I2o07Lz/mAnBwd8ba2Y6bx3Mf89SEFO763sKzetl82xgaG1KsUgmNNiqVioDjl/HQ0gbA1Mqc1MQUsrNy8jYibj8gMSae2p80wdDYEGOlMbU/aUJYwH1i7kfqaIYvIVulm+MtJDnd/wdCQ0PJzMzk448/xsPDAwAvL6/n6qNevXqMGzcOgLJly3L8+HEWLFjABx98wLFjxzhz5gwREREolUoA5s6dy++//862bdvo378/kJM28dNPP+Hk5KTRt7u7OwsWLEChUFCuXDkuX77MggUL6NevX75jeXxF2tPTkxkzZjBw4EC+//57AIKDg+nYsaN6jiVLllTXt7e3B8DZ2Vkjp/txN2/eZMuWLezfv59mzZrl6eNJj/oEWLBgAYcOHeL06dOYmZm99GOjK+Z2VhgYGZIc9VCjPCnqIQ6l3PJtY+lkS1JU/BP147F0slXfrjOoLarMbM6t3cvTNB73CTV6fICJuSkhFwLY2mvei03kORja2qAwMiQrJlajPCsmFmNPd63tFJYWFNuzCYWxMWRnEz1rsUbgHjN7KQ6TRlJs72ZUGZmgyib6mwWkXcg/4BEvx84p5+8rNipOozw2MhY7J7sX7jf41j3C74fTd1xvFoxbRGpyKp36fYxzESfsne2f3YGOGNr99zqNfuJ1Gh2LcYmnvU7NKb4/53Wqys4m+tvFpD4euD/G6sPmZCcnk3zwmE7HXhBGdtY584t6cn5xKEtpn5+BpTlljv2MwiRnfmFTl5F0/KJGHcsmtSi6YCwKMyWZETEE95xIVmy8lh51y+q/98HESM331MTIh+r7nmRhZ42hkSEJT7wPJ0Q+xLlUUS1trGg+7GNO/npQXZaWlMqyT6fT+4fRNB/2MQCRQaGs7O6jDswL1WswhNeVBN3/B6pUqcL777+Pl5cXLVq0oHnz5nTq1Ak7u4L/g1WnTp08tx/tKOLn50diYiIODg4adVJSUggMDFTf9vDwyDeofO+99zTyo+vUqcO8efPIysrC0DBvCsKBAwfw8fHhxo0bxMfHk5mZSWpqKsnJyZibmzN8+HAGDRrEvn37aNasGR07dqRy5coFnquvry+GhoY0apR/2oU2u3fvZty4cfz111+ULZuzavGyj83j0tLSSEtL0yjLVGVhpCicHD7XSp7U7NWCtW0mPbPu6ZW7uLT5KNZFHak/ogNtFwxka6+5r2CUz0+VlExo1wEozMwwrVUNe++BZN4PJe18TkqQ9aftUXqVJ2LEJDJDwzGtXhn7ccPIiowm9Uz+QY8ouPc7NGXkrC/Vtyf0ePbr60VkZWYxpd90Rs/15o+rv5GVmcX5Yxc4feiM3q7X0CVVUgohXQZiYG6Gae1q2I/KeZ2mnruUp65l+xYk/n0IVXpGIYz0xWQnpXD7w6EYWJhhUacKLuP7kREcRvKZ3A+3Saf8uP3hUAztrbHr0pKii8YT1GkkWTEPn9Lzi6n+UT26fJu7ELSq92ydn+NJSksz+q0dS/itEPYs3KYuN1Ya8+mcgQSd9+fn4YsxMDSgSb929FszlgUfTiAj7c15nv/fSND9f8DQ0JD9+/dz4sQJ9u3bx5IlS5g4cSKnT5/GwMAgT5pJRsbz/cEmJibi5ubGkSNH8tz3+GqyhYXFiwxfQ1BQEG3btmXQoEHMnDkTe3t7jh07Rp8+fUhPT8fc3Jy+ffvSokULdu3axb59+/Dx8WHevHkMGzasQOcwMzN77nFdu3aNTz/9lFmzZtG8eW6eoi4fGx8fH6ZNm6ZR1tTai2a2z/5AkRybQHZmFuaOmhcuWTja5FmpUY89Mg4LR+sn6luTGBkHgHutclg4WjPkZG6KjoGRIU0ndaNm75Ysrz9SXZ4Sm0hKbCIxd8KIvvWAoacXU7R6aUIu3Hrm2F9UVtxDVJlZGNprfrg0tLfLs6qoQaUi817O7hUZNwMxLlEcm95diTjvh0Jpgu3Q3kSOmkrKsdM5dQLuYFy2FNbdO0vQrQMn9p3k+sUb6tvGJjlpIHaOtsRE5KZk2TnZEXg1ME/75xFwOYABLQZhYWWOkbExD2MesvSvxdz0y39XDX3Iiv3vderwxOvUwS7P6rCGx16n6f6BmJQojk2frnmCbmW1SpiUKE7kmJk6H3tBZMbG58zP8cn52ZIZmffCazWViozgUADSrt9GWao4DgO7aATdqpQ0MoJDyQgOJdTXn1L7V2HbuQXRK7fofB5XD5xnrm/u+5XRf69LSycb4v97T3x0+8G1u/n2kRQbT1ZmFlZPvA9bPdEHgNLClAHrx5OWmMKaAfM00vGqf1Qf+6KOLOqQe/3Tz18uZqbfj1RqXpOLf518mam+tLf1IkhdkJzu/xMKhYJ69eoxbdo0Ll68iImJCTt27MDJyYnQ0FB1vaysLK5cyZs3d+rUqTy3y5fPyaesXr06YWFhGBkZUbp0aY3D0fHZF3WcPn06T99lypTJd5X7/PnzZGdnM2/ePN577z3Kli3Lgwd5t/dyd3dn4MCB/Pbbb4waNYpVq1YBOTuPPJqnNl5eXmRnZ3P06NFnjh0gKiqKdu3a0bFjR0aOHKlx38s+No8bP348Dx8+1Dga21R8dkMgOyOLsMt38Kz3WH2FAo96FbUGviEXbuFRT7N/zwaV1PWv/Hac1S0m8GOrieojISyG0yt3sbn7HK1jURjkrCIamhRsi8YXlplJ+vWbmNbK3fEAhQLTWtVIu3StwN0oDAxyUk0AjIzUX+dryM6GN2B19E2QkpTCg6AH6uPuzbtEh0dTvX41dR1zS3PKV32Ha+ev6+ScSQnJPIx5SNESRShbuQzH973CoCUzk7TrNzGtnTs/FArMaj/f6xQDRe7r9DFWHVqRdvUm6Te1bw2qVxmZpF69hUWdKrllCgUWdauS8tiHq2cyUKB41nuGgcGz67ygtKRUou6Gq4+wgPvER8RStu5jF1lbmuFRtTRBF/L/0JaVkcX9K3c02igUCsrUrcTdx9ooLc0Y+PMEsjIyWd33OzKfWLk2MTNBpVJpLJipslWgAoXiNQjrsnV0vIVkpfv/wOnTpzl48CDNmzfH2dmZ06dPExkZSfny5bGwsMDb25tdu3ZRqlQp5s+fn++Pvhw/fpw5c+bQvn179u/fz9atW9m1axcAzZo1o06dOrRv3545c+aoA+Fdu3bRoUMHatbUfiU35ORge3t7M2DAAC5cuMCSJUuYNy//nN/SpUuTkZHBkiVLaNeuHcePH2fFihUadUaMGEGrVq0oW7YssbGxHD58WP0BwcPDA4VCwc6dO2ndujVmZmZ5LpD09PSkR48e9O7dm8WLF1OlShXu3r1LREQEXbp0yTOmjh07Ym5uztSpUwkLy90ZwMnJ6aUfm8cplUp1Xvgjz5Nacmb1btrOG0DYpTs88Avk3d4tMTZXcmlrzoeLtvMHkBAWy9E5OatE59bupdvmidTq14pbh3yp0K4Obl4l2T1uDQApcYmkxCVqnCMrI4ukyDhibud8kCtStRRuVUpy76w/qQ+TsPNwoeGoTsQGhRNyIaDAY39R8b9sx3HaGNKv+ZN21R/rzz5GYWZK4p97AHCYPpasiCjilubsTGPdqyvp1/zJvB8KJsaY1auFRetmxPjkrOarkpJJPeeH3Yj+xKSlkxUajrJGZSzafEDs/BVax/E6SE5OIfh+7gfUkAfh3LgZiI21FW6uzoU4smf77ccddBv+GffvhBB2L4xeo3sSFR7Nsb25O5N8t2k2x/Yc5491fwJgam5KUc8i6vtd3V0pVaEkCXEJRDzIudisYZsGPIx5SERIBCXeKcGQaYM4vvcE5/85/0rnF//zdhy/GUP61ZukXfHH+vMOKMxMSfg951oJxxljyIqIInZxzt+eTe9PSbt2k8x7D1CYmGDWoBaWbZoRNXOxRr8KC3MsmjcgZt4Pr3Q+T4pes4Mic7xJvRJAyqWb2Pf8CAMzJXHbcy7Gd5sziszwaCLnrQPAYUAXUq8EkB4cisLEGMtGNbH5qClhU3J2zVKYKXEc9CkJh06RGRGLkZ01dp+3xcjFgfjdr25LxKNrdvPBsA5EBoURcy+CVqO6EB8ey+V9uRdVD/plEpf3nuXYTznP5ZHVu/hs3iDuXb7NXd9bNOrTGhNzJaf/ex9+FHCbmJqwYcQyTK3MMLXK+fY1MToeVbYK/2OXaTehGx2/6c2/6/ZgYGDA+4M+Ijsri1snr+YdqHhtSND9f8Da2pp//vmHhQsXEh8fj4eHB/PmzaNVq1ZkZGTg5+dH9+7dMTIyYuTIkept9R43atQozp07x7Rp07C2tmb+/Pm0aJGznZVCoeDvv/9m4sSJ9OrVi8jISFxdXWnYsKF6B4+n6d69OykpKdSqVQtDQ0O+/PJL9QWGT6pSpQrz589n9uzZjB8/noYNG+Lj40P37t3VdbKyshgyZAj379/H2tqali1bsmDBAgCKFi3KtGnTGDduHL169aJ79+6sW7cuz3mWL1/OhAkTGDx4MNHR0RQvXpwJEybkO6Z//vkHQH2R6iN37tzB09PzpR4bXbq+8zTmDtY08O6IhZMNEdfusqX7HJL/u1jSuoijxteCIecD+HP49zQc3ZlGX3UhNiiM7f0XEHXzfoHPmZGSRtmWNWkw8mOMzZQkRsZx+8glji/5g6z0TJ3P8UnJ+44Qa2eD7aCeGDrYke4fSMTQ8WTHxAFg5Oqcs0r9HwMzU+zHD8fQ2QlVWhoZQfeI+noWyfuOqOtEjp+B3bA+OM4cj4G1FVmh4cQtW0Pitr/0Pp+XceVGAL2HjVXfnrMkJxD7qFUzZk4aVVjDKpBN32/B1NwU79kjsLS25PLZK4z/XDN3tYiHGzaP7ftcrkpZ5m/NvW5g8NScfY73btnHHO+ccgcXBwZNGahOXdm37QAbFv3yimaVK2nvUQzsbLEb3ANDRzvS/AMJHzzhiddp7t+mgZkpjhOGY+jimPM6vXOPyImzSNqr+e2cZcvGgILE3YcoTAl//0OEvTVOX36BoZMdaddvE9xnMlnRcQAYF3EC1WN/h+amuE4djJGrI6rUdNJu3yNk9FwS/s55ryUrG5NSxSjWYSKG9jZkxcaTevkmd7t+RfqtV/fjMIdW/ImJmZIuPv0wszbnzll/VvaYpbEy7ejhgoV97m9A+O48iaW9NS1HdsbayZaQ63dZ2WMWif9dXFmsUgk8q5UBYNI/mrtrTa8/jNj7kUQEPmB1n+9o8WVHRuz4huxsFSFXg1jZwydPmkphkPQS7RSq59k3Tvxf8vT0ZMSIEQX+mfTn0bhxY6pWrar3n3l/W/l4fF7YQ9C7zxxe/b7Cr1KRfYW7CvkqtKw68NmV3nCrHd7+f0pTk/WcElbIfsh4dT+sU1gWBG3S+zliPnq+TQi0sf+jYCmebxJZ6RZCCCGEEDqhekvzsXXhNci4F0IIIYQQ4u0mK93imR79nLk+5LeVnhBCCCHeULLSrZUE3UIIIYQQQickvUQ7SS8RQgghhBBCz2SlWwghhBBC6IasdGslQbcQQgghhNAJSS/RTtJLhBBCCCGE0DNZ6RZCCCGEEDohK93aSdAthBBCCCF0QoJu7SS9RAghhBBCCD2TlW4hhBBCCKEbKkVhj+C1JUG3EEIIIYTQCUkv0U7SS4QQQgghhE6oshU6OV7EsmXL8PT0xNTUlNq1a3PmzJkCtdu0aRMKhYL27du/0HkLSoJuIYQQQgjxRtu8eTPe3t5MmTKFCxcuUKVKFVq0aEFERMRT2wUFBTF69GgaNGig9zFK0C2EEEIIIXRCla2b43nNnz+ffv360atXLypUqMCKFSswNzdnzZo1WttkZWXRrVs3pk2bRsmSJV9i1gUjQbcQQgghhNAJlUqhkyMtLY34+HiNIy0tLd9zpqenc/78eZo1a6YuMzAwoFmzZpw8eVLrWKdPn46zszN9+vTR+eOQHwm6hRBCCCHEa8XHxwcbGxuNw8fHJ9+6UVFRZGVl4eLiolHu4uJCWFhYvm2OHTvGjz/+yKpVq3Q+dm1k9xIhhBBCCKETutq9ZPz48Xh7e2uUKZVKnfSdkJDAF198wapVq3B0dNRJnwUhQbcQQgghhNCJF9155ElKpbLAQbajoyOGhoaEh4drlIeHh+Pq6pqnfmBgIEFBQbRr105dlp2d82nByMgIf39/SpUq9RKjz5+klwghhBBCiDeWiYkJNWrU4ODBg+qy7OxsDh48SJ06dfLUf+edd7h8+TK+vr7q48MPP6RJkyb4+vri7u6ul3HKSrcQQgghhNAJlapwzuvt7U2PHj2oWbMmtWrVYuHChSQlJdGrVy8AunfvTtGiRfHx8cHU1JRKlSpptLe1tQXIU65LEnQL8QYLUWQU9hD0bkiUbnL4XlcpVQcW9hD0bo/visIegt7dqjO0sIegd2szbAp7CHp1T5VU2EN4K+gqveR5ffLJJ0RGRjJ58mTCwsKoWrUqe/bsUV9cGRwcjIFB4SZ4SNAthBBCCCHeeEOHDmXo0Pw/AB85cuSpbdetW6f7AT1Bgm4hhBBCCKEThbXS/SaQoFsIIYQQQuhEYeV0vwkk6BZCCCGEEDohK93ayZaBQgghhBBC6JmsdAshhBBCCJ1QqWSlWxsJuoUQQgghhE7o6mfg30aSXiKEEEIIIYSeyUq3EEIIIYTQiWxJL9FKgm4hhBBCCKETktOtnaSXCCGEEEIIoWey0i2EEEIIIXRC9unWToJuIYQQQgihE/KLlNpJeokQQgghhBB6JivdQgghhBBCJyS9RDsJuoUQQgghhE7IloHaSdAthBBCCCF0QrYM1E5yuoUQQgghhNAzWekWQgghhBA6IbuXaCdBtxD/Z9qM7Ezdru9jZm3B7XP+bJ60msigsKe2afhFc94f0A5rJ1tCrt9l65S13PULzLfuoHXjqNi4Gj/0/45L+87lud/C1pJxu+dg5+bAV5V7kRKfrJN5PU03789p8VkLLKwtuH7uOt9PWMaDoAda61esVZGOAztSyqs0Di4OzOj7Daf2ndKoM2LeSJp1bqZRdv7IeaZ0n6yXOTxLz9Hdad21FZY2llw5e5VFExYTckf7HL1qe/HJwM6U8SqDo6sDk/tM5fjeExp17Bxt6TehLzUa1sDSxoJLpy+z9OtlT+23MJ3zvczajdu4duMWkdExLPL5mvcb1i3sYRWIXbe22PftiJGTHWk37hA2fTmpl27mW9eqeV0cBn6CiYcbCiMj0u+GEP3jDuL/OKSu4zisG9ZtGmLs5oQqI4PUK7eIWPATqX7+r2pKNB/ZiVpdm2JmbUHQOX92TFpD1DPea+p88QGNBrTDysmG0OvB/DFlHfcee6+p3bUpVT+qR9GKnphamTO5ch9Sn3gPaTqkPe80rUaRCh5kZWQypXJfvcwvP594f0azrs0xt7bA/9x1fpi4nLCgUK31y9eqyEcDOlDSqxT2Lg7M7jeTs/tOa9TpMqIr9do1wKGII5kZmdy+fItfv9tAgG/+r4/CJjnd2kl6iRD/R5oN/JBGvVqxaeJq5rafSHpKKkN+moCR0lhrm+pt69BhUnd2L9rO7DbjCLl2lyE/TcDSwTpP3SZ9WsMzVjk+mzOQBzeCX3YqBdZxUCfa9WrHsvHLGPWhN6nJqUzf8A3GT5mzqbkpt6/dYcWk5U/t+9zhc3xe43P1MWfYHF0Pv0A+HdyFDr3as3D8Yoa2G05qciqzNvg8dY5m5qYEXrvN4klLtdaZ/uNU3Iq7MbnPFAa0GEzE/Qi++3U2pmam+pjGS0tJSaVc6ZJMHDW4sIfyXKxaN8R5Qj+ilm7kTvthpF6/TfE132Bob5Nv/ay4BKKXbyKoyyhutxtM3PYDFJk1Eov61dV10oNCCJu+nNttBxP06VdkhERQfO0MDO3z/t3qQ+OB7ajXqyW/TfyRJe2/Jj0ljT4/jXvqe02Vtu/RbtIXHFi0nUVtJhB67S59fhqHxWPvNcZmSvyP+nHo+z+09mNoYsTlv09xasMBnc7pWdoP/JjWPdvyw4TlTPjoK9KS0/j652nPeK9REnT9Dqu/Xqm1zoM7IayevBLv5sOY1HEsEfcjmPTzNKxf0XMpdEeCbiFewJ49e6hfvz62trY4ODjQtm1bAgNzV2NOnDhB1apVMTU1pWbNmvz+++8oFAp8fX3Vda5cuUKrVq2wtLTExcWFL774gqioKL2Ou0nv1uxd8huX95/jwY1gfvJeho2LHVWav6u1TdO+bTix6SCnth4h7FYImyauJj0lnTpdmmjUK1rBg6Z927JhjPZAtf7nH2Bubc7BH/7S2Zye5aM+H7F5yWZO7z9F0I0g5o+ch72zPXWa19Ha5vyR82yY+zMn9558at8Z6RnERcaqj6SHiboefoF83KcDGxZv5MS+k9y+fofZI+bg6OJA/Rb1tLY5c/gsa79bx/E9x/O9v1iJolSoUYGFExbj73eT+7fvs3D8YkxMlTRt31hPM3k5Deq8y/D+PWjWSPu8X0cOvTsQt3kPD7fvJ/3WPcImLyU7JQ3bTs3zrZ985jIJ+0+SHniPjOAwYtf/QZr/HcxrVlTXif/rCMknfMm4F0b6rWDCfX7A0MoCZbkSr2RO9Xu34uCSHVzbf56wG8Fs9v4eaxc7KjavqbVNg75tOL3pEOe2HiXiVgi/TfyRjJR03u3SWF3n2JrdHFn+J8EXA7T2s3/BNv79cTeh/q/uwz1Amz4fsn3pFs7uP83dG0Es8V6AnbM9tZq/p7XNxSMX2DT3F87sPaW1zrE//uHycT8i7oVzP+Ae67/5EQtrCzzKe+phFi9PpVLo5HgbSdAtxAtISkrC29ubc+fOcfDgQQwMDOjQoQPZ2dnEx8fTrl07vLy8uHDhAt988w1jx47VaB8XF0fTpk2pVq0a586dY8+ePYSHh9OlSxe9jdnB3RkbZztuHL+sLktNSCHI9xae1cvk28bQ2BD3SiXxf6yNSqXC//hlSjzWxtjUhJ6LhrNl8hoSIh/m25dr6aK0Gt6Rn7yXoXpFSX8uxV2xd7bH95ivuiw5IRl/X3/eqfHOS/fv9Z4XGy78worDKxk8czBWtlYv3efzcivuioOLAxf+vaAuS0pI5rrvDSrUKP/C/T5anUtPS1eXqVQqMtIzqPRupRcfsNBkbIRpxdIknfDNLVOpSDrhi1m1gr1GzetUwaREMZLPXtF6DttPWpEVn0jajTsvP+ZnsHd3xtrZjoDjueNJTUjhnm8gHk95rylaqQS3HmujUqkIOH5Fa5vXibO7C3bO9lw65qcuS05IJsD3JmWrl9PZeYyMjfjgsxYkPUwk6Jr+n8sXoVLp5ngbSU63EC+gY8eOGrfXrFmDk5MT165d49ixYygUClatWoWpqSkVKlQgJCSEfv36qesvXbqUatWq8e2332r04e7uzs2bNylbtqzOx2ztZAuQJyhOiHyovu9JlnbWGBoZkhCl2SY+8iEupYqob3ec3IM7529yeX/eHG4AIxMjei75kt+/3UDsg2gci7u8+ESeg52THQBxUbEa5XFRcdj+d9+LunDkPCf2nCA8OAw3Dze6j+3BtJ+mMbr9aLKzs1+q7+dh52QPQGxUnEZ5bGSsev4vIvjWPcLvh9N3XG8WjFtEanIqnfp9jHMRJ+yd7V9myOIxRnbWKIwMyXriNZoVHYeylLvWdgaW5pQ59jMKE2NU2dmETV1G0vGLGnUsm9Si6IKxKMyUZEbEENxzIlmx8XqZx+OsnHLSYhLzea+x0vJeY6HlvSYx8iHOj73XvK7snB+918RplD/UwXsNQI2mNRmx9CuUZkpiI2KZ/vlkEmITXrpf8WpJ0C3ECwgICGDy5MmcPn2aqKgodZAVHByMv78/lStXxtQ0N++1Vq1aGu39/Pw4fPgwlpaWefoODAzMN+hOS0sjLS1NoyxLlYWhwjDfMdb8qD5dv80N9Jf3nlXwCT4Hr2Y1KFunIrPajNVa58MxXQm/FcLZ34/pZQyPNG7fmCE+Q9W3p/Wcqrdz/fPXP+r/v+t/lzs3gvjx2I941fHC77jfU1q+nPc7NGXkrC/Vtyf0mKSX82RlZjGl33RGz/Xmj6u/kZWZxfljFzh96AwKxdv51e+bJDsphdsfDsXAwgyLOlVwGd+PjOAwks/kfiuVdMqP2x8OxdDeGrsuLSm6aDxBnUaSFZP/t1EvqtpH9fj429yLFdf2LpxrG16lBu0b0f/b3GsHfHpN1+v5rpy8zFetRmBlb02zrs3x/n4s4z8aTXy0bp9LXZALKbWToFuIF9CuXTs8PDxYtWoVRYoUITs7m0qVKpGenv7sxkBiYiLt2rVj9uzZee5zc3PLt42Pjw/Tpk3TKHvXpgK1bPP/qv/ygXME+ebmPRqZ5KQLWDnZEB8Zpy63crLh/rWg/McZG09WZhZWjpoXdFk/1kfZupVw9HDhu0trNer0XT6KwLPXWfTpdMrWrUSRcsWp2qo2gDpom3VhNXuX7eDvBVvzPf/zOr3/NP4Xc3dneJQiYetoR2xE7kqiraMtd67d1sk5HwkPDuNh9EPcPN30GnSf2HeS6xdvqG8b//e82jnaEhMRoy63c7Ij8Gr+O8wUVMDlAAa0GISFlTlGxsY8jHnI0r8Wc9Pv9dw14U2UGRuPKjMLQ0fN1VBDB1syI2O0tAJUKjKCc3bFSLt+G2Wp4jgM7KIRdKtS0sgIDiUjOJRQX39K7V+FbecWRK/cotM5XDtwnmDfW+rbj95rLJ1sSHjiveaBlveaJC3vNU/28bo4u/8MARdz/w6MTHLCKVtHW+Iee6+xcbQlSAfvNWkpaYTdDSXsbigBF/1ZcmQF73/yATu+3/bSfeva25qPrQsSdAvxnKKjo/H392fVqlU0aNAAgGPHcldwy5Urx4YNG0hLS0OpVAJw9uxZjT6qV6/O9u3b8fT0xMioYH+G48ePx9vbW6NsrFdvrfXTklJJS0rVKHsYEUu5ul6EXLsLgKmlGZ5VS3Nsw/58+8jKyOLelduUq+ul3v5PoVBQtm4l/vlpLwD7lv/OiU2HNNpN3DeX7d+s58qB8wCsHjgfY1MT9f0eVUrx+XeDWNhlCpF3wwsy/QJJSUohJSlFoywmIoaq9aqog2wzSzPKVS3H7p//1tl5ARxcHbCysyImIvbZlV9CfnOMDo+mev1qBP43R3NLc8pXfYe/ftqpk3MmJeRsyVa0RBHKVi7D2u/W66RfAWRkknr1FhZ1qpB44L8LdxUKLOpWJfbn57jg2ECBwkT7Lhk5dQyeXecF5PdeEx8RS5m6lQj9771GaWmGe9VSnHzKe03IlTuUrluJq4+915SuW5ETP+3T+ZhfVmpSCmFP/B3GRsTgVa+KOtfazNKMMlXLsm/Dbp2fX2GgUH/gFm8OCbqFeE52dnY4ODjwww8/4ObmRnBwMOPGjVPf/9lnnzFx4kT69+/PuHHjCA4OZu7cuUDuCu+QIUNYtWoVXbt2ZcyYMdjb23Pr1i02bdrE6tWrMTTMmzKiVCrVQfwj2lJLtDm85m9aDutAZFAo0fciaDPqEx6Gx+K3L/dDwbBfJuG396w6qD60ehdfzBtM8OVAgnwDadKnNUpzJae2HgFy8jTzu3gy9kEU0fcjAYgK1gysLe1zLjgMuxWi9326//jxDz4Z/ikhQQ8IDw7j89FfEBMRw8l9uTuTzPx1Jif3nGTn+pwg1dTcFDfP3DxSF3dXSlQoSWJcApEPIjE1N6XriM84sfs4sZGxuHm40WtCb0KDQrlw9Lxe55Of337cQbfhn3H/Tghh98LoNbonUeHRHNubuzPJd5tmc2zPcf5Y96d6jkUfm6OruyulKpQkIS6BiAc5z1vDNg14GPOQiJAISrxTgiHTBnF87wnO//Pq51gQyckpBN/P3UM85EE4N24GYmNthZurcyGO7Omi1+ygyBxvUq8EkHLpJvY9P8LATEnc9pwA1W3OKDLDo4mctw4AhwFdSL0SQHpwKAoTYywb1cTmo6aETVkGgMJMieOgT0k4dIrMiFiM7Kyx+7wtRi4OxO/+95XM6dia3TQd1p6ooDBi7kXQfFRn4sNj1QE1QL9fJnJ171l1UP3v6l10mTeI+5dvc8/3FvX7tMLEXMm5rUfVbSydbLByssXRwxUA13LupCWlEhcSRcrDJABsizhgZmuJXRFHDAwMcKvgAUB0UBjpyZoperq068c/6TisC6F3HhBxL5xPR3UjNiKGM4/t8T9l4zec3nuKPet3ATl/h66eud9uuri74FmhBIlxCUQ9iEJppqTj0C6cPXCG2IgYrO2sadmjDfYuDpzYpd90vRcl6SXaSdAtxHMyMDBg06ZNDB8+nEqVKlGuXDkWL15M48aNAbC2tuavv/5i0KBBVK1aFS8vLyZPnsxnn32mzvMuUqQIx48fZ+zYsTRv3py0tDQ8PDxo2bIlBgb621TowIo/UZop6erTHzNrcwLP+vN9Dx8y0zLUdRw9XNRBMcCFnSextLemzcguWDnZEnI9iGU9fPJc8PS62r58G6ZmpgzzGYaFtQXXzl1j8hdfk/HYnF2Lu2nseVumchl8tuTmwPebkpMbf2DrARaOWkB2VjYlynvyfqf3sbC2ICY8hov/XmTD3J/JTM98dZP7z6bvt2Bqbor37BFYWlty+ewVxn8+QWOORTzcsHls3+dyVcoyf+tc9e3BUwcCsHfLPuZ455Q7uDgwaMpAderKvm0H2LDol1c0q+d35UYAvYflXlswZ8kPAHzUqhkzJ40qrGE9U8Lf/xBhb43Tl19g6GRH2vXbBPeZTFZ0HADGRZxAlXtxroG5Ka5TB2Pk6ogqNZ202/cIGT2XhL//u84gKxuTUsUo1mEihvY2ZMXGk3r5Jne7fkX6rVezjd6RFX9hYqako09fTK3NCTrrz489Zmm81zh4uGDx2HuN385TWNhb03xkJ6ycbHlw/S4/9phF4mPvNXW6NeODEZ3UtwdvnQrA5tHLOb8tZ/7NvTtTs1MjdZ2Rf+f8La/4dDq3T13Xy3wBfl/xG0pzUwb4DMHC2oIb564xo/tUjb9Dl+KuWNvlvteUqlyaaZtzL6jvOTknN/7w1oMsG72I7OxsipYuRqNOTbG2syYhLp5Av1t83Xkc9wPu6W0uL+Mt3XhEJxSqV7V3lxD/x3755Rd69erFw4cPMTMz01m/Qz0/0Vlfr6ug7MLZ+/pVScnOeHalN9we3xWFPQS9u1Vn6LMrveHWZuT/Yz1vi9uqpMIegt5tu/un3s9xwq3jsysVQN3Q7Trp53UiK91C6MFPP/1EyZIlKVq0KH5+fowdO5YuXbroNOAWQgghxJtDgm4h9CAsLIzJkycTFhaGm5sbnTt3ZubMmYU9LCGEEEKvZPcS7SToFkIPxowZw5gxYwp7GEIIIcQr9ep+GuzNIz8DL4QQQgghhJ7JSrcQQgghhNAJFZJeoo0E3UIIIYQQQieyZU88rSS9RAghhBBCCD2TlW4hhBBCCKET2ZJeopUE3UIIIYQQQickp1s7SS8RQgghhBBCz2SlWwghhBBC6ITs062drHQLIYQQQgidUKHQyfEili1bhqenJ6amptSuXZszZ85orbtq1SoaNGiAnZ0ddnZ2NGvW7Kn1dUGCbiGEEEIIoRPZOjqe1+bNm/H29mbKlClcuHCBKlWq0KJFCyIiIvKtf+TIEbp27crhw4c5efIk7u7uNG/enJCQkBc4e8FI0C2EEEIIId5o8+fPp1+/fvTq1YsKFSqwYsUKzM3NWbNmTb71f/nlFwYPHkzVqlV55513WL16NdnZ2Rw8eFBvY5ScbiGEEEIIoRO6yulOS0sjLS1No0ypVKJUKvPUTU9P5/z584wfP15dZmBgQLNmzTh58mSBzpecnExGRgb29vYvN/CnkJVuIYQQQgihE7rK6fbx8cHGxkbj8PHxyfecUVFRZGVl4eLiolHu4uJCWFhYgcY9duxYihQpQrNmzV76MdBGVrqFEEIIIcRrZfz48Xh7e2uU5bfKrQuzZs1i06ZNHDlyBFNTU72cAyToFkIIIYQQOpKto9/G0ZZKkh9HR0cMDQ0JDw/XKA8PD8fV1fWpbefOncusWbM4cOAAlStXfuHxFoSklwghhBBCCJ3IRqGT43mYmJhQo0YNjYsgH10UWadOHa3t5syZwzfffMOePXuoWbPmC8+5oGSlWwghhBBCvNG8vb3p0aMHNWvWpFatWixcuJCkpCR69eoFQPfu3SlatKg6L3z27NlMnjyZjRs34unpqc79trS0xNLSUi9jlKBbCCGEEELohKqQzvvJJ58QGRnJ5MmTCQsLo2rVquzZs0d9cWVwcDAGBrkJHsuXLyc9PZ1OnTpp9DNlyhSmTp2qlzFK0C2EEEIIIXSiMH8GfujQoQwdOjTf+44cOaJxOygoSP8DeoIE3UK8wWplGBf2EPQuxsiksIegV0sc0gt7CHp3q07+/wi+TUqfXFrYQ9C7r6cPL+wh6FXDLbGFPQTxlpOgWwghhBBC6ES2Qkfbl7yFJOgWQgghhBA6UVg53W8CCbqFEEIIIYROFGZO9+tO9ukWQgghhBBCz2SlWwghhBBC6ISufpHybSRBtxBCCCGE0Inn/TXJ/yeSXiKEEEIIIYSeyUq3EEIIIYTQCdm9RDsJuoUQQgghhE5ITrd2kl4ihBBCCCGEnslKtxBCCCGE0AnZp1s7CbqFEEIIIYROSE63dpJeIoQQQgghhJ7JSrcQQgghhNAJuZBSOwm6hRBCCCGETkhOt3YSdAshhBBCCJ2QoFs7yekWQgghhBBCz2SlWwghhBBC6IRKcrq1kpVu8dKmTp1K1apVC3sYb5SgoCAUCgW+vr6FPRQhhBBCZ7J1dLyN/i9Wuo8cOUKTJk2IjY3F1ta2sIfz1hk9ejTDhg0r7GEA0LhxY6pWrcrChQsLeyhqPXv2JC4ujt9//72wh5JHuR7NqDioDWZONsRcC+bM1z8R7Xs737o2ZYtSdXRHHCqXwNLdibNTfub66r0adcp2f59yX7yPhbsTAA9v3sdvwQ4eHL6k97k8TSfvrjTp2gwLawtunrvBmokrCQsK1Vr/nVoVaDugPSW8SmHnYs/8fj6c23dGo867Ld/j/W4tKOFVCis7K8a3Gsnda0F6nkleVp98iE2Pzhg62pN+M5DoWctIv+Kfb13z9+tj26crRu5FUBgbknH3AfE/byNx5wF1nRJ++/NtGzP/Bx6u36qXOTyLXbe22PftiJGTHWk37hA2fTmpl27mW9eqeV0cBn6CiYcbCiMj0u+GEP3jDuL/OKSu4zisG9ZtGmLs5oQqI4PUK7eIWPATqX75P26vi3O+l1m7cRvXbtwiMjqGRT5f837DuoU9rAIxbtAGk6Yfo7C2IzvkDqnbVpIdnP9zaFTrfcw+H6lRpspIJ3HUxxplBi7FUH7YC8PSlcDAkOywYFLW+KCKjdTbPJ5l0Ji+dOjWDitrK/zOXuLbsXMJvnNfa/3ew76gaZtGeJb2IC01Db+zl1k0Yzl3A4M16lWuUZEh4wfgVb0CWVnZ3LwSwOCuI0lLTdf3lIQOvdFBt0qlIisrCyOjN3oaepeeno6JiYne+re0tMTS0lJv/euavG5yeH5Ym5pTunFq3FqiLt6ifN+WNPtlLH80/IrU6Pg89Y3MlCQGR3J35xlqTv083z6TQ2O44LOZ+DthoFBQqnMDmqzxZmeLiTy8GaLvKeWr3cAOtOjZhhWjFhNxL5zOoz5j3M+T+arZcDLSMvJtozQ35e71II5sOYj3D+Pyr2OmxP/sdU7tOk7/2UP0OQWtLFo0wmH0AKJmLCbt8nWsu32M63If7n/Um+yYuDz1sx/GE7d6Ixl37qHKyMC84Xs4ThtNVkwcKSfOARDctItGG7P6tXCc6k3SgX9fxZTysGrdEOcJ/QibvJQUvxvY92hP8TXfENi8P1kxD/PUz4pLIHr5JtJu30eVkYFlk9oUmTWSrOg4ko5dACA9KISw6cvJuBeGQmmCQ68OFF87g8BmfciKyfvaf12kpKRSrnRJOrRpzogJMwp7OAVmVK0Byg59Sd28jOy7/hg3+gjzwdNJmjEAVWLe5xBAlZJE0owBWvtUOLpiPmIOGSf3k7b7F1SpyRi4FoeMwgtCew7tRtc+nZg8fAYhwaEMHtuPZZvm07Hh56Sn5T+u6nWqsnntb1z1vY6RoSFDJwxg+eYFfNywG6nJqUBOwL301/msXfwzsycuICszi7IVS5Od/Xr+DM3bukqtC8+dXpKdnc2cOXMoXbo0SqWS4sWLM3PmTAAuX75M06ZNMTMzw8HBgf79+5OYmKhu27NnT9q3b8/cuXNxc3PDwcGBIUOGkJGR+w9fWloaY8eOxd3dHaVSSenSpfnxxx+BnBVrhULB7t27qVGjBkqlkmPHjpGdnY2Pjw8lSpTAzMyMKlWqsG3bNiDna/wmTZoAYGdnh0KhoGfPnuq5aGtXEFevXqVt27ZYW1tjZWVFgwYNCAwMVPc9ffp0ihUrhlKppGrVquzZs0fd9lF6wZYtW2jQoAFmZma8++673Lx5k7Nnz1KzZk0sLS1p1aoVkZG5n9ofPYbTpk3DyckJa2trBg4cSHp67h9048aNGTp0KCNGjMDR0ZEWLVoAcOXKFVq1aoWlpSUuLi588cUXREVFqdtt27YNLy8v9fPXrFkzkpKS1I99rVq1sLCwwNbWlnr16nH37l1AM71k3759mJqaEhcXp/FYffnllzRt2lR9+9ixY+p5u7u7M3z4cPW5nuX777+nTJkymJqa4uLiQqdOndSPzdGjR1m0aBEKhQKFQkFQUNALvW4ezVmhUHDw4EFq1qyJubk5devWxd9fczVsxowZODs7Y2VlRd++fRk3bpz68Zg6dSrr16/njz/+UI/pyJEj6ra3b9+mSZMmmJubU6VKFU6ePFmgx0AXyvdrRcDGwwRu+YeHAQ84NW4tWSlplP60Ub71o/1uc37GrwT9eYrs9PyD1fv7LxJyyI+EO+Ek3A7Dd/ZWMpNScapeWp9TeaqWfdry+9KtnN9/hns37rLcexG2zvbUbF5baxu/IxfYOncj5/ae1lrn2I6j7Fi8hSvH/PQx7AKx/qIjCb/tJvGPvWTcDiZ6xiJUqWlYtW+Rb/3Uc5dIPnScjDvBZN4PJX7jDtIDbqOsVlFdJys6VuMwb1yH1LN+ZIaEvappaXDo3YG4zXt4uH0/6bfuETZ5Kdkpadh2ap5v/eQzl0nYf5L0wHtkBIcRu/4P0vzvYF4zd47xfx0h+YQvGffCSL8VTLjPDxhaWaAsV+IVzerFNKjzLsP796BZo3qFPZTnYtKkPRkn9pJ5+gDZYfdI27IMVXoaxu99oL2RSoUqIU7jeJyyTXcyr50j7c+1ZN+/jSoqjKwrZ7QG8a/CZ/26sGrheo7sPUbA9UC+HvYNTi6ONGnZQGuboZ+N4q/Nf3Pb/w43r91iypczcSvmSoXK5dR1Rk3/kk2rt7F26QZu+9/hbmAw+/88RIaW9+HCptLR8TZ67qB7/PjxzJo1i6+//ppr166xceNGXFxcSEpKokWLFtjZ2XH27Fm2bt3KgQMHGDp0qEb7w4cPExgYyOHDh1m/fj3r1q1j3bp16vu7d+/Or7/+yuLFi7l+/TorV67Ms4o6btw4Zs2axfXr16lcuTI+Pj789NNPrFixgqtXrzJy5Eg+//xzjh49iru7O9u3bwfA39+f0NBQFi1aBPDUds8SEhJCw4YNUSqVHDp0iPPnz9O7d28yMzMBWLRoEfPmzWPu3LlcunSJFi1a8OGHHxIQEKDRz5QpU5g0aRIXLlzAyMiIzz77jDFjxrBo0SL+/fdfbt26xeTJkzXaHDx4kOvXr3PkyBF+/fVXfvvtN6ZNm6ZRZ/369ZiYmHD8+HFWrFhBXFwcTZs2pVq1apw7d449e/YQHh5Oly45q1qhoaF07dqV3r17q/v++OOPUalUZGZm0r59exo1asSlS5c4efIk/fv3R6HIe7XE+++/j62trfoxB8jKymLz5s1069YNgMDAQFq2bEnHjh25dOkSmzdv5tixY3leK/k5d+4cw4cPZ/r06fj7+7Nnzx4aNmyofszr1KlDv379CA0NJTQ0FHd3d3Xb53ndPG7ixInMmzePc+fOYWRkRO/evdX3/fLLL8ycOZPZs2dz/vx5ihcvzvLly9X3jx49mi5dutCyZUv1mOrWravR9+jRo/H19aVs2bJ07dpV/RrSJwNjQxwqlyD036u5hSoVoceu4lRDNwGywkCB54fvYWSuJPJ8wLMb6IGzuwt2zvYagXFKQjKBvgGUqV7uKS3fAEZGKMuXJeXUhdwylYqUUxdQVq5QoC5Ma1XD2LMYqecv53u/gb0t5g1qk7Bjty5G/PyMjTCtWJqkE765ZSoVSSd8Mav2ToG6MK9TBZMSxUg+e0XrOWw/aUVWfCJpN+68/JiFJkMjDNxLk+Xvm1umUpHl74tBiac8h0ozLKauwWLaWkz7TcpZxX5EocCoYk2yIx5gNmg6FjM3YO49DyOv9/Q2jWcpWrwITi6OnP7nnLosMSGJKxevUblmpQL3Y2llAcDDuJxvXOwcbalcoyIx0bGs+2sFBy7/xeodS6laq7JuJyBeief6fj0hIYFFixaxdOlSevToAUCpUqWoX78+q1atIjU1lZ9++gkLi5wXzdKlS2nXrh2zZ8/GxcUFyFltXrp0KYaGhrzzzju0adOGgwcP0q9fP27evMmWLVvYv38/zZo1A6BkyZJ5xjF9+nQ++CDnE3JaWhrffvstBw4coE6dOuo2x44dY+XKlTRq1Ah7e3sAnJ2d1TndBWn3NMuWLcPGxoZNmzZhbGwMQNmyZdX3z507l7Fjx/Lpp58CMHv2bA4fPszChQtZtmyZut7o0aPVK9FffvklXbt25eDBg9Srl7OS0adPH40PJQAmJiasWbMGc3NzKlasyPTp0/nqq6/45ptvMDDI+RxVpkwZ5syZo24zY8YMqlWrxrfffqsuW7NmDe7u7ty8eZPExEQyMzP5+OOP8fDwAMDLywuAmJgYHj58SNu2bSlVqhQA5cuXz/dxMTQ05NNPP2Xjxo306dMHyPmQEBcXR8eOHYGcDzvdunVjxIgR6rEuXryYRo0asXz5ckxNTbU+7sHBwVhYWNC2bVusrKzw8PCgWrVqANjY2GBiYoK5uTmurq552j7v6+aRmTNnqm+PGzeONm3akJqaiqmpKUuWLKFPnz706tULgMmTJ7Nv3z71NzyWlpaYmZmRlpaW75hGjx5NmzZtAJg2bRoVK1bk1q1bvPNOwQKKF6W0t8LAyJCUKM1VoZTIh1iXcnupvm3fKUarP6diqDQmMymVI30X8jDgwUv1+aJsnG0BePjEPB9GxWHjZPvqB6RDhnY2KIwMyYqO1SjPio7FuIS7llagsDSn+P5NKIyNUWVnE/3tYlIfD9wfY/Vhc7KTk0k+eEynYy8oIzvrnDlGPTnHOJSltM/RwNKcMsd+RmGSM8ewqctIOn5Ro45lk1oUXTAWhZmSzIgYgntOJCv29U0teVMpLKxRGBqS/cRKtSohDkOXYvm2yY4IIXXjIrIf3EFhZoFJ048xH/kdST6DUcVFo7C0QWFqjkmzTqTt+pmsP9diVL4Gpn0mkLJ0Alm3tHzA0iNH55w4IyYyRqM8OjIGB2eHAvWhUCgY/c2XXDztR+B/HwCLFS8KwIBRvVkwfSn+VwJo27kVK7cuonPjL56aL15Y5BcptXuuoPv69eukpaXx/vvv53tflSpV1AE3QL169cjOzsbf318ddFesWBFDQ0N1HTc3Ny5fzlll8fX1xdDQ8JkBb82aNdX/f+vWLZKTk9XB1CPp6enqYCw/L9ruEV9fXxo0aKAOuB8XHx/PgwcP1IHzI/Xq1cPPT/Or6MqVcz+tPnqMHgW7j8oiIiI02lSpUgVzc3P17Tp16pCYmMi9e/fUAXONGjU02vj5+XH48OF8c68DAwNp3rw577//Pl5eXrRo0YLmzZvTqVMn7OzssLe3p2fPnrRo0YIPPviAZs2a0aVLF9zc8g/OunXrxnvvvceDBw8oUqQIv/zyC23atFF/4PHz8+PSpUv88ssv6jYqlYrs7Gzu3LmjNaAH+OCDD/Dw8KBkyZK0bNmSli1b0qFDB43HQ5sXfd08/hw9mnNERATFixfH39+fwYMHa9SvVasWhw4doiC09Z1f0J2WlkZaWppGWYYqC2OFYZ66hSk+MJSdzSdibGWGR5ta1Fs4gL0dZ7ySwLte+4b0+Xag+vacXjP1fs43jSophZAuAzEwN8O0djXsRw0k834oqefyXuxq2b4FiX8fQvWafo2tTXZSCrc/HIqBhRkWdargMr4fGcFhJJ/JXdFPOuXH7Q+HYmhvjV2XlhRdNJ6gTiPzzRMXr1Z20A2yg26ob6fcvo7FxOUY121F+t8bQJGzuJR5+RQZR/4AID3kDoYlymNcr9UrCbpbfdycSd99pb49/POvnlK7YMbPGkXpd0rS68NB6jIDg5wIdvvPf/Dnpr8B8L8SQK0GNfioa1uWfLvipc+ra5LTrd1zBd1mZmYvfcIng1SFQkF2dvZz9f94YP9oRXHXrl0ULVpUo55SqdTax4u2e0QXjwVoPh6P0jWeLHv0+DyPxx8jyJnvo28dnuTm5oahoSH79+/nxIkT7Nu3jyVLljBx4kROnz5NiRIlWLt2LcOHD2fPnj1s3ryZSZMmsX//ft57L+/Xee+++y6lSpVi06ZNDBo0iB07dmis1icmJjJgwACGDx+ep23x4sXzlD3OysqKCxcucOTIEfbt28fkyZOZOnUqZ8+efebONC/6usnvOXqR5yQ/z9O3j49PnjSi9pZedLB+/q8Z02ISyM7MwszRRqPczMmG1MiXCzqyM7JICAoHIOZyEI5VS1K+b0tOjV3zUv0WxPn9Z7h1MXdHBCOTnMfXxtGGuIjc1VIbR1vuXnuzUwmyYh+iyszC0MFOo9zQwS7PyrAGlYrMezkfgNL9AzEpURybPl3zBN3KapUwKVGcyDGF98ElMzY+Z46OT87RlswnVhQ1qFRkBOfsTpN2/TbKUsVxGNhFI+hWpaSRERxKRnAoob7+lNq/CtvOLYheuUUvc/l/pUqKR5WVhYGVrUYwprCyJTvhKa/Tx2VnkXX/NgZObo/1mUl22D2Nalnh9zAqWbDUqpd1dO8xrlzITc8zVuZsVmDvZE9URLS63MHJHv8rz06vG/utNw2a1aVPhyFEhOZexxX5X1+3b2q+X90JuItrUZeXmoN49Z4rp7tMmTKYmZlx8ODBPPeVL18ePz8/jYvhjh8/joGBAeXKFSx30svLi+zs7ALlVD9SoUIFlEolwcHBlC5dWuN4lM/7aOeOrKys52r3NJUrV+bff//VuAj0EWtra4oUKcLx48c1yo8fP06FCi//huDn50dKSor69qlTp7C0tHzquKtXr87Vq1fx9PTMM99HwahCoaBevXpMmzaNixcvYmJiwo4dO9R9VKtWjfHjx3PixAkqVarExo0btZ6vW7du/PLLL/z1118YGBioUygejeXatWt5xlG6dOkC7bJiZGREs2bNmDNnDpcuXSIoKEi9smxiYqLxPGvzss//I+XKlePs2bMaZU/eLuiYnmX8+PE8fPhQ42hrVfHZDfORnZFF9KU7uNV/rL1CgWv9ikSev/XSY9VgoMDA5NXsFJOalEr43TD1ERJwj9iIGCrWy/1gYmZpRqmqZQi48HpvD/dMmZmkXb+Jae3HvplRKDCrXY20S9cK3o+BAkU+39hZdWhF2tWbpN/MfwvJVyIjk9Srt7CoUyW3TKHAom5VUi7e0N7uSQYKFCZ556hZx+DZdcTzy8ok+94tDMtqPoeG5aqQfaeAz6HCAIMiHqjiY3P7DA7AwEVzwcTAqSjZMRH5dKB7yUnJ3AsKUR+3/e8QGR5F7Qa53zJbWJpTqVoFLp17+sr72G+9adqqIQM6DedBsOZWpg+CQ4kIjcSzlIdGuUdJd0LvF87Fzc8i+3Rr91z/EpqamjJ27FjGjBmDiYkJ9erVIzIykqtXr9KtWzemTJlCjx49mDp1KpGRkQwbNowvvvhCnTbxLJ6envTo0YPevXuzePFiqlSpwt27d4mIiFBf8PckKysrRo8ezciRI8nOzqZ+/fo8fPiQ48ePY21tTY8ePfDw8EChULBz505at26NmZlZgdo9zdChQ1myZMn/2Lvv+BrP/4/jr5O997QSsUPUSLVWKGrWLmrPFCX2rlHUqNbma9RWWrOD2itm7cQmiUgQEUJEEtn5/ZGfo6cZghN3Ep9nH+fxcK57nPedk3Kd63yu6+arr75i7NixWFpa8s8//1CtWjXKlCnDyJEjmTRpEiVKlKBSpUqsXr0aPz8/jZKKt5WYmEjv3r0ZP348d+7cYdKkSQwcOFBdz52ZAQMG8PPPP9OxY0dGjRqFjY0NgYGB/Pbbb6xYsYJz585x8OBBGjZsiIODA6dPn+bRo0eUK1eO4OBgli9fTosWLShUqBA3b94kICCAbt26Zfl6nTt35rvvvmPatGl8+eWXGqPHo0eP5tNPP2XgwIH06dMHU1NTrl27xv79+1m0aFG2175z505u376Nl5cX1tbW7Nq1i9TUVPUHO1dXV06fPs2dO3cwMzNT1/P/17u+/y/5+Pjg7e2Np6cnNWrUYNOmTVy6dEljLoKrqyt79+7l5s2b2NraYmlpmc0Zs2ZoaJhxFP4dSkuu/7ybmnP78vhSMJEXgyjn3Rg9Y0MCN6V/6K05vy9xD55ycWb6yJ+Ovi6WpQv//5/1MHGywbp8MZJjE9Qj25XHtOf+YX9i70eib2ZE8VY1cKpejgOdZmUe4j3Ys3InrX3aER78gEf/v2RgVMQTzu17tTLJuI2TObf3H/atTZ8waGhihJPrqxp8+6KOuLi7EhMVQ2RY+oo/ppZm2BW2w9ox/XfM2S39ZxP1KIpnj6Ley7VFr9+G3dRRJF69RcKVm1h0aY3K2Ijnf6Svn273/ShSIh7zdEH6twyWvb4i4dotku+GoTIwwLh2NcyaNeDxtAUa51WZmmDasDZPZi9/L9eRnchVv1No1jDirwTw4tItbHq0RMfYkKht6euJO88aTvLDSB7NXgOAbd/2xF8JIDH0ASoDfczqeGLZsh7hk9Ln0qiMDbHr/xXPD/1DcsRT9KwtsO7yBXqOtkTvVmZZxJyKi3tB6L1XZVr3wx5y41YQlhbmODs5KJgse4mH/8Coy1BS7gaQGnIL/botURkYkXQ6fX14oy7DSH0WSeKOtQAYNP6KlDs3SX0UhsrYDIP6bdCxdiD+1Kv7AiQe3I5Rj1HoB14lOeASeuWqolehGi8WjlXkGgE2/ryZPkO6E3r7HvdDw/hmtDePHj7m8J5Xv1dLt8zn8O6jbFqVvtjA2JnDadL6c4b2GENsTBy29ul/n8Q8j1Gvwb32fxvpN7I3t64FcPNKAM3bN8W1pAsj+4x//xeZAwV15RFteOPhpwkTJqCnp8fEiRMJCwvD2dmZfv36YWJiwt69exk8eDAff/wxJiYmtG3bljlz5rzR+ZcsWcK4ceP45ptviIyMpFixYowbNy7bY6ZOnYq9vT0zZszg9u3bWFlZUaVKFfVxhQsXZvLkyYwZM4aePXvSrVs31qxZ89rjsmNra8uhQ4cYOXIkderUQVdXl0qVKqnruAcNGsSzZ88YPnw4ERERuLu789dff1GqVKk3+nlkpn79+pQqVQovLy8SEhLo2LEj3333XbbHvBx5Hz16NA0bNiQhIQEXFxcaN26Mjo4OFhYWHD16lHnz5hEdHY2LiwuzZ8+mSZMmPHz4kBs3brB27VoiIyNxdnZmwIAB9O2b9RqqJUuWpFq1apw5cybDjWoqVqyIr68v3377LbVr1yYtLY0SJUrQoUOH1167lZUV27dv57vvviM+Pp5SpUrx66+/Ur58+ojtiBEj6N69O+7u7rx48YLg4KxLCN7l/X+pc+fO3L59mxEjRhAfH0/79u3p0aMHZ868upGKt7c3R44cwdPTk5iYGA4fPoyrq2uOXyO33PnrNIY2FlQa0Tb95jhXQzjYZRbxj9Mnk5kWsiPtX+vAGjta03zfq4m45fs3o3z/ZoSfvM6+duklCEZ2FtSa3w9jBysSn8cRdf0uBzrN4sGx9z+x6aUdS3/H0MSIPjP6Y2Jhyq1z15nZbarGGt2OxZwwt7ZQP3erWIIJm16tg9x1YvqKNb5bDrFsxEIAqn7+Mf1mvyqRGrR4BADb5v7GtnmbcvWaXord64uOtRXW33RH186ahJtBPPxmnHqNbj0nB/jXe6hjbITduEHoOtqRlpBAUvBdHn07k9i9mt8umjWuC6iI2Z2zuQm56fmuo0TYWGA/uCu69tYkXL9NaO+JpERGAaBfyB7SXo2L6ZgY4fTdN+g52ZEWn0jC7bvcH/ETz3cdTd8hJRWDEkUo0vpbdG0sSXkaTfzlW4R0HEliYGgmCfKOKzcC6OUzWv181sL0D0UtmzRg2vjhSsV6reSLx0gws8SwaZf0m+Pcu03ckonqZQBV1vbo/Os9VBmbYfSVDyoLa9LiYki9G0jcvJEa5STJl04Rv/l/GDZoh2Hbr9MnX66aTsrtN/iWR8vWLNqAsYkx438ahbmFGX5nLjGg43CNNbqLuhbGyubVwEv7Huk3/Fnx+2KNc00cPI0dm9JruDf+vBlDQwOGTx6EpbUFt64G0r/DEO6FKHPvg9eRiZRZU6WlpcmHknwkL9/dUKT7/PPPcXJyYv369bn+WusKZ36TmoJkj17O1m/Pr6ZZxbx+p3wuPq7gl22UPJX9t3QFQfyUjPNwChKvzTmsMc/HLoafeP1O72iWi3b+XRoV8otWzpOXfNi35BPiHcXFxbF06VIaNWqErq4uv/76KwcOHGD//sxvpS2EEEIUZAW1Hlsb3vjmOB+Kfv36qW9v/t9Hv379Xn8C8VaOHTuW5c89L95qXqVSsWvXLry8vKhatSo7duxg27Zt6nXmhRBCiA+J3JEyazLSnYUpU6YwYsSITLdZWFhk2v4+/PdGOQWNp6cnfn5+SsfIMWNjYw4cOKB0DCGEEELkcdLpzoKDgwMODnl3NnhBZWxsTMmS2rkNuRBCCCHer9QCO0797qTTLYQQQgghtEJqurMmNd1CCCGEEELkMhnpFkIIIYQQWiHFJVmTTrcQQgghhNAKKS/JmpSXCCGEEEIIkcuk0y2EEEIIIbQiVaWdx9tYvHgxrq6uGBkZ8cknn3DmzJls99+yZQtly5bFyMgIDw8Pdu3a9XYvnEPS6RZCCCGEEFqRSppWHm9q06ZNDBs2jEmTJnHhwgU++ugjGjVqRERERKb7nzx5ko4dO9K7d28uXrxIq1ataNWqFVeuXHnXH0GWpNMthBBCCCG0Qqk7Us6ZMwdvb2969uyJu7s7S5cuxcTEhFWrVmW6//z582ncuDEjR46kXLlyTJ06lSpVqrBo0aK3ePWckU63EEIIIYTItxITEzl//jwNGjRQt+no6NCgQQNOnTqV6TGnTp3S2B+gUaNGWe6vDbJ6iRBCCCGE0AptrV6SkJBAQkKCRpuhoSGGhoYZ9n38+DEpKSk4OjpqtDs6OnLjxo1Mzx8eHp7p/uHh4e+YPGsy0i2EEEIIIbRCWzXdM2bMwNLSUuMxY8YMpS/vnchItxBCCCGEyFPGjh3LsGHDNNoyG+UGsLOzQ1dXl4cPH2q0P3z4ECcnp0yPcXJyeqP9tUFGuoUQQgghhFZoayKloaEhFhYWGo+sOt0GBgZUrVqVgwcPqttSU1M5ePAg1atXz/SY6tWra+wPsH///iz31wYZ6RZCCCGEEFqh1B0phw0bRvfu3fH09KRatWrMmzeP2NhYevbsCUC3bt0oXLiwukRl8ODB1KlTh9mzZ9OsWTN+++03zp07x/Lly3Mto3S6hRBCCCFEvtahQwcePXrExIkTCQ8Pp1KlSuzZs0c9WTI0NBQdnVcFHjVq1GDjxo2MHz+ecePGUapUKf744w8qVKiQaxml0y2EEEIIIbTibW5soy0DBw5k4MCBmW47cuRIhrZ27drRrl27XE71inS6hRBCCCGEVijX5c77pNMtRD62IDVE6Qi57mlsrNIRclW8Qe7NlM8rVidZKh0h102YMkjpCLnOaOICpSPkqnJ/Dlc6gijgpNMthBBCCCG0QqmJlPmBdLqFEEIIIYRWpEmBSZak0y2EEEIIIbRCRrqzJjfHEUIIIYQQIpfJSLcQQgghhNAKJZcMzOuk0y2EEEIIIbRCutxZk/ISIYQQQgghcpmMdAshhBBCCK2Q8pKsSadbCCGEEEJohaxekjUpLxFCCCGEECKXyUi3EEIIIYTQCrk5Ttak0y2EEEIIIbRCykuyJuUlQgghhBBC5DIZ6RZCCCGEEFoh5SVZk063EEIIIYTQCikvyZp0uoUQQgghhFakpslId1akplsIIYQQQohcJiPdQgghhBBCK2ScO2vS6RZCCCGEEFoht4HPmpSXCCGEEEIIkctkpFsUOK6urgwZMoQhQ4Zk2Obr60uXLl24e/eu1l+3bt26VKpUiXnz5mn93Lmp78jetO7cHDMLM/zPXmbmmNncDb6X5f49fLrwWVMvXEu6kBCfwKVzV1j4/RJCgl79TJdtW0DVGpU1jtu27g9mjJ6da9eRnSFj+tGha2ssLMw5f8afiSOnc+d21r8DnXp+Sece7ShczBmAgBu3WfTTcnwPnlTv81W3NjRv25jyFctibm5GJTcvnkfH5Pq1/Jd15y+w6dMWPXtrEm4EEz5lCfGXbmW6r3nDGtj264CBizMqPT0SQ+4TufJ3ov88pN7HzqczFs280He2Jy0pifgrgUTMXUe8/833dUkANBz6JdU61sPYwpQ7527y+/hVPL4Tnu0x1bt+Tp2+zTG3t+TB9VD+nLSGu/5B6u2fdKxHpZY1KVzeFSNzEyZW7E18dJzGOeoNaEXZepUp5O5CSlIykyr2yZXr+y/92s0wqNcGlYU1qfeDid+6jNTQzN9HvWr1Me4yVKMtLSmRmOFtNNp0HItg2KInuiUrgI4uqeGhvFg1g7Snj3LtOt7VOb/LrN64lWs3AnkU+YT5MyZQ36uG0rFy7MthHfmsYwNMLUy5de4Gq75dRvidB1nuX7aaO1/0bUVxjxJYO9owx3sG5/ad0djn48afUr9zI4p7lMDc2pyxTYYScu1OLl/J25MlA7MmI93ig/Lnn3/SvHlzpWNkKzEx8b29VvcBnfiqd1tmjP6JHs36Eh/3goW/zsbA0CDLY6pUr8SW1b/Ts1lfBnQYip6eHot+m4ORsZHGftt/+YtGFVuqHwumLsnty8nU1z7d6e7dkQkjptOmUXfi4l6wevPibK8xPCyCH6cuoFX9zrRq0IV/jp1l6fq5lCrjpt7HyNiIowdPsmTuqvdxGZkyb+qFwzhvHi/aSHArH+Kv36bYqqno2lhmun9K1HMil/zGnfbDud38G6K2HaDQzKGY1qqi3ifxzn3Cpyzh9hffcOerkSTdj6DY6u/RtbF4X5dF3X7NqdmzMdu/XcnCVhNIfJFA73Vj0DPUz/KYj774lObju3Jg/jbmNxvHg2sh9F43BlPbV7n1jQ256evPof/9meV5dA30uLzrH/755YBWryk7epVrY9i6Dwl7fiXux8Gk3A/G5JspqMwyfx8B0l7EEvNtF/Uj9rteGttVdk6YDJlF6sN7xC0cS+wPA0nY+xskvb+/X97GixfxlCnpxrfDv1E6yhtr3q81jXo0Y9W4ZUxoOZr4uATGrJ+Ifja/t4YmRoRcv8PqCcuz3sfYkJtnr/PrzHW5EVvrUrX0KIik0y2ylJqayqxZsyhZsiSGhoYUK1aMadOmAXD37l3at2+PlZUVNjY2tGzZkjt37qiP7dGjB61atWL69Ok4OjpiZWXFlClTSE5OZuTIkdjY2FCkSBFWr16t8Zo5Pe9PP/2Es7Mztra2DBgwgKSkJCB9tDkkJIShQ4eiUqlQqVQa5//rr79o0aIFO3fuxMrKipSUFAD8/PxQqVSMGTNGvW+fPn3o0qULAJGRkXTs2JHChQtjYmKCh4cHv/76q0YuX19f5s+fr37dl7mvXLlCkyZNMDMzw9HRka5du/L48WP1sXXr1mXgwIEMGTIEOzs7GjVq9Jbv2Jvr6N2elfPW4bv3OIHXg5g4aBr2jrbUbVw7y2MGdRrBzs27uX3rDgHXgvhuyHScizhR7qMyGvvFv4gn8tET9SM2Ji6LM+aunv06sXjOCg7s9uXmtQBGfDMRRyd7Gjatm+Uxh/Ye5ciBE9y5fZc7QaHMnr6YuNg4Knl6qPdZs2wjyxaswe/85fdwFZmz7dWaqE17eLZtP4mBdwmfuIjUFwlYfdkw0/3jzlzm+f5TJAbdJSk0nKdr/yThZjAmnuXV+0TvOELcST+S7oaTGBjKwxnL0TU3xbBM8fd0VVCrVxMOLvyda/vPE34jlE3D/oeFozXlG3pmeUztPs04/dshzm3xJSLwPtu/XUnSi0Q+bl9Xvc/xVbs5suQvQi8GZHme/XO3cmzlbh7cDNXmJWXL4LNWJJ3cS/LpA6SG3yVh82LSEhPQ//TzrA9KSyPteZTG498Mm3Uj+do5Ev5aTeq926Q9DiflyhnSYp7l7sW8o9rVP2bQ191pUKem0lHeWOPeX/DHoi2c33+GuzdCWDJsPlYONng2/CTLY/yPXGDLTxs5t/d0lvsc/92X3xds5spx/9yILd4j6XSLLI0dO5aZM2cyYcIErl27xsaNG3F0dCQpKYlGjRphbm7OsWPHOHHiBGZmZjRu3FhjlPbQoUOEhYVx9OhR5syZw6RJk/jiiy+wtrbm9OnT9OvXj759+3LvXnopQ07Pe/jwYYKCgjh8+DBr165lzZo1rFmzBoDt27dTpEgRpkyZwoMHD3jw4NXXelevXiUiIoJ69epRu3Ztnj9/zsWLF4H0shM7OzuOHDmi3t/X15e6desCEB8fT9WqVfn777+5cuUKX3/9NV27duXMmfSvAefPn0/16tXx9vZWv27RokWJioqiXr16VK5cmXPnzrFnzx4ePnxI+/btNX7Wa9euxcDAgBMnTrB06VKtvYfZKVzMGTtHW84cO6dui30ey5WL1/H4VyfsdczMTQGIfhqt0d6kTUMOXN3BpsNrGTCuL4bGhtoJ/gaKuhTGwdGeE76v/kGLeR6D34UrVPasmKNz6Ojo8EXrhhibGHPx7KXcivrm9PUwKl+S2JN+r9rS0og96Ydx5bI5OoVJ9Y8wKF6EuLNXsnwNqw5NSImOIeFG8LtnzgGbog5YOFgTcOJVpvjnL7jrF4RLlVKZHqOrr0vhCsUJ/NcxaWlpBJy4kuUxeYauHjpFS5Jy0+9VW1oaKTf90CmezftoaIzpd6swnbwaI+/x6DgVe7VNpUKvvCepEWEY95+C6bRfMBk2Gz2PT3PtMj50DkUdsXaw0egYv3geR5BfAKWqlMnmyIInlTStPAoiqekWmXr+/Dnz589n0aJFdO/eHYASJUpQq1YtfvnlF1JTU1mxYoV6JHn16tVYWVlx5MgRGjZMH2WzsbFhwYIF6OjoUKZMGWbNmkVcXBzjxo0DXnXqjx8/zldffcWmTZtydF5ra2sWLVqErq4uZcuWpVmzZhw8eBBvb29sbGzQ1dXF3NwcJycnjWv6888/adSoEQYGBhgYGFCpUiWOHDmCp6cnR44cYejQoUyePJmYmBiePXtGYGAgderUAaBw4cKMGDFCfS4fHx/27t3L5s2bqVatGpaWlhgYGGBiYqLxuosWLaJy5cpMnz5d3bZq1SqKFi3KrVu3KF26NAClSpVi1qxZ2nsDc8DWwRaAyEdPNdqfPHqCrb1Njs6hUqkYPmUQfmcuEXTzVadsz+/7eXDvIY/CH1PKvQQ+3/bDpURRRvUer70LyAH7/7/Gx4+eaLQ/jojE3tEu22NLlyvJ1t1rMDQyIC72Bd90H07grffT8cwJPWsLVHq6pDzWfP9SIqMwLFE0y+N0zEwodXw9KgN90lJTCf9uMbEnLmrsY/ZZNQrPHY3K2JDkiCeE9viWlP98qMot5vbpJRUxjzRHZJ8/eoa5vVWmx5haW6Crp8vzx5rHxDx6hkOJQrmSU1tUphaodHVJ/c9IddrzKHQdi2R6TGrEfeI3zic1LBiVsSkG9dpgMvRHYmd8Q1pUJCozS1RGJhg0+JKEv9eT8tdq9MpVxaj3OF4sGkdKYBYfssRbs3SwAuDZf34Hnz2OwjKL39uCSmq6syadbpGp69evk5CQQP369TNs8/f3JzAwEHNzc432+Ph4goJeTVoqX748OjqvvkxxdHSkQoUK6ue6urrY2toSERHxxufV1dVVP3d2duby5dd/xf/nn38ycOBA9fM6depw5MgRhg8fzrFjx5gxYwabN2/m+PHjPHnyhEKFClGqVPooWUpKCtOnT2fz5s3cv3+fxMREEhISMDExyfY1/f39OXz4MGZmZhm2BQUFqTvdVatWfW3+hIQEEhISNNpS01LRUeXsC6vGbT5n3KxXHxyGdB2do+OyM3rGMEqULU6flgM02n//ZYf6z0E3bvP4YSRLt86nsEsh7oeEvfPrZqXFl034/qdv1c/7dBr01ucKDrxD8886Ym5hRuPm9Zm1aAqdWvTJUx3vt5Ea+4LbLQaiY2qMafWPcBzrTVJoOHFnXv0/FPuPP7dbDETXxgLr9o0pPH8sd74cSsoT7ZcmVG5ZkzbTX01WXN3r/X74zI9S79wg9c4N9fMXt69j+u0S9Gs0IXHXL/D/fyckX/6HpCPp9euJ94PRLV4O/ZpNpNOtBTVbedF7ej/181k9pymYJm8pqPXY2iCdbpEpY2PjLLfFxMRQtWpVNmzYkGGbvb29+s/6+pqTR1QqVaZtqamp73zel+fIyoMHD7h48SLNmjVTt9WtW5dVq1bh7++Pvr4+ZcuWpW7duhw5coSnT5+qR7kBfvzxR+bPn8+8efPw8PDA1NSUIUOGvHbSY0xMDM2bN+eHH37IsM3Z2Vn9Z1NT02zPAzBjxgwmT56seQ7TohQyd3ntsQBH9x7nyoVr6ucGBuk/R1t7ayIjItXtNvY23Lqadc3rS6OmDaFWg+p83dqHiAfZr4bw8nWLFi+Sq53ug3t88T//qkPx8hrt7G149PBVHb2dgy3XL2e/GkdSUjIhwekrnFzxv07FyuXp0bcT44fnjX9ck59Gk5acgq6dtUa7rq0Vyf8Z2deQlkZSaHrZVcL12xiWKIZtv/Yane60FwkkhT4gKfQBD/xuUmL/z1i1a0Tkss1av45rB84T6heofq73/++Zmb0lzx9FqdvN7S0Jy2LFhtin0aQkp2Bupznx8L/nyIvSYqNJS0lBx9xKo7OiMrci9fnTLI/TkJpCyr3b6Ng7/+ucyaSGa67Qk/LwLnpu7lpK/mE7v/8MgRdfrS7z8vfW0s6SqIhX75ulnRUh1/L3B3WhPVLTLTJVqlQpjI2NOXjwYIZtVapUISAgAAcHB0qWLKnxsLTMerb962jrvAYGBuoJki/t2LGDGjVqYGPzqmziZV333Llz1R3sl53uI0eOqOu5AU6cOEHLli3p0qULH330EW5ubty6pbmcV2avW6VKFa5evYqrq2uGa8pJR/vfxo4dy7NnzzQeTmZZlxH8V1zsC+7dua9+3L51h8cPI/m41qtRdlMzEypULsflc1ezPdeoaUOo28SL/u2GEHY36+WwXipTIf0bg8cPI1+z57uJjYkjJPiu+hFw8zYRDx9Rw6uaeh8zM1MqVanAxXNvVp+to6Oj7sTnCUnJxF8NxLT6R6/aVCpMa1TixcUbWR/3XzoqVK+7Lh2d1+/zlhJi44kMeah+PAy4R3TEU0rVePWtmKGZMUUrlSDkQuYfBlOSUrh/JZiS/zpGpVJRskb5LI/JM1KSSb0biG5pzfdRt8xHpAbn8H1U6aBTyIW06KevzhkagI5jYY3ddOwLk/okQkvBP2zxsfE8DAlXP+4H3OVpxBPK13w1V8TYzJgSlUoRcOH9LreptLS0NK08CiLpdItMGRkZMXr0aEaNGsW6desICgrin3/+YeXKlXTu3Bk7OztatmzJsWPHCA4O5siRIwwaNEg9KfJtaOu8rq6uHD16lPv376tXCXm5asm/WVtbU7FiRTZs2KDuYHt5eXHhwgVu3bqlMdJdqlQp9u/fz8mTJ7l+/Tp9+/bl4cOHGV739OnT3Llzh8ePH5OamsqAAQN48uQJHTt25OzZswQFBbF371569uyZoYP+OoaGhlhYWGg8clpakpVff95M7yHd8WpYkxJl3Zi8cDyPHkZyZM8x9T7/2zyP9j1frf87esYwmrRtyPgBU4iLicPW3gZbexsMjdKX4CvsUojeQ7tTtmJpnIs44dWwJpMXfMv5U34EXg/KkCG3rV66kQHD+lC/sRely5Xkp/9N4WH4I/btOqLeZ/32pXTt3UH9fMT4gXxcvQqFizpTulxJRowfyCc1q/Ln1t3qfewcbClXoTQuxdM/+JRxL0W5CqWxtHp/S+tFrvodqw6NsWxdH4MSRXGaMgAdY0Oitu0HwHnWcOyH91Dvb9u3PaY1K6Nf1AmDEkWx6dUay5b1iP7zMAAqY0Psh3XHqFIZ9Ao5YFS+JM4zhqDnaEv07mOZRcgVx1ftpp5PK9wbVMWpTFE6zOlP9MOnXN33atKv94ZvqdHt1Sotx1b8TbWOn1G1rRcOJQrRelovDEwMObfFV72Pmb0lzu4u2Lmkz7twKlMUZ3cXjC1ffQC2KmSLs7sL1oXs0NHRwdndBWd3FwxMcm8icOLhP9Cv0Qi9avXS19Zu/w0qAyOSTqcvW2jUZRgGzbur9zdo/BW6ZSujsnVEp0gJjLoNR8fagaRTe1+d8+B29CrXRr96I1R2zujX/gK9CtVIOr4r165DG+LiXnDjVhA3bqX/XXE/7CE3bgXxIDzvf1jYs3InrX3aUaXBxxQtU4z+cwYTFfGEc/teTeQet3EyDbs3UT83NDHCxd0VF3dXAOyLOuLi7optoVdzTkwtzXBxd6VIqfS/a5zdCuPi7ppna8VlImXWpLxEZGnChAno6ekxceJEwsLCcHZ2pl+/fpiYmHD06FFGjx5NmzZteP78OYULF6Z+/fpYWLx9h0Nb550yZQp9+/alRIkSJCQkEBMTw8GDBzO9aU2dOnXw8/NTd7ptbGxwd3fn4cOHlCnzasb5+PHjuX37No0aNcLExISvv/6aVq1a8ezZqxrXESNG0L17d9zd3Xnx4gXBwcG4urpy4sQJRo8eTcOGDUlISMDFxYXGjRtr1LsrZe3ijRiZGDPux5GYW5jhd+YygzqNIDHhVdlMEddCWP1r3ed2PVoDsHz7Qo1zfTd4Ojs37yY5KZlqtT3p2KcdxiZGPAyL4NDfvqyct/b9XNR/LF+4FhNTY6bNHo+FpTnnTvvRs8NAjWss5loEa1sr9XNbOxt+WjwFe0c7YqJjuHEtgB7tBmisgtKpx5cMHtVX/XzTzpUAjBo4iW2/vappz03Pdx0lwsYC+8Fd0bW3JuH6bUJ7TyQlMgoA/UL2kPaqaEHHxAin775Bz8mOtPhEEm7f5f6In3i+62j6DimpGJQoQpHW36JrY0nK02jiL98ipONIEgPf3xJ6R5buwMDYkLYz+mBkYcKdszdZ2X0myQlJ6n1sXRwxtXk1/8N/5z+Y2ljQcOiXmNtbEXY9hJXdZxLzr4lt1Ts34PMhX6qff7PlOwA2jVjC+a3pP4OGw9rh+eWrD9xDd80EYOlXU7j9z/Vcud7ki8dIMLPEsGmX9Jvj3LtN3JKJ6mUAVdb26PzrfVQZm2H0lQ8qC2vS4mJIvRtI3LyRGuUkyZdOEb/5fxg2aIdh26/TJ1+umk7K7Wv/ffk85cqNAHr5vJpvMmth+vrVLZs0YNr44UrFypEdS3/H0MSIPjP6Y2Jhyq1z15nZbSpJ//q9dSzmhLn1q3/P3CqWYMKm79XPu05MX2/dd8shlo1I/zu26ucf02/2q/kpgxanz83ZNvc3ts3blKvXJLRLlVZQx/CF+H/bt29n/PjxXLuWt/+xeRuezlmvp11QPE2KVTpCrtpp7fT6nfK51UlvX3aWX0xo8VzpCLnOaOICpSPkqu5V83anXhs2hvye66/RvNgXWjnPjtCdWjlPXiIj3aLAMzMzy3QioxBCCCG0S5YMzJp0ukWB93J9byGEEEIIpUinWwghhBBCaEVBnQSpDdLpFkIIIYQQWiFTBbOm/PIJQgghhBBCFHAy0i2EEEIIIbRCbgOfNel0CyGEEEIIrZDVS7ImnW4hhBBCCKEVMpEya1LTLYQQQgghPghPnjyhc+fOWFhYYGVlRe/evYmJicl2fx8fH8qUKYOxsTHFihVj0KBBGnekzikZ6RZCCCGEEFqR11cv6dy5Mw8ePGD//v0kJSXRs2dPvv76azZu3Jjp/mFhYYSFhfHTTz/h7u5OSEgI/fr1IywsjK1bt77Ra0unWwghhBBCaEVeLi+5fv06e/bs4ezZs3h6egKwcOFCmjZtyk8//UShQoUyHFOhQgW2bdumfl6iRAmmTZtGly5dSE5ORk8v511pKS8RQgghhBB5SkJCAtHR0RqPhISEdzrnqVOnsLKyUne4ARo0aICOjg6nT5/O8XmePXuGhYXFG3W4QTrdQgghhBBCS9K09N+MGTOwtLTUeMyYMeOdsoWHh+Pg4KDRpqenh42NDeHh4Tk6x+PHj5k6dSpff/31G7++dLqFEEIIIYRWpKalaeUxduxYnj17pvEYO3Zspq85ZswYVCpVto8bN26887VFR0fTrFkz3N3d+e677974eKnpFkIIIYQQeYqhoSGGhoY52nf48OH06NEj233c3NxwcnIiIiJCoz05OZknT57g5OSU7fHPnz+ncePGmJub8/vvv6Ovr5+jbP8mnW4hhBBCCKEVSkyjtLe3x97e/rX7Va9enaioKM6fP0/VqlUBOHToEKmpqXzyySdZHhcdHU2jRo0wNDTkr7/+wsjI6K1ySnmJEEIIIYTQilTStPLIDeXKlaNx48Z4e3tz5swZTpw4wcCBA/nqq6/UK5fcv3+fsmXLcubMGSC9w92wYUNiY2NZuXIl0dHRhIeHEx4eTkpKyhu9vox0CyGEEEKID8KGDRsYOHAg9evXR0dHh7Zt27JgwQL19qSkJG7evElcXBwAFy5cUK9sUrJkSY1zBQcH4+rqmuPXlk63EEIIIYTQiry8TjeAjY1NljfCAXB1ddW4wU/dunW1dsMf6XQLIYQQQgityOt3pFSSdLqFEEIIIYRW5PWRbiWp0uQjiRD5lp5BYaUj5Lrpzp8pHSFXPVAlKx0h191Ni1M6Qq4LSohUOkKuK2fo8Pqd8rG152crHSHX6du55fprVCtURyvnORPmq5Xz5CUy0i2EEEIIIbQiTUa6sySdbiGEEEIIoRVSQJE1WadbCCGEEEKIXCYj3UIIIYQQQitkImXWpNMthBBCCCG0QspLsiblJUIIIYQQQuQyGekWQgghhBBaIeUlWZNOtxBCCCGE0ApZMjBrUl4ihBBCCCFELpORbiGEEEIIoRWpMpEyS9LpFkIIIYQQWiHlJVmTTrcQQgghhNAKGenOmtR0CyGEEEIIkctkpFsIIYQQQmiFlJdkTTrdQgghhBBCK6S8JGtSXiKEEEIIIUQuk5FuIYQQQgihFVJekjXpdAshhBBCCK2Q8pKsSXmJEEIIIYQQuUxGuoUQQgghhFZIeUnWpNMttOK7777jjz/+wM/PT+koecqdO3coXrw4Fy9epFKlSkrHydR3k0bQu1cnrKwsOHnyHAN8xhIYGJyjY0eNHMD0aeOYv2AFw0dMynSfnX+tp3HjerT5shd//bVXm9EzqNytAdW+boapvSUR10M5MGkd4f63s9y/TNNq1Br+JZZF7Hh65yG+M3/j9mF/9fYmP32NRzsvjWNuH7nE1u6z1M/7Hp+LZVF7jX18Z27i9JIdWrqqjBoPbUf1jvUwsjDlzrmbbBm/ksd3wrM9pmbXhtTr2xxze0vCroeyfdJqQv2DADCxNKXx0HaUqV0Rq8J2xEZGc3nfWXbP2Uz88xfqcxSt6MYXoztR1KM4aWlphPoHsWPGBsKuh+batb7UYVgnGnRsiImFKTfPXWf5t0sIv/Mgy/3LVStPy76tcfMogY2jLT94T+PsvtMa+7Qf0pGazWtjW8iO5KRkbl8O5NcffyHA71ZuX06m+o/qQ+vOzTG3MMf/7CWmj/6J0OB7We7fy6cr9ZrVwbWkCwnxCfifvcz875cQEqT5flSsWp4BY/viUcWdlJRUbl0J4JuOQ0mIT8ztS8rgy2Ed+axjA0wtTLl17garvl2W7ftYtpo7X/RtRXGPElg72jDHewbn9p3R2Ofjxp9Sv3MjinuUwNzanLFNhhJy7U4uX8nbO+d3mdUbt3LtRiCPIp8wf8YE6nvVUDqW1qSlpSodIc+S8hLxwUlMfP//0ORVI0d8w8ABvfhm4Bhq1GpObFwcu3ZuwNDQ8LXHelb9CO8+XfC/dC3LfQYP8ibtPdX3lf3iEz4b35kT839n7RfjeXQ9lPbrR2Nia5Hp/oWqlqL5wgFc3uzLmmbjCdh3ntbLh2JXuojGfreP+LPYc4D6scNnUYZzHZu9VWOfC2v25co1AtTr1wKvno3Z8u0K5rUaT8KLBPqtG4ueoX6Wx1T6ojqtxndl7/ytzG42lrBrIfRdNxaz///ZWDhaY+FozV/Tf2FWw5FsHLGEsnUq8dUP/dTnMDAxpO/asTwNe8zcVuNZ+OV3JMTE03fdOHT0dHPtegFa9WtD0x5fsHzcEsa1HElCXAIT1k9GP5trNjIx5M71YFZMWJblPmHB91kxcRnDGvowvu1oIu5FMH79ZCxsMv+dyU09BnamY+8vmT7qR7o19eZFXDyLf5uDgaFBlsdUqV6JTau3063Z1/RvPwQ9fT2WbJqLkYmRep+KVcuz6Nc5/HPkDF2aeNOlcR9+W72N1NT3PxrZvF9rGvVoxqpxy5jQcjTxcQmMWT8x2/fR0MSIkOt3WD1hedb7GBty8+x1fp25Ljdia92LF/GUKenGt8O/UTqKeM+k0y0AqFu3LoMGDWLUqFHY2Njg5OTEd999p94eFRVFnz59sLe3x8LCgnr16uHvnz4iuGbNGiZPnoy/vz8qlQqVSsWaNWte+5pz5szBw8MDU1NTihYtyjfffENMTIzGPj///DNFixbFxMSE1q1bM2fOHKysrDT2+f7773FwcMDc3Jw+ffowZswYjVHlHj160KpVK6ZNm0ahQoUoU6YMAHfv3qV9+/ZYWVlhY2NDy5YtuXPnjvq45ORkBg0ahJWVFba2towePZru3bvTqlUr9T579uyhVq1a6n2++OILgoKC1NuLFy8OQOXKlVGpVNStW1e9bcWKFZQrVw4jIyPKli3L//73v9f+zLRtkE8fps+Yz44d+7h8+To9eg6mUCFHWrZslO1xpqYmrFu3iH79RxH1NCrTfT76qDxDh/Slz9fDcyF5Rp59mnDpt8Nc2XKUyIAw9o5bTdKLBDza18l8/56NCPa9xJllf/MkMIzjs7fy8ModqnT/XGO/lIQkYh89Uz8SouMynCsx5oXGPkkvEnLlGgHq9GrCvoW/c2X/eR7cCGXjsMVYOFrj0dAzy2Pq9mnGqd8OcWaLLw8D77Pl2xUkvkjkk/Z1AQi/dY81/edy9eAFIkMfEnjqKrt++o3y9augo5v+z4RjicKYWpuzZ84WHt1+QHjAPfbO34qFvRU2he1y7XoBmvVuwbZFmzm7/zQhN+6wcNhcrB1sqNbw0yyPuXjkAr/9tIEze//Jcp/jfx7l8gl/Iu4+5F7AXdZOXYmphSku5Vxz4Sqy18m7PT/PW8uRvccJuB7EBJ+p2Dva8Vnj2lkeM7DTcHZs2sXtm8HcuhbIpMHTcC7ihHvFMup9hk8ZzG8rtrJ60S/cvhlMSFAo+/86RFJi0vu4LA2Ne3/BH4u2cH7/Ge7eCGHJsPlYOdjg2fCTLI/xP3KBLT9t5Nze01nuc/x3X35fsJkrx/2z3CcvqV39YwZ93Z0GdWoqHSVXpJKmlUdBJJ1uobZ27VpMTU05ffo0s2bNYsqUKezfvx+Adu3aERERwe7duzl//jxVqlShfv36PHnyhA4dOjB8+HDKly/PgwcPePDgAR06dHjt6+no6LBgwQKuXr3K2rVrOXToEKNGjVJvP3HiBP369WPw4MH4+fnx+eefM23aNI1zbNiwgWnTpvHDDz9w/vx5ihUrxpIlSzK81sGDB7l58yb79+9n586dJCUl0ahRI8zNzTl27BgnTpzAzMyMxo0bq0fCf/jhBzZs2MDq1as5ceIE0dHR/PHHHxrnjY2NZdiwYZw7d46DBw+io6ND69atSU1N/3rtzJn0r0EPHDjAgwcP2L59uzr3xIkTmTZtGtevX2f69OlMmDCBtWvX5vDdenfFixfD2dmRg4eOq9uio59z5sxFPv2karbHLlwwnd27DnLw0LFMtxsbG7F+3SJ8Bo/j4cNHWs2dGR19XZw8inPn+NVXjWlphBy/SqEqJTM9plCVktw5fkWjLfjopQz7F/20HAPOL6bPoR/5/PseGFmZZTjXJ/2b4+O3hO67vqda32aodHPnr1bbog5YOFhz68RldVv88xeE+AXiWqV0psfo6utSpEJxjWPS0tIIOHEZlyyOATAyNyE+5gWpKem/yxG3w4h5Es0nHT5DV18XfUN9PunwGeEB93hyL/feY4eijlg72HDpXx2quOdxBPjdonSVMtkc+Wb09PX4vFMjYp/FcOdazsqrtKVwsULYO9px+ug5dVvM81iuXLxGRc8KOT6PmbkpAM+iogGwtrOiYtXyPIl8ypodSzlweQcrfl9EpWoVtXsBOfDyffx3x/jF8ziC/AIopcX3USgvLS1NK4+CSGq6hVrFihWZNCm9LrdUqVIsWrSIgwcPYmxszJkzZ4iIiFCXHfz000/88ccfbN26la+//hozMzP09PRwcnLK8esNGTJE/WdXV1e+//57+vXrpx7xXbhwIU2aNGHEiBEAlC5dmpMnT7Jz5071cQsXLqR379707NkTgIkTJ7Jv374MI+ampqasWLECA4P0r2p/+eUXUlNTWbFiBSqVCoDVq1djZWXFkSNHaNiwIQsXLmTs2LG0bt0agEWLFrFr1y6N87Zt21bj+apVq7C3t+fatWtUqFABe/v0Wl9bW1uNn82kSZOYPXs2bdq0AdJHxK9du8ayZcvo3r17jn+G78LJ0QEgQ6f4YcRjnJwcsjyuffsWVK5cgU+rN8tyn9k/TebUqXPs2JF7ZRb/ZmJtjo6eLnGPn2m0xz5+hk0J50yPMbW3Iu5x9H/2j8bU3kr9PNj3EgF7zhF1NwIrF0e8RrWn3dqR/NL6O9L+/+v582v28fDKHeKjYihctRReoztg6mDF4akbtHuRgPn/Z4t5pHmdMY+eqbf9l6m1Bbp6ujz/z8/m+aNnOJQonMUx5jT0acOpXw+q2xJi41n81RR6LR9BQ5/039tHdx6wrNsMdcc8N1g7WAMQ9ThKo/3Z4yis7K3f+fxV63kyZNFIDI0NeRrxlCldJvL86fN3Pu+bsHOwAeDJoyca7ZGPnmDrYJujc6hUKkZMHczF0/4E3Uj/0FCkWPr723d4L+ZOWcTNKwF80a4Jy7bMp13drtnWi2ubpYMVAM/+83v47HEUlln87or8qaCOUmuDjHQLtYoVNUc/nJ2diYiIwN/fn5iYGGxtbTEzM1M/goODNUop3tSBAweoX78+hQsXxtzcnK5duxIZGUlcXPrX9zdv3qRatWoax/z3eU72AfDw8FB3uAH8/f0JDAzE3NxcfT02NjbEx8cTFBTEs2fPePjwoca5dHV1qVpVcwQ4ICCAjh074ubmhoWFBa6urgCEhmY9sSw2NpagoCB69+6t8fP8/vvvs/15JiQkEB0drfF4k9GAjh1bE/Xklvqhr//mn7mLFCnE3NlT6Nbdh4SEzEsovvjicz6rW5NhwzOfWJmf3NjxD4EHLvD45j0C951nW8+fcK5UgqLV3dX7nFuxm7v/XOfRjbv4bTjE4e83UKX75+gavPuYRpWWNZl5dY36oaufu7XTAIZmxnivHs3DwPvsmbdV3a5vqM9Xs/px5/xN5rUez4IvJxJ+8x7eq0ZnW5P7pmq3qsP6a5vUD91crhe/cuoyI5sM4ds2o/HzvcCw/43GwtYyV1+zSZuGnAjar37ovcX/i/81duZwSpZ1Y0y/V//f6eikDyhsW/8nf/22i5tXApg9aQF3gkJp2fGLd37N7NRs5cWqaxvVD109GeMTQv4vEGr6+pr/cKpUKlJTU4mJicHZ2ZkjR45kOOa/9dU5defOHb744gv69+/PtGnTsLGx4fjx4/Tu3ZvExERMTEze6rxZMTU11XgeExND1apV2bAh42jky9HpnGjevDkuLi78/PPPFCpUiNTUVCpUqJDtZM2Xo/A///wzn3yiWcuoq5t1B2PGjBlMnjxZo02lY4ZKN2eTvnbs2MeZMxfVzw3/f4KWo6M94eER6nZHBzv8/K9mOB6gShUPHB3tOXt6j7pNT0+P2rU/ZcA3PTAxK85ndWtRooQLkY+uaxy7ZdPPHD9+mvqft8tR3jcR9/Q5qckpmNhpdpZM7SyJ/c+o8Euxj6IwsbP4z/4WxD6KyvJ1nt19RFxkNNYujoSeyPxnFHYxCF19PSyL2PPkdtarMuTE1QPn+ckvUP1czyD9/1Eze0ui/5XTzN6SsGshmZ4j9mk0KckpmP/nZ2P+n3MAGJoa0XftWBJiXrCq72xSk1PU26q0rIVNYTvmt56g/rC3fvACpvmvpEJDTy7uOPUul6p2dv8ZAi6+Wj1E7/8/vFjZWREV8VTdbmlnxZ1rWa9Mk1MJLxIID3lAeMgDAi7eZOGRpdTv8Dm//2/r6w9+S757j3PlwqvfH/3//3/Rxt6GxxGR6nZbextuXgl47flGTx9G7QY16N16ABEPXn1z9ej/z3X7lma5THBACE6FHd/pGl7n/P4zBGq8j+m/u5Z2lhnex5D3XM4jcldBLQ3RBul0i9eqUqUK4eHh6OnpqUdy/8vAwICUlJRMt2Xm/PnzpKamMnv2bHR00r9w2bx5s8Y+ZcqU4ezZsxpt/33+cp9u3bpluU9mqlSpwqZNm3BwcMDCIvNOq6OjI2fPnsXLK33JuJSUFC5cuKCepBkZGcnNmzf5+eefqV07fbLT8ePHNc7xcnT93z8bR0dHChUqxO3bt+ncufNrs740duxYhg0bptFmbVs2x8fHxMQSExOr0fbgwUPqfVYL///vZJubm1GtWmWWLs98FYBDh47zUeV6Gm0rfp7DzZtB/PjTYlJTU5n14yJWrd6osY//xUMMH/EdO//en+O8byI1KYXwy8G41CxP4L7z6Y0qFS41y3NhbeavGXYhEJea5Tm/6tUyhq61KxB2ITDT/QHMnGwwtjYjNiIqy30cy7uQmpJK7OPMO/tvIiE2noTYeI226IinlK5RQd3JNjQzxqVSSU7+kvl1piSlcO9KMKVrVODKvvSaYZVKRakaFTi+7tW1G5oZ02/dWJITk1nR50eSEzQn2hkYG2SotUxLTYM0UKm096VpfOwLwmNfaLQ9jXiCR82P1LXWxmbGlKpUmn2/7Nba676k0lGhb6C9kfvMxMXGERerOSH30cPHfFK7KreupneyTc1MqFDZnS1rfs/2XKOnD6NeEy+82wwkLFTzQ15Y6AMiHjzCtYSLRruLW1FOHMp6gqk2xMfGEx+ruYzl04gnlK9ZUb2cn7GZMSUqleLAL3syOYPIr+SOlFmTTrd4rQYNGlC9enVatWrFrFmzKF26NGFhYfz999+0bt0aT09PXF1dCQ4Oxs/PjyJFimBubp7tsnMlS5YkKSmJhQsX0rx5c06cOMHSpUs19vHx8cHLy4s5c+bQvHlzDh06xO7du9U12C/38fb2xtPTkxo1arBp0yYuXbqEm5tbttfUuXNnfvzxR1q2bMmUKVMoUqQIISEhbN++nVGjRlGkSBF8fHyYMWMGJUuWpGzZsixcuJCnT5+qX9/a2hpbW1uWL1+Os7MzoaGhjBkzRuN1HBwcMDY2Zs+ePRQpUgQjIyMsLS2ZPHkygwYNwtLSksaNG5OQkMC5c+d4+vRpho71S4aGhhl+pv/+WbyNBQtXMG7sIAICb3Pnzl0mfzeSsLCH/Pnnq87Yvj2b+OPP3fxvyRpiYmK5evWmxjniYuOIjHyqbn/48FGmkydD797nzp2775Q3O+dW7Kbp7L6EXwrmgX8Qnr0ao29iyOUtvgA0ndOXmPCnHJ2V/uHu3Oq9dNz0LR97NyHokB/lmlfHycONvWNWAaBvYkjNIW24ufsMsY+eYeXiSN2xX/H0zkOCj14C0idjOlcqQeip6yTGvKBw1VJ8NqEz134/kekqJ9rgu2o3n/u05tGdcJ7cjaDJ8PZEP3zK5X2vJuH13zCey3vPqjvVR1b8TafZ/bl7+TYhfoHU6d0UAxNDTv//z8bQzJh+68dhYGTAL0MWY2RujJG5MQAxkdGkpaZx8/hlmo/rTNupvTi2Zg86OjrU79+S1JQUAk9lPuqvLX+v/Iu2Pu15EBxGxN2HfDW8M08jnnBm36uO46SNUzm99x/2rP0bACMTI5xcX9XzOxZ1xNW9ODFRz3kc9hhDY0PaDmzP2QNneBrxBAtrCxp3b4aNoy0n/z6eIUNu2/jzZvoM6U7o7XvcDw3jm9HePHr4mMN7Xk1WXrplPod3H2XTqm1AeklJk9afM7THGGJj4rC1T68Nj3keo16De+3/NtJvZG9uXQvg5pUAmrdvimtJF0b2Gf/er3HPyp209mlHePADHt19SLvhnYiKeMK5f62fPm7jZM7t/Yd9a9M/UBmaGOHk+mo+jH1RR1zcXYmJiiEy7DEAppZm2BW2w9ox/fqd3dJr2aMeRfEsm2+ulBIX94LQe2Hq5/fDHnLjVhCWFuY4ZzOfRuR/0ukWr6VSqdi1axfffvstPXv25NGjRzg5OeHl5YWjY/pXlG3btmX79u189tlnREVFsXr1anr06JHlOT/66CPmzJnDDz/8wNixY/Hy8mLGjBkaI9Y1a9Zk6dKlTJ48mfHjx9OoUSOGDh3KokWv1knu3Lkzt2/fZsSIEcTHx9O+fXt69OihXjUkKyYmJhw9epTRo0fTpk0bnj9/TuHChalfv7565Hv06NGEh4fTrVs3dHV1+frrr2nUqJG6BERHR4fffvuNQYMGUaFCBcqUKcOCBQs0lgXU09NjwYIFTJkyhYkTJ1K7dm2OHDlCnz59MDEx4ccff2TkyJGYmpri4eGhMbn0ffjxp/9hamrC0v/NwsrKghMnztKseReNem03Nxfs7Gzea663cWPnaYxtLag1rG36zXGuhbCl2yz1ZEmLQnbqyY8AYecD2Dnof9Qe0Y7aI9vz9E44v389l8e30ieXpaWkYl+2KOXb1sLIwpSYh0+5c+wyx2ZvJSUxGYCUxGTKNa9OzSFt0DXU59ndR5xbuYdzK7Q/AvvSoaV/YWBsSPsZ3hhbmBB89ibLus/UGJm2c3HE1MZc/dxv5ynMbCxoPLQdFvZW3L8ewrLuM4n5/9H4IhWK41q5FADjj87XeL0ptXx4eu8REUFhrOj9I40Gt2XI71NJTU3j/tU7LOs+I0OZirb9sXQ7hiZG9J0xAFMLU26cu8b33b4j6V/X7FjMCQvrV99alahYksmbpquf95jYB4DDWw6yeMR8UlNTKVyyCHW+rIeFtQXPo6IJ8g9kQrsx3AvIvQ+HWVmzaAPGJsaM/2kU5hZm+J25xICOw0lMeFWqVtS1MFY2r8qE2vdIn9C64vfFGueaOHgaOzalT/re+PNmDA0NGD55EJbWFty6Gkj/DkO4F3L/PVyVph1Lf8fQxIg+M/pjYmHKrXPXmdltaob30fxf76NbxRJM2PS9+nnXib0A8N1yiGUjFgJQ9fOP6Td7kHqfQYvTJ99vm/sb2+ZtytVrehtXbgTQy2e0+vmshelrkLds0oBp49/PEqu5Se5ImTVVmhTfiHzE29ubGzducOxY5kvVAXz++ec4OTmxfv16rb52amoq5cqVo3379kydOlWr535begaZrz5RkEx3/kzpCLnqgSpZ6Qi57m5a7oz65yVBCZGv3ymfK2dYsEdh156frXSEXKdvl/23wNrgaJnzssfsPHx2QyvnyUtkpFvkaT/99BOff/45pqam7N69m7Vr12rcRCYuLo6lS5eqR6B//fVXDhw4oF5f/F2EhISwb98+6tSpQ0JCAosWLSI4OJhOnTq987mFEEII8WGRTrfIFRs2bKBv376ZbnNxceHq1ZzVgJ45c4ZZs2bx/Plz3NzcWLBgAX369FFvf1n6Mm3aNOLj4ylTpgzbtm2jQYMG73wNOjo6rFmzhhEjRpCWlkaFChU4cOAA5cqVe+dzCyGEEAWRrNOdNSkvEbni+fPnPHz4MNNt+vr6uLi4ZLpNvBkpL8n/pLykYJDykvxPyku0w84i6zvdvonH0bdev1M+IyPdIleYm5tjbm7++h2FEEIIIT4A0ukWQgghhBBaIet0Z0063UIIIYQQQiukajlr2ruNmBBCCCGE+KClkqaVR2558uQJnTt3xsLCAisrK3r37k1MTEyOjk1LS6NJkyaoVCr++OOPN35t6XQLIYQQQogPQufOnbl69Sr79+9n586dHD16lK+//jpHx86bN++d7gQt5SVCCCGEEEIr8nJ5yfXr19mzZw9nz57F09MTgIULF9K0aVN++uknChUqlOWxfn5+zJ49m3PnzuHs7PxWry8j3UIIIYQQQitS09K08khISCA6OlrjkZCQ8E7ZTp06hZWVlbrDDdCgQQN0dHQ4ffp0lsfFxcXRqVMnFi9ejJOT01u/vnS6hRBCCCFEnjJjxgwsLS01HjNmzHinc4aHh+PgoLnevJ6eHjY2NoSHh2d53NChQ6lRowYtW7Z8p9eX8hIhhBBCCKEVaVqaBDl27FiGDRum0WZoaJjpvmPGjOGHH37I9nzXr19/qxx//fUXhw4d4uLFi291/L9Jp1sIIYQQQmiFttbpNjQ0zLKT/V/Dhw+nR48e2e7j5uaGk5MTERERGu3Jyck8efIky7KRQ4cOERQUhJWVlUZ727ZtqV27NkeOHMlRRpBOtxBCCCGEyMfs7e2xt7d/7X7Vq1cnKiqK8+fPU7VqVSC9U52amsonn3yS6TFjxoyhT58+Gm0eHh7MnTuX5s2bv1FO6XQLIYQQQgityMurl5QrV47GjRvj7e3N0qVLSUpKYuDAgXz11VfqlUvu379P/fr1WbduHdWqVcPJySnTUfBixYpRvHjxN3p9mUgphBBCCCG0Ik1L/+WWDRs2ULZsWerXr0/Tpk2pVasWy5cvV29PSkri5s2bxMXFaf21ZaRbCCGEEEJ8EGxsbNi4cWOW211dXV87Wv+2o/nS6RZCCCGEEFqRl8tLlCadbiGEEEIIoRXS6c6adLqFEEIIIYRWSJc7azKRUgghhBBCiFymSpPvAYQQOZCQkMCMGTMYO3Zsjm9YkN/INeZ/Bf36QK6xoPgQrlFokk63ECJHoqOjsbS05NmzZ1hYWCgdJ1fINeZ/Bf36QK6xoPgQrlFokvISIYQQQgghcpl0uoUQQgghhMhl0ukWQgghhBAil0mnWwiRI4aGhkyaNKlAT/iRa8z/Cvr1gVxjQfEhXKPQJBMphRBCCCGEyGUy0i2EEEIIIUQuk063EEIIIYQQuUw63UIIIYQQQuQy6XQLIYQQQgiRy6TTLYQQQgghRC7TUzqAEEIoLSAggMOHDxMREUFqaqrGtokTJyqUSjuSkpIwNjbGz8+PChUqKB0nVwUGBhIUFISXlxfGxsakpaWhUqmUjqU1qampBAYGZvp76uXlpVAq7UhKSqJx48YsXbqUUqVKKR1HiFwhnW4hxAft559/pn///tjZ2eHk5KTRSVOpVPm+062vr0+xYsVISUlROkquiYyMpEOHDhw6dAiVSkVAQABubm707t0ba2trZs+erXTEd/bPP//QqVMnQkJC+O9KvyqVKt+/v/r6+ly6dEnpGO/F+vXrWbp0KcHBwZw6dQoXFxfmzZtH8eLFadmypdLxRC6S8hIhRLasra2xsbHJ8LC1taVw4cLUqVOH1atXKx3zrX3//fdMmzaN8PBw/Pz8uHjxovpx4cIFpeNpxbfffsu4ceN48uSJ0lFyxdChQ9HT0yM0NBQTExN1e4cOHdizZ4+CybSnX79+eHp6cuXKFZ48ecLTp0/Vj4Lyvnbp0oWVK1cqHSNXLVmyhGHDhtG0aVOioqLUH5asrKyYN2+esuFErpOb4wghsjV37lymTZtGkyZNqFatGgBnzpxhz549DB06lODgYNavX8/ChQvx9vZWOO2bs7CwwM/PDzc3N6Wj5JrKlSsTGBhIUlISLi4umJqaamzP7x8unJyc2Lt3Lx999BHm5ub4+/vj5ubG7du3qVixIjExMUpHfGempqb4+/tTsmRJpaPkGh8fH9atW0epUqWoWrVqht/TOXPmKJRMe9zd3Zk+fTqtWrXS+F29cuUKdevW5fHjx0pHFLlIykuEENk6fvw433//Pf369dNoX7ZsGfv27WPbtm1UrFiRBQsW5MtOd7t27di3b1+G6ytIWrVqpXSEXBUbG6sxwv3SkydPCswttj/55BMCAwMLdKf7ypUrVKlSBYBbt25pbCsotfnBwcFUrlw5Q7uhoSGxsbEKJBLvk4x0CyGyZWZmhp+fX4Z/7AMDA6lUqRIxMTEEBQVRsWLFfPOPxoIFC9R/jo2NZc6cOTRr1gwPDw/09fU19h00aND7jifeUNOmTalatSpTp07F3NycS5cu4eLiwldffUVqaipbt25VOuJb+XeNc1BQEOPHj2fkyJGZ/p5WrFjxfccTb8Hd3Z0ZM2bQsmVLjZHuhQsXsnr16nz/rZPInox0CyGyZWNjw44dOxg6dKhG+44dO7CxsQHSO67m5uZKxHsrc+fO1XhuZmaGr68vvr6+Gu0qlarAdLqjoqLYunUrQUFBjBw5EhsbGy5cuICjoyOFCxdWOt47mTVrFvXr1+fcuXMkJiYyatQorl69ypMnTzhx4oTS8d5apUqVUKlUGhMne/Xqpf7zy20FYSLlvxXkVWiGDRvGgAEDiI+PJy0tjTNnzvDrr78yY8YMVqxYoXQ8kcuk0y2EyNaECRPo378/hw8fVtd0nz17ll27drF06VIA9u/fT506dZSM+UaCg4OVjvBeXbp0iQYNGmBpacmdO3fw9vbGxsaG7du3Exoayrp165SO+E4qVKjArVu3WLRoEebm5sTExNCmTRsGDBiAs7Oz0vHe2of2exoZGUn79u05fPhwgV2Fpk+fPhgbGzN+/Hji4uLo1KkThQoVYv78+Xz11VdKxxO5TMpLhBCvdeLECRYtWsTNmzcBKFOmDD4+PtSoUUPhZNqXkpLC5cuXcXFxwdraWuk4WtGgQQOqVKnCrFmzNL7SPnnyJJ06deLOnTtKRxSvcfToUWrUqIGenuZYWXJyMidPnsz363QDdOvWjYiICFasWEG5cuXUv6d79+5l2LBhXL16VemIWhUXF0dMTAwODg5KRxHviXS6hRAftCFDhuDh4UHv3r1JSUnBy8uLU6dOYWJiws6dO6lbt67SEd+ZpaUlFy5coESJEhqd7pCQEMqUKUN8fLzSEd9JVus7q1QqjIyMKFasWL6fUKmrq8uDBw8ydNAiIyNxcHAoEOUlH8IqNPXq1WP79u1YWVlptEdHR9OqVSsOHTqkTDDxXkh5iRAix+Lj40lMTNRos7CwUCiNdmzdupUuXboA6XXqd+7c4caNG6xfv55vv/02X9cEv2RoaEh0dHSG9lu3bmFvb69AIu16WfsMqOuf/10DrK+vT4cOHVi2bBlGRkaKZHxXWdU1R0ZGZlhaL7/6EFahOXLkSIa/QyH979Zjx44pkEi8T9LpFkJkKy4ujlGjRrF582YiIyMzbM/vI2yPHz/GyckJgF27dtGuXTtKly5Nr169mD9/vsLptKNFixZMmTKFzZs3A+kd0tDQUEaPHk3btm0VTvfufv/9d0aPHs3IkSM11pKfPXs2kyZNIjk5mTFjxjB+/Hh++uknhdO+mTZt2gDp71mPHj00Op8pKSlcunSpwJR51a5dm3Xr1jF16lQg/ZpTU1OZNWsWn332mcLp3s2/v425du0a4eHh6ucpKSns2bMn309oFq8nnW4hRLZGjhzJ4cOHWbJkCV27dmXx4sXcv3+fZcuWMXPmTKXjvTNHR0euXbuGs7Mze/bsYcmSJUD6hw1dXV2F02nH7Nmz+fLLL3FwcODFixfUqVOH8PBwqlevzrRp05SO986mTZvG/PnzadSokbrNw8ODIkWKMGHCBM6cOYOpqSnDhw/Pd51uS0tLIH2k29zcHGNjY/U2AwMDPv3003y5Pn5mCuoqNPDq2xiVSkW9evUybDc2NmbhwoUKJBPvk3S6hRDZ2rFjB+vWraNu3br07NmT2rVrU7JkSVxcXNiwYQOdO3dWOuI76dmzJ+3bt8fZ2RmVSkWDBg0AOH36NGXLllU4nXZYWlqyf/9+jh8/zqVLl4iJiaFKlSrqa83vXk58/S8XFxcuX74MpHd6Hjx48L6jvbPVq1cD4OrqyogRIwpMKUlmCuoqNJC+Ek1aWhpubm6cOXNGo6zLwMAABweHAvMhX2RNJlIKIbJlZmbGtWvXKFasGEWKFGH79u1Uq1aN4OBgPDw8CsTkpq1bt3L37l3atWtHkSJFAFi7di1WVla0bNlS4XTvLjQ0FEdHxwx1sWlpady9e5dixYoplEw7KleuzEcffcTy5csxMDAAICkpCW9vb/z9/bl48SInTpygS5cuH9wyfPlJaGgoRYsWzbR2PTQ0NN//ngohI91CiGy5ubkRHBxMsWLFKFu2LJs3b6ZatWrs2LEjwwz8/OrLL7/M0Na9e3cFkuQOV1dXypUrx19//UWJEiXU7RERERQvXjzf1+UvXryYFi1aUKRIEfWdGS9fvkxKSgo7d+4E4Pbt23zzzTdKxnwnlStXzrQz+nKFlpIlS9KjR498XftcvHjxLFdoKQi/p/927do1QkNDM0yqbNGihUKJxPsgnW4hRLZ69uyJv78/derUYcyYMTRv3pxFixaRlJTEnDlzlI6nFbGxsfj6+mb6j2BBuSNluXLlqFatGps3b6Z+/frq9oLwZWeNGjUIDg5mw4YN3Lp1C4B27drRqVMn9Z1Su3btqmTEd9a4cWOWLFmCh4eHxk2qLl26RI8ePbh27RoNGjRg+/bt+fbbmaxWaImJicm3q8781+3bt2ndujWXL1/WuNvoy+suSB8sREZSXiKEeCMhISGcP3+ekiVLqkcV87OLFy/StGlT4uLiiI2NxcbGhsePH2NiYoKDgwO3b99WOuI7e7nG84YNGxg7diyzZs1i0KBBPHz4kEKFChWYf+gL8uiht7c3xYoVY8KECRrt33//PSEhIfz8889MmjSJv//+m3PnzimU8u0MGzYMgPnz5+Pt7a2xbGBKSgqnT59GV1c330+mBGjevDm6urqsWLGC4sWLc+bMGSIjI9WTfGvXrq10RJGLpNMthPig1a1bl9KlS7N06VIsLS3x9/dHX1+fLl26MHjwYPWSbfmZjo4O4eHhODg4sHv3bjp27Ei7du2YOHEirq6u+b7Tndno4b9HTPP79UH6ZNiXH3b/LTAwkKpVq/Ls2TNu3LjBxx9/zPPnzxVK+XZelsT4+vpSvXp1dV0+pE8yfDmJtFSpUkpF1Bo7OzsOHTpExYoVsbS05MyZM5QpU4ZDhw4xfPhwLl68qHREkYukvEQIkcGCBQtyvG9+L7/w8/Nj2bJl6OjooKurS0JCAm5ubsyaNYvu3bsXiE73vzVp0oSTJ0/SokULzpw5o3QcrRg8eDDFixfn4MGDFC9enNOnT/PkyZN8uURgVoyMjDh58mSGTvfJkyfVpRepqan5sgzj8OHDQHop2/z58/P9Dbeyk5KSoi55srOzIywsjDJlyuDi4sLNmzcVTidym3S6hRAZzJ07N0f7qVSqfN/p1tfXR0dHBwAHBwdCQ0MpV64clpaW3L17V+F02lGnTh2N0UN3d3dOnz5NmzZtCkRN96lTpzh06BB2dnbqD0+1atVixowZDBo0qECMHvr4+NCvXz/Onz/Pxx9/DKTXdK9YsYJx48YBsHfvXipVqqRgynfzcnnEgqxChQr4+/tTvHhxPvnkE2bNmoWBgQHLly/Hzc1N6Xgil0l5iRDig9awYUN69OhBp06d8Pb25tKlSwwaNIj169fz9OlTTp8+rXRE8RrW1tZcuHCB4sWLU6JECVasWMFnn31GUFAQHh4exMXFKR1RKzZs2MCiRYvUI6JlypTBx8eHTp06AfDixQv1aib51blz59i8eXOmtfnbt29XKJX27N27l9jYWNq0aUNgYCBffPEFt27dwtbWlk2bNmV64xxRcEinWwjxRlJSUtQ3I7G2tlY6zjs7d+4cz58/57PPPiMiIoJu3bpx8uRJSpUqxapVq/joo4+UjvhWoqOj1V/TR0dHZ7tvfv86v3bt2gwfPpxWrVrRqVMnnj59yvjx41m+fDnnz5/nypUrSkcUOfDbb7/RrVs3GjVqxL59+2jYsCG3bt3i4cOHtG7dusCOhD958gRra+tMV24RBYt0uoUQ2RoyZAgeHh707t2blJQUvLy8OHXqFCYmJuzcuZO6desqHfG9OHHiBJ6enhluMJNXvVyxxMHBAR0dnUz/QX854TC/TzT8kEYPExMTiYiIIDU1VaO9INw4pmLFivTt25cBAwZgbm6uLsPo27cvzs7OTJ48WemIQrwT6XQLIbJVpEgR/vjjDzw9Pfnjjz8YMGAAhw8fZv369Rw6dKhALOOVExYWFvj5+eWbuktfX19q1qyJnp4evr6+2e5bp06d95Tq/Sloo4cBAQH06tWLkydParQXlA9OAKamply9ehVXV1dsbW05cuQIHh4eXL9+nXr16vHgwQOlI76z1q1bv/YmR506daJMmTIKpBO5TSZSCiGy9fjxY5ycnADYtWsX7dq1o3Tp0vTq1Yv58+crnO79yW/jE//uSBfETvXr2NjYKB1Bq3r06IGenh47d+7E2dm5wHyY+Ddra2v1coeFCxfmypUreHh4EBUVVWDq8i0tLfnjjz+wsrKiatWqAFy4cIGoqCgaNmzIpk2b+OGHHzh48CA1a9ZUOK3QNul0CyGy5ejoyLVr13B2dmbPnj0sWbIEgLi4OHR1dRVOJ3Ji9erVmJmZ0a5dO432LVu2EBcXV6BueV9Q+fn5cf78ecqWLat0lFzj5eXF/v378fDwoF27dgwePJhDhw6xf/9+jbuo5mdOTk506tSJRYsWqVdNSk1NZfDgwZibm/Pbb7/Rr18/Ro8ezfHjxxVOK7RNR+kAQoi8rWfPnrRv354KFSqgUqlo0KABAKdPny7QHYCCZMaMGdjZ2WVod3BwYPr06QokEm/K3d2dx48fKx0jVy1atIivvvoKgG+//ZZhw4bx8OFD2rZty8qVKxVOpx0rV65kyJAh6g43pN+8ysfHh+XLl6NSqRg4cKBM/i2gZKRbCJGt7777jgoVKnD37l3atWunnkioq6vLmDFjFE4nciI0NJTixYtnaHdxcSE0NFSBROJN/fDDD4waNYrp06fj4eGBvr6+xvb8vgINaJYE6ejoFMi/X5KTk7lx4walS5fWaL9x44a6Lt/IyKhAlg8J6XQLIXLgyy+/zND235IEDw8Pdu3aRdGiRd9XrPcqP/8j6ODgwKVLl3B1ddVo9/f3x9bWVplQ4o28/Ibpv2UWBWkiZbdu3fjss8/w8vKiRIkSSsfJFV27dqV3796MGzdO4yZH06dPp1u3bkD6JOjy5csrGVPkEul0CyG04s6dOyQlJSkdI9fkt4mU/9axY0cGDRqEubk5Xl5eQPo/7IMHD1Z/nS/ytpe3Si/IDAwMmDFjBr1796Zw4cLUqVOHunXrUqdOHUqVKqV0PK2YO3cujo6OzJo1i4cPHwLp82aGDh3K6NGjgfQbdjVu3FjJmCKXyJKBQgiteLmubn5ZUu+lSZMm0atXL1xcXJSOkmsSExPp2rUrW7ZsQU8vfawlNTWVbt26sXTpUo1bxAuhtPv373P06FF8fX3x9fXl1q1bODs7c+/ePaWjadXLm1YVhNIgkTMykVII8UH7888/KVGiBPXr12fjxo0kJCQoHUnrDAwM2LRpEzdu3GDDhg1s376doKAgVq1aJR3ufOTYsWN06dKFGjVqcP/+fQDWr19f4Fa5sLa2xtbWFmtra6ysrNDT08Pe3l7pWFqTnJzMgQMH+PXXX9Vla2FhYcTExCicTOQ26XQLIT5ofn5+nD17lvLlyzN48GCcnJzo378/Z8+eVTqa1pUuXZp27drxxRdfFOiR/YJo27ZtNGrUCGNjYy5cuKD+cPjs2bMCswLNuHHjqFGjBra2towZM4b4+HjGjBlDeHg4Fy9eVDqeVoSEhODh4UHLli0ZMGAAjx49AtInyo4YMULhdCK3SXmJEEIr8mt5yb8lJSWxY8cOVq9ezd69eylbtiy9e/emR48eWFpaKh3vjQwbNoypU6diamrKsGHDst13zpw57ymVeFuVK1dm6NChdOvWTeP/tYsXL9KkSRPCw8OVjvjOdHR0sLe3Z+jQobRp0ybDCh8FQatWrTA3N2flypXY2tqq38cjR47g7e1NQECA0hFFLpKJlEII8f/S0tJISkoiMTGRtLQ0rK2tWbRoERMmTODnn3+mQ4cOSkfMsYsXL6onthaUUcIP2c2bN9WTYP/N0tKSqKio9x8oF1y8eBFfX1+OHDnC7NmzMTAwUE+mrFu3boHohB87doyTJ09mKOtydXVVlwyJgks63UKIHIuPj8fIyCjTbcuWLcPR0fE9J9KO8+fPs3r1an799VcMDQ3p1q0bixcvpmTJkgAsXLiQQYMG5atO979Xu/gQVr4o6JycnAgMDMyw7OPx48fz9bdL//bRRx/x0UcfMWjQICB9Scu5c+cyYMAAUlNTC8SyiFldx7179zA3N1cgkXifpKZbCJGt1NRUpk6dSuHChTEzM+P27dsATJgwQeMucZ06dcLU1FSpmG/Nw8ODTz/9lODgYFauXMndu3eZOXOmusMN6Uvuvay9zI969erF8+fPM7THxsbSq1cvBRKJN+Xt7c3gwYM5ffo0KpWKsLAwNmzYwIgRI+jfv7/S8bQiLS2NCxcuMGfOHFq0aMFnn33GL7/8goeHh7ojnt81bNiQefPmqZ+rVCpiYmKYNGkSTZs2VS6YeC+kplsIka0pU6awdu1apkyZgre3N1euXMHNzY1NmzYxb948Tp06pXTEdzJ16lR69epF4cKFlY6Sa3R1dXnw4AEODg4a7Y8fP8bJyYnk5GSFkomcSktLY/r06cyYMYO4uDgADA0NGTFiBFOnTlU4nXZYW1sTExPDRx99pC4rqV27NlZWVkpH05q7d+/SuHFj0tLSCAgIwNPTk4CAAOzs7Dh69GiG/0dFwSKdbiFEtkqWLMmyZcuoX7++xgSuGzduUL16dZ4+fap0RJGF6OhodW16QECAxrJrKSkp7NixgzFjxhAWFqZgSvE6KSkpnDhxgooVK2JiYkJgYCAxMTG4u7tjZmamdDyt+fvvv6ldu3aBX7c6OTmZTZs24e/vT0xMDFWqVKFz584YGxsrHU3kMqnpFkJk6/79+xqlFi+lpqbm2ztQvm41j3/Lzyt7WFlZoVKpUKlUmU5CU6lUTJ48WYFk4k3o6urSsGFDrl+/jpWVFe7u7kpH0qpixYrRokULWrRogYmJidJxck1SUhJly5Zl586ddO7cmc6dOysdSbxn0ukWQmTL3d2dY8eOZVjXeevWrVSuXFmhVO9m9erVVKhQAT09PVQqVZa3eH9544r86vDhw6SlpVGvXj22bduGjY2NepuBgQEuLi4UKlRIwYQipypUqMDt27cpXry40lG0bv369fz111/qdasbNWpEixYtaNasWYEqLdHX1yc+Pl7pGEJBUl4ihMjWn3/+Sffu3Rk7dixTpkxh8uTJ3Lx5k3Xr1rFz504+//xzpSO+MR0dHcLDw3FwcMDNzY2zZ89ia2urdKxcExISQrFixfL9h4gP2Z49exg7dixTp06latWqGSYtF5SSjKtXr/LXX3/x559/4ufnR40aNdSj4AVhlZbp06dz69YtVqxYgZ6ejHt+aKTTLYR4rWPHjjFlyhSNGsSJEyfSsGFDpaO9FVtbW3bt2sUnn3yCjo4ODx8+LFC3mf6vPXv2YGZmRq1atQBYvHgxP//8M+7u7ixevBhra2uFE4rX0dF5tdjYvz88paWloVKpCsRyev8VHh7Ojh07+Ouvvzh48CBubm788MMPNGvWTOlob61169YcPHgQMzMzPDw8Mnx42r59u0LJxPsgnW4hxAfn66+/Zu3atRQqVIjQ0FCKFCmCrq5upvu+XCIxP/Pw8OCHH36gadOmXL58GU9PT4YPH87hw4cpW7Ysq1evVjqieA1fX99st9epU+c9JVFGXFwce/fuxdzcnAYNGigd56317Nkz2+3y/2LBJp1uIUS2zp49S2pqKp988olG++nTp9HV1cXT01OhZO9mz549BAYGMmjQIKZMmZLljSkGDx78npNpn5mZGVeuXMHV1ZXvvvuOK1eusHXrVi5cuEDTpk0LxC3EC7rQ0FCKFi2aoUQoLS2Nu3fvUqxYMYWSaU9WS1tGRkbi4OBQIEfzxYdFCoqEENkaMGAAo0aNytDpvn//Pj/88AOnT59WKNm7ady4MZB+N8rBgwcX6LvBGRgYqNd2PnDgAN26dQPAxsaG6OhoJaOJHCpevHimHdInT55QvHjxAtEhzWoMMCEhIcNt04XIj6TTLYTI1rVr16hSpUqG9sqVK3Pt2jUFEmnXh/B1bq1atRg2bBg1a9bkzJkzbNq0CYBbt25RpEgRhdOJnHhZu/1fMTExGBkZKZBIexYsWACk16qvWLFCY+3xlJQUjh49StmyZZWKp1WVK1fO9H1UqVQYGRlRsmRJevTowWeffaZAOpHbpNMthMiWoaEhDx8+zLBywIMHD2T2fT6xaNEivvnmG7Zu3cqSJUvUd9/cvXu3esRf5E0v15RXqVRMmDBBYx3rlJQUTp8+TaVKlRRKpx1z584F0j9YLF26VGN+hYGBAa6urixdulSpeFrVuHFjlixZgoeHB9WqVQPSS/guXbpEjx49uHbtGg0aNGD79u20bNlS4bRC26SmWwiRrY4dO/LgwQP+/PNPLC0tAYiKiqJVq1Y4ODiwefNmhRMKUXC9HPH09fWlevXqGmUWLzukI0aMoFSpUkpF1JrPPvuM7du3F+jVdLy9vSlWrBgTJkzQaP/+++8JCQnh559/ZtKkSfz999+cO3dOoZQit0inWwiRrfv37+Pl5UVkZKT6Zjh+fn44Ojqyf/9+ihYtqnBC8Sbi4+NJTEzUaCsoazwXZD179mT+/PnyXuVzlpaWnD9/PsNdfgMDA6latSrPnj3jxo0bfPzxxzx//lyhlCK3yHfDQohsFS5cmEuXLrFhwwb8/f0xNjamZ8+edOzYEX19faXjiRyIjY1l9OjRbN68mcjIyAzbC8IkvILuv3MPoqOjOXToEGXLli0w9c4pKSmsWbOGgwcPEhERQWpqqsb2Q4cOKZRMe4yMjDh58mSGTvfJkyfVtfmpqan5vk5fZE463UKI1zI1NeXrr79WOoZ4S6NGjeLw4cMsWbKErl27snjxYu7fv8+yZcuYOXOm0vFEDrRv3x4vLy8GDhzIixcv8PT05M6dO6SlpfHbb7/Rtm1bpSO+s8GDB7NmzRqaNWtGhQoVCuQdVH18fOjXrx/nz5/n448/BtJrulesWMG4ceMA2Lt3b76v0xeZk/ISIUSOXLt2jdDQ0AylCS1atFAokcipYsWKsW7dOurWrYuFhQUXLlygZMmSrF+/nl9//ZVdu3YpHVG8hpOTE3v37uWjjz5i48aNTJo0CX9/f9auXcvy5cu5ePGi0hHfmZ2dHevWraNp06ZKR8lVGzZsYNGiRdy8eROAMmXK4OPjQ6dOnQB48eKFejUTUbBIp1sIka3bt2/TunVrLl++jEqlUq+l+3IUSkoT8j4zMzOuXbtGsWLFKFKkCNu3b6datWoEBwfj4eFBTEyM0hHFaxgbG3Pr1i2KFi1Kt27dKFSoEDNnziQ0NBR3d/cC8R4WKlSII0eOULp0aaWjCJErdJQOIITI2wYPHkzx4sWJiIjAxMSEq1evcvToUTw9PTly5IjS8UQOuLm5ERwcDEDZsmXVK87s2LEDKysrBZOJnCpatCinTp0iNjaWPXv20LBhQwCePn1aYEZEhw8fzvz587O8SY4Q+Z3UdAshsnXq1CkOHTqEnZ0dOjo66OjoUKtWLWbMmMGgQYMKxNfaBV3Pnj3x9/enTp06jBkzhubNm7No0SKSkpKYM2eO0vFEDgwZMoTOnTtjZmaGi4sLdevWBeDo0aN4eHgoG05Ljh8/zuHDh9m9ezfly5fPMFF7+/btCiXTHmtr6xzdHKdnz54KpBO5TTrdQohspaSkqG+RbmdnR1hYGGXKlMHFxUVdkyjytqFDh6r/3KBBA27cuKFetqxixYoKJhM59c033/DJJ58QGhrK559/jo5O+hfVbm5ufP/99wqn0w4rKytat26tdIxcNXHiRKZNm0aTJk3UN8c5c+YMe/bsYcCAAQQHB9O/f3+Sk5Px9vZWOK3QNqnpFkJkq3bt2gwfPpxWrVrRqVMnnj59yvjx41m+fDnnz5/nypUrSkcUQvw/CwsL/Pz8MtxBVuQNbdu25fPPP6dfv34a7cuWLWPfvn1s27aNhQsXsnz5ci5fvqxQSpFbpNMthMjW3r17iY2NpU2bNgQGBvLFF19w69YtbG1t2bRpE/Xq1VM6osjEggULcrzvoEGDcjGJeJ/Mzc3x9/fPt53u5ORkjhw5QlBQEJ06dcLc3JywsDAsLCwwMzNTOt47MzMzw8/PL9Ob41SqVImYmBiCgoKoWLEisbGxCqUUuUXKS4QQ2WrUqJH6zyVLluTGjRs8efIky9pEkTfMnTs3R/upVCrpdIs8ISQkhMaNGxMaGkpCQgKff/455ubm/PDDDyQkJLB06VKlI74zGxsbduzYoVHyBemTmm1sbID0m1m9LOkTBYt0uoUQb+zlPw4i73q5WokQ+cXgwYPx9PTE398fW1tbdXvr1q0LTH3zhAkT6N+/P4cPH1bXdJ89e5Zdu3apP1Ts37+fOnXqKBlT5BLpdAshshUbG8vMmTOzvDXz7du3FUom3sZ/11kXIq84duwYJ0+exMDAQKPd1dWV+/fvK5RKu7y9vXF3d2fRokXq1VjKlCmDr68vNWrUANKXThQFk3S6hRDZ6tOnD76+vnTt2hVnZ2fprOVTK1euZO7cuQQEBABQqlQphgwZQp8+fRROJrQpP///mZqamunNtu7du1egyi1q1qxJzZo1lY4hFCCdbiFEtnbv3s3ff/8t/0jkYxMnTmTOnDn4+PhQvXp1IH399aFDhxIaGsqUKVMUTii0JT+vjdCwYUPmzZvH8uXLgfQPEDExMUyaNKlA3ho+Pj6exMREjTYLCwuF0oj3QVYvEUJkq3jx4uzatYty5copHUW8JXt7exYsWEDHjh012n/99Vd8fHx4/PixQsnEm0pMTCQ4OJgSJUqgp5dx3Oz48eN8/PHHGBoaKpDu3dy7d49GjRqRlpZGQEAAnp6eBAQEYGdnx9GjR3FwcFA64juLi4tj1KhRbN68mcjIyAzbMxvpFwWH3AZeCJGtqVOnMnHiROLi4pSOIt5SUlISnp6eGdqrVq1KcnKyAonEm4qLi6N3796YmJhQvnx5QkNDAfDx8WHmzJnq/WrVqpUvO9wARYoUwd/fn3HjxjF06FAqV67MzJkzuXjxYoHocAOMHDmSQ4cOsWTJEgwNDVmxYgWTJ0+mUKFCrFu3Tul4IpfJSLcQIluVK1cmKCiItLQ0XF1dM9ya+cKFCwolEznl4+ODvr5+hlu+jxgxghcvXrB48WKFkomcGjx4MCdOnGDevHk0btyYS5cu4ebmxp9//sl3333HxYsXlY4ocqBYsWKsW7eOunXrYmFhwYULFyhZsiTr16/n119/ZdeuXUpHFLlIarqFENlq1aqV0hGEFqxcuZJ9+/bx6aefAnD69GlCQ0Pp1q0bw4YNU+/33465yBv++OMPNm3axKeffqoxWbJ8+fIEBQUpmEy7wsLCOH78eKYrJRWE9eSfPHmivnGRhYUFT548AdK/oejfv7+S0cR7IJ1uIUSWkpOTUalU9OrViyJFiigdR7ylK1euUKVKFQB1B83Ozg47OzuuXLmi3i8/r3xR0D169CjTEovY2NgC876tWbOGvn37YmBggK2trcZ1FZSbOLm5uREcHEyxYsUoW7Ysmzdvplq1auzYsQMrKyul44lcJuUlQohsmZubc/nyZVxdXZWOIsQHy8vLi3bt2uHj44O5uTmXLl2iePHi+Pj4EBAQwJ49e5SO+M6KFi1Kv379GDt2LDo6BXPK2dy5c9HV1WXQoEEcOHCA5s2bk5aWRlJSEnPmzGHw4MFKRxS5SEa6hRDZqlevHr6+vtLpzqeSkpIwNjbGz8+PChUqKB1HvKXp06fTpEkTrl27RnJyMvPnz+fatWucPHkSX19fpeNpRVxcHF999VWB7XADGrd/b9CgATdu3OD8+fOULFmSihUrKphMvA/S6RZCZKtJkyaMGTOGy5cvU7VqVUxNTTW2t2jRQqFkIif09fUpVqyYLEWWz9WqVQs/Pz9mzpyJh4cH+/bto0qVKpw6dQoPDw+l42lF79692bJlC2PGjFE6ynvj4uKCi4tLhnYPDw927dpF0aJFFUglcouUlwghspXdqJNKpZLOXD6wcuVKtm/fzvr167GxsVE6jhCZSklJ4YsvvuDFixd4eHhkWCnpQ5rka25ujr+/v3rSpSgYZKRbCJGt/64gIPKfRYsWERgYSKFChXBxccnwbYUs+5j3NWjQgC5dutCmTZsCe9fCGTNmsHfvXsqUKQOQYSKlEPmddLqFEKKAk2Uf87/y5cszduxYvvnmG5o1a0aXLl1o2rRphtHg/Gz27NmsWrWKHj16KB1FiFwh5SVCiGxNmTIl2+0TJ058T0mE+LClpqZy4MABNm7cyO+//46uri5ffvklnTt3pk6dOkrHe2dOTk4cO3aMUqVKKR1FcVJeUjBJp1sIka3KlStrPE9KSiI4OBg9PT1KlCghpQn5RFRUFFu3biUoKIiRI0diY2PDhQsXcHR0pHDhwkrHE28oPj6eHTt2MG3aNC5fvlwg5lbMmDGDBw8esGDBAqWjKE463QWTlJcIIbKV2e2lo6Oj6dGjB61bt1YgkXhTly5dokGDBlhaWnLnzh28vb2xsbFh+/bthIaGsm7dOqUjijcQHh7Ob7/9xi+//MKlS5eoVq2a0pG04syZMxw6dIidO3dSvnz5DKUz27dvVyiZENpRcBfDFELkGgsLCyZPnsyECROUjiJyYNiwYfTo0YOAgACMjIzU7U2bNuXo0aMKJhM5FR0dzerVq/n8888pWrQoS5YsoUWLFgQEBPDPP/8oHU8rrKysaNOmDXXq1MHOzg5LS0uNR0Gwbt06EhISMrQnJiZqfPhdtmwZjo6O7zOaeA+kvEQI8VaOHz9O8+bNefr0qdJRxGtYWlpy4cIFSpQoofG1dUhICGXKlCE+Pl7piOI1jI2Nsba2pkOHDnTu3BlPT0+lI4m3oKury4MHD3BwcNBoj4yMxMHBoUCUCYmsSXmJECJb/62vTEtL48GDB6xfv54mTZoolEq8CUNDQ6KjozO037p1C3t7ewUSiTf1119/Ub9+/QJ9t0aA5ORkjhw5QlBQEJ06dcLc3JywsDAsLCwwMzNTOt47S0tLy3T5w3v37hWY0XyRNRnpFkJkq3jx4hrPdXR0sLe3p169eowdOxZzc3OFkomc6tOnD5GRkWzevBkbGxsuXbqErq4urVq1wsvLi3nz5ikdUQhCQkJo3LgxoaGhJCQkcOvWLdzc3Bg8eDAJCQksXbpU6YhvrXLlyqhUKvz9/Slfvjx6eq/GPFNSUggODqZx48Zs3rxZwZQit8lItxAig0uXLlGhQgV0dHQIDg5WOo54R7Nnz+bLL7/EwcGBFy9eUKdOHcLDw6levTrTpk1TOp7IQpUqVTh48CDW1tbqTltWCsIqQoMHD8bT0xN/f39sbW3V7a1bt8bb21vBZO/u5Vr5fn5+NGrUSGPU3sDAAFdXV9q2batQOvG+SKdbCJFB5cqV1XWHbm5unD17VuMfQZG/WFpasn//fo4fP86lS5eIiYmhSpUqNGjQQOloIhstW7bE0NAQ+DBucHTs2DFOnjyJgYGBRrurqyv3799XKJV2TJo0CUi/lg4dOmhMaBYfDikvEUJkYGtry65du/jkk0/Q0dHh4cOHUvsrhMhV1tbWnDhxAnd3d40Jv8ePH6dt27Y8fPhQ6YhaIWvmf7hkpFsIkUHbtm2pU6cOzs7OqFQqPD090dXVzXTf27dvv+d04m0cPHiQuXPncv36dQDKlSvHkCFDZLQ7n7h79y4qlYoiRYoA6Wtab9y4EXd3d77++muF02lHw4YNmTdvHsuXLwdApVIRExPDpEmTaNq0qcLptEPWzP+wyUi3ECJTe/bsITAwkEGDBjFlypQsJ0wOHjz4PScTb+p///sfgwcP5ssvv6R69eoA/PPPP2zdupW5c+cyYMAAhROK16lduzZff/01Xbt2JTw8nNKlS1OhQgUCAgLw8fFh4sSJSkd8Z/fu3aNRo0akpaUREBCAp6cnAQEB2NracuzYsQzL7OVH9evXp2rVqsyaNUtjNP/kyZN06tSJO3fuKB1R5CLpdAshstWzZ08WLFjw2lVK7t27R6FChQr8kmb5UZEiRRgzZgwDBw7UaF+8eDHTp0/P9/WyHwJra2v++ecfypQpw4IFC9i0aRMnTpxg37599OvXr8B845ScnMymTZvw9/dXzz3o3LkzxsbGSkfTClkz/8Mm5SVCiGytXr06R/u5u7vj5+eHm5tbLicSbyoqKorGjRtnaG/YsCGjR49WIJF4U0lJSepJlQcOHKBFixYAlC1blgcPHigZTWtmzJiBo6MjvXr1onPnzur2VatW8ejRowLxuypr5n/YZEhKCKEV8qVZ3tWiRQt+//33DO1//vknX3zxhQKJxJsqX748S5cu5dixY+zfv1/9ISosLKzArCy0bNkyypYtm6H95bUXBC1atGDKlCkkJSUB6XXroaGhjB49WpYM/ADISLcQQhRw7u7uTJs2jSNHjmjUdJ84cYLhw4dr3HV00KBBSsUU2fjhhx9o3bo1P/74I927d+ejjz4C0u9UWa1aNYXTaUd4eDjOzs4Z2u3t7QvMaH5Wa+Z/+umnsmb+B0BquoUQWvHv+kSRt/z3rqJZUalUBaY2uCBKSUkhOjoaa2trddudO3cwMTEpEJMMS5UqxaRJk+jSpYtG+/r165k0aVKB+t08ceKERt26rCL0YZCRbiGEKODkrqL534sXL0hLS1N3uENCQvj9998pV64cjRo1Ujiddnh7ezNkyBCSkpKoV68ekL7U5ahRoxg+fLjC6bTn4MGDHDx4kIiICFJTU7lx4wYbN24E0uvXRcElnW4hhFZkd4tqIcS7admyJW3atKFfv35ERUXxySefoK+vz+PHj5kzZw79+/dXOuI7GzlyJJGRkXzzzTckJiYCYGRkxOjRoxk7dqzC6bRj8uTJTJkyBU9PT/V9EMSHQ8pLhBBaIeUleVevXr2y3S6ja3mfnZ0dvr6+lC9fnhUrVrBw4UIuXrzItm3bmDhxovqmRwVBTEwM169fx9jYmFKlSqlXbSkInJ2dmTVrFl27dlU6ilCArF4ihMhWr169eP78eYb22NhYjc7ctWvXcHFxeZ/RRA49ffpU4xEREcGhQ4fYvn07UVFRSscTORAXF6deK3/fvn20adMGHR0dPv30U0JCQhROp11mZmZ8/PHHVKhQoUB1uAESExOpUaOG0jGEQmSkWwiRLV1dXR48eJBhotbjx49xcnIiOTlZoWTiXaSmptK/f39KlCjBqFGjlI4jXqNixYr06dOH1q1bU6FCBfbs2UP16tU5f/48zZo1Izw8XOmIIgdGjx6NmZkZEyZMUDqKUIDUdAshMhUdHU1aWhppaWk8f/4cIyMj9baUlBR27dpVIFZM+FDp6OgwbNgw6tatK53ufGDixIl06tSJoUOHUq9ePfXSj/v27aNy5coKpxM5FR8fz/Llyzlw4AAVK1ZEX19fY/ucOXMUSibeB+l0CyEyZWVlhUqlQqVSUbp06QzbVSoVkydPViCZ0JagoCD5piKf+PLLL6lVqxYPHjxQr9ENUL9+fVq3bq1gMvEmLl26RKVKlQC4cuWKxjaZVFnwSXmJECJTvr6+pKWlUa9ePbZt24aNjY16m4GBAS4uLhQqVEjBhCKnhg0bpvE8LS2NBw8e8Pfff9O9e3cWLVqkUDLxpgIDAwkKCsLLywtjY2PS0tKksyZEPiGdbiFEtkJCQihWrJj8w56PffbZZxrPdXR0sLe3p169evTq1Qs9PfnSM6+LjIykffv2HD58GJVKRUBAAG5ubvTq1Qtra2tmz56tdEQhxGvI6iVCiGxdv36dEydOqJ8vXryYSpUq0alTJ54+fapgMpFTf//9Nzt37uTw4cMcPnyYlStX8umnn+Li4iId7nxi6NCh6OvrExoaiomJibq9Q4cO7NmzR8FkQoickk63ECJbI0eOJDo6GoDLly8zbNgwmjZtSnBwcIayBZE3tWrVivXr1wMQFRXFp59+yuzZs2nVqhVLlixROJ3IiX379vHDDz9QpEgRjfZSpUoVuCUDhSiopNMthMhWcHAw7u7uAGzbto3mzZszffp0Fi9ezO7duxVOJ3LiwoUL1K5dG4CtW7fi6OhISEgI69atY8GCBQqnEzkRGxurMcL90pMnTwrcWtZCFFTS6RZCZMvAwIC4uDgADhw4QMOGDQGwsbFRj4CLvO1DurFKQVW7dm3WrVunfq5SqUhNTWXWrFkZavaFEHmTFPMJIbJVq1Ythg0bRs2aNTlz5gybNm0C4NatWxm+6hZ5U8mSJfnjjz9o3bo1e/fuZejQoQBERERgYWGhcDqRE7NmzaJ+/fqcO3eOxMRERo0axdWrV3ny5InGnAshRN4lI91CiGwtWrQIPT09tm7dypIlSyhcuDAAu3fvpnHjxgqnEzkxceJERowYgaurK5988oncWCUfqlChArdu3aJWrVq0bNmS2NhY2rRpw8WLFylRooTS8YQQOSBLBgohxAcgPDxcfWMVHZ308ZYzZ85gYWFB2bJlFU4nspOUlETjxo1ZunQppUqVUjqOEOItSadbCJFj8fHxJCYmarRJeYIQuc/e3p6TJ09Kp1uIfEzKS4QQ2YqNjWXgwIE4ODhgamqKtbW1xkMIkfu6dOnCypUrlY4hhHgHMpFSCJGtUaNGcfjwYZYsWULXrl1ZvHgx9+/fZ9myZcycOVPpeEJ8EJKTk1m1ahUHDhygatWqmJqaamyfM2eOQsmEEDkl5SVCiGwVK1aMdevWUbduXSwsLLhw4QIlS5Zk/fr1/Prrr+zatUvpiEIUeNktC6hSqTh06NB7TCOEeBsy0i2EyNaTJ09wc3MD0uu3nzx5AqQvJdi/f38lownxwTh8+LDSEYQQ70hquoUQ2XJzcyM4OBiAsmXLsnnzZgB27NiBlZWVgsmE+DDdvXuXu3fvKh1DCPGGpNMthMhWz5498ff3B2DMmDEsXrwYIyMjhg4dysiRIxVOJ8SHITk5mQkTJmBpaYmrqyuurq5YWloyfvx4kpKSlI4nhMgBqekWQryRkJAQzp8/T8mSJalYsaLScYT4IPTv35/t27czZcoU9c2NTp06xXfffUerVq1YsmSJwgmFEK8jnW4hhBAij7O0tOS3336jSZMmGu27du2iY8eOPHv2TKFkQoickomUQogMFixYkON9Bw0alItJhBAAhoaGuLq6ZmgvXrw4BgYG7z+QEOKNyUi3ECKD4sWL52g/lUrF7du3czmNEGLKlCncuHGD1atXY2hoCEBCQgK9e/emVKlSTJo0SeGEQojXkU63ECLHXv51oVKpFE4ixIeldevWHDx4EENDQz766CMA/P39SUxMpH79+hr7bt++XYmIQojXkPISIcRrrVy5krlz5xIQEABAqVKlGDJkCH369FE4mRAfBisrK9q2bavRVrRoUYXSCCHehox0CyGyNXHiRObMmYOPj4/GqgmLFi1i6NChTJkyReGEQgghRN4nnW4hRLbs7e1ZsGABHTt21Gj/9ddf8fHx4fHjxwolE0IIIfIPKS8RQmQrKSkJT0/PDO1Vq1YlOTlZgURCfHgiIyOZOHEihw8fJiIigtTUVI3tT548USiZECKnpNMthMhW165dWbJkCXPmzNFoX758OZ07d1YolRAflq5du3YXvqoAAAuXSURBVBIYGEjv3r1xdHSUycxC5EPS6RZCZDBs2DD1n1UqFStWrGDfvn18+umnAJw+fZrQ0FC6deumVEQhPijHjh3j+PHj6pVLhBD5j3S6hRAZXLx4UeN51apVAQgKCgLAzs4OOzs7rl69+t6zCfEhKlu2LC9evFA6hhDiHchESiGEECKPO3v2LGPGjGHixIlUqFABfX19je0WFhYKJRNC5JSMdAshhBB5nJWVFdHR0dSrV0+jPS0tDZVKRUpKikLJhBA5JZ1uIYQQIo/r3Lkz+vr6bNy4USZSCpFPSXmJEEIIkceZmJhw8eJFypQpo3QUIcRb0lE6gBBCCCGy5+npyd27d5WOIYR4BzLSLYQQQuRxW7Zs4bvvvmPkyJF4eHhkmEhZsWJFhZIJIXJKOt1CCCFEHqejk/GLaZVKJRMphchHZCKlEEIIkccFBwcrHUEI8Y5kpFsIIYQQQohcJiPdQgghRD4QFBTEvHnzuH79OgDu7u4MHjyYEiVKKJxMCJETsnqJEEIIkcft3bsXd3d3zpw5Q8WKFalYsSKnT5+mfPny7N+/X+l4QogckPISIYQQIo+rXLkyjRo1YubMmRrtY8aMYd++fVy4cEGhZEKInJJOtxBCCJHHGRkZcfnyZUqVKqXRfuvWLSpWrEh8fLxCyYQQOSXlJUIIIUQeZ29vj5+fX4Z2Pz8/HBwc3n8gIcQbk4mUQgghRB7n7e3N119/ze3bt6lRowYAJ06c4IcffmDYsGEKpxNC5ISUlwghhBB5XFpaGvPmzWP27NmEhYUBUKhQIUaOHMmgQYNQqVQKJxRCvI50uoUQQoh85Pnz5wCYm5srnEQI8Sak0y2EEELkccHBwSQnJ2eYSBkQEIC+vj6urq7KBBNC5JhMpBRCCCHyuB49enDy5MkM7adPn6ZHjx7vP5AQ4o3JSLcQQgiRx1lYWHDhwgVKliyp0R4YGIinpydRUVHKBBNC5JiMdAshhBB5nEqlUtdy/9uzZ89ISUlRIJEQ4k3JSLcQQgiRxzVv3hxjY2N+/fVXdHV1AUhJSaFDhw7Exsaye/duhRMKIV5HOt1CCCFEHnft2jW8vLywsrKidu3aABw7dozo6GgOHTpEhQoVFE4ohHgd6XQLIYQQ+UBYWBiLFi3C398fY2NjKlasyMCBA7GxsVE6mhAiB6TTLYQQQhQQ33zzDVOmTMHOzk7pKEKI/5BOtxBCCFFAWFhY4Ofnh5ubm9JRhBD/IauXCCGEEAWEjKMJkXdJp1sIIYQQQohcJp1uIYQQQgghcpl0uoUQQgghhMhl0ukWQgghhBAil0mnWwghhCggunTpgoWFhdIxhBCZkCUDhRBCiHzg2LFjLFu2jKCgILZu3UrhwoVZv349xYsXp1atWkrHE0K8hox0CyGEEHnctm3baNSoEcbGxly8eJGEhAQAnj17xvTp0xVOJ4TICel0CyGEEHnc999/z9KlS/n555/R19dXt9esWZMLFy4omEwIkVPS6RZCCCHyuJs3b+Ll5ZWh3dLSkqioqPcfSAjxxqTTLYQQQuRxTk5OBAYGZmg/fvy43PJdiHxCOt1CCCFEHuft7c3gwYM5ffo0KpWKsLAwNmzYwIgRI+jfv7/S8YQQOaCndAAhhBBCZG/MmDGkpqZSv3594uLi8PLywtDQkBEjRuDj46N0PCFEDsiSgUIIIUQ+kZiYSGBgIDExMbi7u2NmZqZ0JCFEDkl5iRBCCJHH9erVi+fPn2NgYIC7uzvVqlXDzMyM2NhYevXqpXQ8IUQOyEi3EEIIkcfp6ury4MEDHBwcNNofP36Mk5MTycnJCiUTQuSU1HQLIYQQeVR0dDRpaWmkpaXx/PlzjIyM1NtSUlLYtWtXho64ECJvkk63EEIIkUdZWVmhUqlQqVSULl06w3aVSsXkyZMVSCaEeFNSXiKEEELkUb6+vqSlpVGvXj22bduGjY2NepuBgQEuLi4UKlRIwYRCiJySTrcQQgiRx4WEhFCsWDFUKpXSUYQQb0lWLxFCCCHyOBcXF44fP06XLl2oUaMG9+/fB2D9+vUcP35c4XRCiJyQTrcQQgiRx23bto1GjRphbGzMhQsXSEhIAODZs2dMnz5d4XRCiJyQTrcQQgiRx33//fcsXbqUn3/+GX19fXV7zZo1uXDhgoLJhBA5JZ1uIYQQIo+7efMmXl5eGdotLS2Jiop6/4GEEG9MOt1CCCFEHufk5ERgYGCG9uPHj+Pm5qZAIiHEm5JOtxBCCJHHeXt7M3jwYE6fPo1KpSIsLIwNGzYwYsQI+vfvr3Q8IUQOyM1xhBBCiDxuzJgxpKamUr9+feLi4vDy8sLQ0JARI0bg4+OjdDwhRA7IOt1CCCFEHpaSksKJEyeoWLEiJiYmBAYGEhMTg7u7O2ZmZkrHE0LkkHS6hRBCiDzOyMiI69evU7x4caWjCCHektR0CyGEEHlchQoVuH37ttIxhBDvQEa6hRBCiDxuz549jB07lqlTp1K1alVMTU01tltYWCiUTAiRU9LpFkIIIfI4HZ1XX0yrVCr1n9PS0lCpVKSkpCgRSwjxBmT1EiGEECKPO3z4sNIRhBDvSEa6hRBCCCGEyGUykVIIIYTI41avXs2WLVsytG/ZsoW1a9cqkEgI8aak0y2EEELkcTNmzMDOzi5Du4ODA9OnT1cgkRDiTUmnWwghhMjjQkNDM12j28XFhdDQUAUSCSHelHS6hRBCiDzOwcGBS5cuZWj39/fH1tZWgURCiDclnW4hhBAij+vYsSODBg3i8OHDpKSkkJKSwqFDhxg8eDBfffWV0vGEEDkgq5cIIYQQeVxiYiJdu3Zly5Yt6Omlr/abmppKt27dWLp0KQYGBgonFEK8jnS6hRBCiHzi1q1b+Pv7Y2xsjIeHBy4uLkpHEkLkkHS6hRBCCCGEyGVyR0ohhBAij0tJSWHNmjUcPHiQiIgIUlNTNbYfOnRIoWRCiJySTrcQQgiRxw0ePJg1a9bQrFkzKlSogEqlUjqSEOINSXmJEEIIkcfZ2dmxbt06mjZtqnQUIcRbkiUDhRBCiDzOwMCAkiVLKh1DCPEOpNMthBBC5HHDhw9n/vz5yJfTQuRfUl4ihBBC5HGtW7fm8OHD2NjYUL58efT19TW2b9++XaFkQoickomUQgghRB5nZWVF69atlY4hhHgHMtIthBBCCCFELpORbiGEECKfePToETdv3gSgTJky2NvbK5xICJFTMpFSCCGEyONiY2Pp1asXzs7OeHl54eXlRaFChejduzdxcXFKxxNC5IB0uoUQQog8btiwYfj6+rJjxw6ioqKIiorizz//xNfXl+HDhysdTwiRA1LTLYQQQuRxdnZ2bN26lbp162q0Hz58mPbt2/Po0SNlggkhckxGuoUQQog8Li7u/9q7Y5VU4ziM489wQJ0jpcBRSBy6h1q6h4YgaHdKJ9f2JlsaAm8idPQCoqHuoCBoCqMaPPNBOOnw8r7C5zP+pmf8Iv55F2m1Wiv3ZrPp7yWwJfzSDQAVd3x8nJ2dndzd3aVerydJPj8/c3Z2lvf390yn05IXAr8R3QBQcY+Pjzk5OcnX11cODw+TJA8PD6nVarm/v0+v1yt5IfAb0Q0AW2CxWGQymeT5+TlJ0u12c3p6mkajUfIyYB2iGwAq7urqKq1WK+fn5//cb29v8/b2lsFgUNIyYF0eUgJAxd3c3OTg4GDl3uv1Mh6PS1gEbEp0A0DFvb6+Zm9vb+W+u7ubl5eXEhYBmxLdAFBx7XY78/l85T6fz7O/v1/CImBTf8oeAAD838XFRfr9fn5+fnJ0dJQkmc1muby89EVK2BIeUgJAxS2XywyHw1xfX+f7+ztJUq/XMxgMMhqNSl4HrEN0A8CW+Pj4yNPTUxqNRjqdTmq1WtmTgDWJbgAAKJiHlAAAUDDRDQAABRPdAABQMNENAAAFE90AAFAw0Q0AAAUT3QAAUDDRDQAABfsLwvYYA+Gw7kA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501" y="978281"/>
            <a:ext cx="8504347" cy="7251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45495" y="378372"/>
            <a:ext cx="5770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HEAT MAP</a:t>
            </a:r>
            <a:endParaRPr lang="en-US" sz="2800" b="1" u="sng" dirty="0"/>
          </a:p>
        </p:txBody>
      </p:sp>
      <p:sp>
        <p:nvSpPr>
          <p:cNvPr id="10" name="Rectangle 9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60375" y="7441324"/>
            <a:ext cx="45372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Concrete strength is highly correlated to cement/water ratio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8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3080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4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52863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7967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Cement/Water Ratio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2154674" y="270569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Cement amount / Water amount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735527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90353" y="385810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Net Aggregate</a:t>
            </a:r>
            <a:endParaRPr lang="en-US" sz="2450" dirty="0"/>
          </a:p>
        </p:txBody>
      </p:sp>
      <p:sp>
        <p:nvSpPr>
          <p:cNvPr id="9" name="Text 4"/>
          <p:cNvSpPr/>
          <p:nvPr/>
        </p:nvSpPr>
        <p:spPr>
          <a:xfrm>
            <a:off x="2090353" y="441504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Coarse Aggregate + Fine Aggregate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291376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674" y="5291376"/>
            <a:ext cx="368212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Interpretability</a:t>
            </a:r>
            <a:endParaRPr lang="en-US" sz="2450" dirty="0"/>
          </a:p>
        </p:txBody>
      </p:sp>
      <p:sp>
        <p:nvSpPr>
          <p:cNvPr id="15" name="Text 8"/>
          <p:cNvSpPr/>
          <p:nvPr/>
        </p:nvSpPr>
        <p:spPr>
          <a:xfrm>
            <a:off x="2175748" y="590796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model insights clearer.</a:t>
            </a:r>
            <a:endParaRPr lang="en-US" sz="1750" dirty="0"/>
          </a:p>
        </p:txBody>
      </p:sp>
      <p:sp>
        <p:nvSpPr>
          <p:cNvPr id="16" name="Rectangle 15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706" y="7696200"/>
            <a:ext cx="18002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44111" y="290936"/>
            <a:ext cx="10137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smtClean="0"/>
              <a:t>Machine Learning Code</a:t>
            </a:r>
            <a:endParaRPr lang="en-US" sz="32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7"/>
          <a:stretch/>
        </p:blipFill>
        <p:spPr>
          <a:xfrm>
            <a:off x="1986454" y="1013591"/>
            <a:ext cx="8182305" cy="72160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04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62911" y="597693"/>
            <a:ext cx="7622619" cy="1494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7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Development &amp; Performance</a:t>
            </a:r>
            <a:endParaRPr lang="en-US" sz="4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911" y="2418158"/>
            <a:ext cx="1086803" cy="13040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67003" y="2635447"/>
            <a:ext cx="2988707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Type</a:t>
            </a:r>
            <a:endParaRPr lang="en-US" sz="2350" dirty="0"/>
          </a:p>
        </p:txBody>
      </p:sp>
      <p:sp>
        <p:nvSpPr>
          <p:cNvPr id="6" name="Text 2"/>
          <p:cNvSpPr/>
          <p:nvPr/>
        </p:nvSpPr>
        <p:spPr>
          <a:xfrm>
            <a:off x="4067003" y="3139320"/>
            <a:ext cx="631852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Linear Regression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911" y="3722250"/>
            <a:ext cx="1086803" cy="13040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67003" y="3939539"/>
            <a:ext cx="2988707" cy="37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Split</a:t>
            </a:r>
            <a:endParaRPr lang="en-US" sz="2350" dirty="0"/>
          </a:p>
        </p:txBody>
      </p:sp>
      <p:sp>
        <p:nvSpPr>
          <p:cNvPr id="9" name="Text 4"/>
          <p:cNvSpPr/>
          <p:nvPr/>
        </p:nvSpPr>
        <p:spPr>
          <a:xfrm>
            <a:off x="4067003" y="4443412"/>
            <a:ext cx="6318528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training, 20% testing data.</a:t>
            </a:r>
            <a:endParaRPr lang="en-US" sz="1700" dirty="0"/>
          </a:p>
        </p:txBody>
      </p:sp>
      <p:sp>
        <p:nvSpPr>
          <p:cNvPr id="16" name="Rectangle 15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9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506718" y="5974697"/>
            <a:ext cx="80246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Baseline Model : 59% accuracy with 8.6 mean absolute error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Fine Tuned Model</a:t>
            </a:r>
            <a:r>
              <a:rPr lang="en-US" sz="2000" dirty="0" smtClean="0"/>
              <a:t>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err="1" smtClean="0"/>
              <a:t>GridSearchCV</a:t>
            </a:r>
            <a:endParaRPr lang="en-US" sz="2000" dirty="0" smtClean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000" dirty="0" smtClean="0"/>
              <a:t>59</a:t>
            </a:r>
            <a:r>
              <a:rPr lang="en-US" sz="2000" dirty="0" smtClean="0"/>
              <a:t>% accuracy with 8.7 mean absolute error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627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8312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4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538418"/>
            <a:ext cx="7825621" cy="7825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2456" y="6088856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30" y="3538418"/>
            <a:ext cx="7825621" cy="78256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631" y="4500682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3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538418"/>
            <a:ext cx="7825621" cy="78256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46745" y="4500682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3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330" y="3538418"/>
            <a:ext cx="7825621" cy="7825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34920" y="6088856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5"/>
          <p:cNvSpPr/>
          <p:nvPr/>
        </p:nvSpPr>
        <p:spPr>
          <a:xfrm>
            <a:off x="793790" y="3282196"/>
            <a:ext cx="300549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Cement-Water Ratio</a:t>
            </a:r>
            <a:endParaRPr lang="en-US" sz="2450" dirty="0"/>
          </a:p>
        </p:txBody>
      </p:sp>
      <p:sp>
        <p:nvSpPr>
          <p:cNvPr id="12" name="Text 6"/>
          <p:cNvSpPr/>
          <p:nvPr/>
        </p:nvSpPr>
        <p:spPr>
          <a:xfrm>
            <a:off x="793790" y="3808214"/>
            <a:ext cx="30054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significant predictor for strength.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4139446" y="2011561"/>
            <a:ext cx="300561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Ratio &amp; Strength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4139446" y="2537579"/>
            <a:ext cx="300561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ratio correlates with increased strength.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537371" y="2374463"/>
            <a:ext cx="2901196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Cement Impact</a:t>
            </a:r>
            <a:endParaRPr lang="en-US" sz="2450" dirty="0"/>
          </a:p>
        </p:txBody>
      </p:sp>
      <p:sp>
        <p:nvSpPr>
          <p:cNvPr id="16" name="Text 10"/>
          <p:cNvSpPr/>
          <p:nvPr/>
        </p:nvSpPr>
        <p:spPr>
          <a:xfrm>
            <a:off x="7537371" y="2900482"/>
            <a:ext cx="2901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influence on strength.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1161633" y="3645098"/>
            <a:ext cx="234422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Superplasticizer</a:t>
            </a:r>
            <a:endParaRPr lang="en-US" sz="2450" dirty="0"/>
          </a:p>
        </p:txBody>
      </p:sp>
      <p:sp>
        <p:nvSpPr>
          <p:cNvPr id="18" name="Text 12"/>
          <p:cNvSpPr/>
          <p:nvPr/>
        </p:nvSpPr>
        <p:spPr>
          <a:xfrm>
            <a:off x="11161633" y="4171117"/>
            <a:ext cx="23442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highly influential.</a:t>
            </a:r>
            <a:endParaRPr lang="en-US" sz="1750" dirty="0"/>
          </a:p>
        </p:txBody>
      </p:sp>
      <p:sp>
        <p:nvSpPr>
          <p:cNvPr id="20" name="Rectangle 19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2858309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</a:t>
            </a:r>
            <a:r>
              <a:rPr lang="en-US" sz="3200" dirty="0" smtClean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89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10516" y="594002"/>
            <a:ext cx="6706314" cy="74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600" b="1" u="sng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</a:t>
            </a:r>
            <a:endParaRPr lang="en-US" sz="6600" b="1" u="sng" dirty="0"/>
          </a:p>
        </p:txBody>
      </p:sp>
      <p:sp>
        <p:nvSpPr>
          <p:cNvPr id="16" name="Rectangle 15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80670" y="2680137"/>
            <a:ext cx="104321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Proper EDA was done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Data was visualized properly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Feature Engineering was done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Outliers were handled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Model was trained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3200" b="1" dirty="0" smtClean="0"/>
              <a:t>59% accuracy was obtained by both baseline and </a:t>
            </a:r>
            <a:r>
              <a:rPr lang="en-US" sz="3200" b="1" dirty="0" err="1" smtClean="0"/>
              <a:t>fine_tuned</a:t>
            </a:r>
            <a:r>
              <a:rPr lang="en-US" sz="3200" b="1" dirty="0" smtClean="0"/>
              <a:t> model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410" y="1058553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Body Fat Classification Using Logistic Regression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4008834"/>
            <a:ext cx="7556421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focuses on predictive modeling to classify individuals into body fat categories using the </a:t>
            </a:r>
            <a:r>
              <a:rPr lang="en-US" sz="1750" dirty="0">
                <a:solidFill>
                  <a:srgbClr val="272525"/>
                </a:solidFill>
                <a:highlight>
                  <a:srgbClr val="E0D7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bodyweight.csv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74012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6" name="Rectangle 5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858309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9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5479"/>
            <a:ext cx="8193881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 &amp; Classification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27207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88881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body composition: Lean, Muscular, or Fat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272076"/>
            <a:ext cx="317313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Classification Criteria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332928" y="388881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Slightly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Fat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693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Muscula</a:t>
            </a:r>
            <a:r>
              <a:rPr lang="en-US" sz="1750" dirty="0" smtClean="0"/>
              <a:t>r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Obese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</a:t>
            </a:r>
            <a:endParaRPr lang="en-US" sz="1750" dirty="0" smtClean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872067" y="327207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872067" y="3888819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measurements used as features</a:t>
            </a:r>
            <a:endParaRPr lang="en-US" sz="1750" dirty="0"/>
          </a:p>
        </p:txBody>
      </p:sp>
      <p:sp>
        <p:nvSpPr>
          <p:cNvPr id="12" name="Rectangle 11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3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7944" y="550426"/>
            <a:ext cx="7748111" cy="137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Preparation: Ensuring Quality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97944" y="2220635"/>
            <a:ext cx="448747" cy="448747"/>
          </a:xfrm>
          <a:prstGeom prst="roundRect">
            <a:avLst>
              <a:gd name="adj" fmla="val 1866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7773" y="2239328"/>
            <a:ext cx="328970" cy="411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346121" y="2289096"/>
            <a:ext cx="274236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346121" y="2751415"/>
            <a:ext cx="709993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E0D7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bodyweight.csv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252 entries, 15 features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97944" y="3469362"/>
            <a:ext cx="448747" cy="448747"/>
          </a:xfrm>
          <a:prstGeom prst="roundRect">
            <a:avLst>
              <a:gd name="adj" fmla="val 1866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773" y="3488055"/>
            <a:ext cx="328970" cy="411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346121" y="3537823"/>
            <a:ext cx="274236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Null Values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346121" y="4000143"/>
            <a:ext cx="709993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missing entries confirmed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7944" y="4718090"/>
            <a:ext cx="448747" cy="448747"/>
          </a:xfrm>
          <a:prstGeom prst="roundRect">
            <a:avLst>
              <a:gd name="adj" fmla="val 1866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773" y="4736783"/>
            <a:ext cx="328970" cy="411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346121" y="4786551"/>
            <a:ext cx="274236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Duplicate Records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346121" y="5248870"/>
            <a:ext cx="709993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duplicate rows identified, ensuring unique data points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7944" y="5966817"/>
            <a:ext cx="448747" cy="448747"/>
          </a:xfrm>
          <a:prstGeom prst="roundRect">
            <a:avLst>
              <a:gd name="adj" fmla="val 18667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773" y="5985510"/>
            <a:ext cx="328970" cy="411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346121" y="6035278"/>
            <a:ext cx="2742367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Types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1346121" y="6497598"/>
            <a:ext cx="709993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features correctly parsed as numeric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97944" y="7040999"/>
            <a:ext cx="774811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is a clean, ready-to-use dataset for subsequent analysis and model training.</a:t>
            </a:r>
            <a:endParaRPr lang="en-US" sz="1550" dirty="0"/>
          </a:p>
        </p:txBody>
      </p:sp>
      <p:sp>
        <p:nvSpPr>
          <p:cNvPr id="21" name="Rectangle 20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2858309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69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615196"/>
            <a:ext cx="7578090" cy="1537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Analysis: Distributions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782955" y="2488525"/>
            <a:ext cx="3677126" cy="3564969"/>
          </a:xfrm>
          <a:prstGeom prst="roundRect">
            <a:avLst>
              <a:gd name="adj" fmla="val 263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4293" y="2719864"/>
            <a:ext cx="3076099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Histograms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14293" y="4032647"/>
            <a:ext cx="3214449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Age: relatively uniform across dataset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800" y="2488525"/>
            <a:ext cx="3677245" cy="3564969"/>
          </a:xfrm>
          <a:prstGeom prst="roundRect">
            <a:avLst>
              <a:gd name="adj" fmla="val 263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5138" y="2719864"/>
            <a:ext cx="3076099" cy="384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 smtClean="0"/>
              <a:t>Heat Map</a:t>
            </a:r>
            <a:endParaRPr lang="en-US" sz="2400" b="1" dirty="0"/>
          </a:p>
        </p:txBody>
      </p:sp>
      <p:sp>
        <p:nvSpPr>
          <p:cNvPr id="10" name="Text 7"/>
          <p:cNvSpPr/>
          <p:nvPr/>
        </p:nvSpPr>
        <p:spPr>
          <a:xfrm>
            <a:off x="4915138" y="3238619"/>
            <a:ext cx="3214568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Visualized relationships between highly correlated features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5138" y="4390549"/>
            <a:ext cx="3214568" cy="14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14293" y="7027307"/>
            <a:ext cx="711541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5" name="Rectangle 14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16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95903" y="567559"/>
            <a:ext cx="7346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162" y="2139088"/>
            <a:ext cx="6901685" cy="558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5903" y="567559"/>
            <a:ext cx="9616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smtClean="0"/>
              <a:t>Histogram</a:t>
            </a:r>
            <a:endParaRPr lang="en-US" sz="32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898634" y="4932919"/>
            <a:ext cx="3894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 smtClean="0"/>
              <a:t>Majority of the data is of lean whereas muscular has minimum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774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554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487" y="2873931"/>
            <a:ext cx="11926014" cy="647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Analysis: Correlations &amp; Outliers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87" y="3804166"/>
            <a:ext cx="471011" cy="4710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66004" y="3915966"/>
            <a:ext cx="259091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Correlation Heatmap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366004" y="4352806"/>
            <a:ext cx="12604909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positive </a:t>
            </a:r>
            <a:r>
              <a:rPr lang="en-US" sz="14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with weight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87" y="6860858"/>
            <a:ext cx="471011" cy="4710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66004" y="6972657"/>
            <a:ext cx="259091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Decision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1366004" y="7409498"/>
            <a:ext cx="12604909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 retained as representative of extreme body types</a:t>
            </a:r>
            <a:endParaRPr lang="en-US" sz="1450" dirty="0"/>
          </a:p>
        </p:txBody>
      </p:sp>
      <p:sp>
        <p:nvSpPr>
          <p:cNvPr id="14" name="Rectangle 13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3425" y="883444"/>
            <a:ext cx="7677150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Implementation &amp; Performance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733425" y="2638425"/>
            <a:ext cx="7677150" cy="4707612"/>
          </a:xfrm>
          <a:prstGeom prst="roundRect">
            <a:avLst>
              <a:gd name="adj" fmla="val 18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1045" y="2646045"/>
            <a:ext cx="7661910" cy="6268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50595" y="2779395"/>
            <a:ext cx="288143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Type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785360" y="2779395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045" y="3272909"/>
            <a:ext cx="7661910" cy="6268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0595" y="3406259"/>
            <a:ext cx="288143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Features Used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785360" y="3406259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anthropometric measurements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1045" y="3899773"/>
            <a:ext cx="7661910" cy="9372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50595" y="4033123"/>
            <a:ext cx="288143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Split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785360" y="4033123"/>
            <a:ext cx="340804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Training, 20% Testing (stratified)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1045" y="4837033"/>
            <a:ext cx="7661910" cy="6268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50595" y="4970383"/>
            <a:ext cx="288143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Overall Accuracy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4785360" y="4970383"/>
            <a:ext cx="3408045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on test set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741045" y="5463897"/>
            <a:ext cx="7661910" cy="9372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785360" y="5597247"/>
            <a:ext cx="340804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741045" y="6401157"/>
            <a:ext cx="7661910" cy="9372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50595" y="6534507"/>
            <a:ext cx="2881432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4785360" y="6534507"/>
            <a:ext cx="340804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considered reasonable for baseline model</a:t>
            </a:r>
            <a:endParaRPr lang="en-US" sz="1650" dirty="0"/>
          </a:p>
        </p:txBody>
      </p:sp>
      <p:sp>
        <p:nvSpPr>
          <p:cNvPr id="23" name="Rectangle 22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98465" y="423088"/>
            <a:ext cx="518122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u="sng" dirty="0" smtClean="0"/>
              <a:t>Machine Learning Code</a:t>
            </a:r>
            <a:endParaRPr lang="en-US" sz="40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28" y="1130974"/>
            <a:ext cx="10058400" cy="70986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0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64480" y="779010"/>
            <a:ext cx="7042428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 smtClean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Development</a:t>
            </a:r>
            <a:endParaRPr lang="en-US" sz="4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480" y="1898793"/>
            <a:ext cx="1134070" cy="22044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5364" y="212560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Baseline Model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4125364" y="265162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provides a solid initial system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4125364" y="315061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 accuracy indicates significant potential for improvement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80" y="4103235"/>
            <a:ext cx="1134070" cy="30320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5364" y="4330049"/>
            <a:ext cx="316075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 smtClean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</a:rPr>
              <a:t>Fine Tuned Model</a:t>
            </a:r>
            <a:endParaRPr lang="en-US" sz="2450" dirty="0"/>
          </a:p>
        </p:txBody>
      </p:sp>
      <p:sp>
        <p:nvSpPr>
          <p:cNvPr id="14" name="Rectangle 13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20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125364" y="4981904"/>
            <a:ext cx="53181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/>
              <a:t>Logistic Regression with hyperparameter have an accuracy of 50%,</a:t>
            </a:r>
            <a:r>
              <a:rPr lang="en-US" sz="2000" dirty="0"/>
              <a:t> </a:t>
            </a:r>
            <a:r>
              <a:rPr lang="en-US" sz="2000" dirty="0" smtClean="0"/>
              <a:t>less than baseline but yet it can be considered ok </a:t>
            </a:r>
            <a:endParaRPr lang="en-US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/>
              <a:t>GridSearchCV</a:t>
            </a:r>
            <a:endParaRPr lang="en-US" sz="2000" dirty="0" smtClean="0"/>
          </a:p>
          <a:p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23951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6238"/>
            <a:ext cx="718280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 from Model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1916787" y="354687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Class Distribution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4072890"/>
            <a:ext cx="42418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'Lean' category most prevalent (45% of dataset)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34783"/>
            <a:ext cx="42418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'Muscular/Average' (35%), 'Fat' (20%)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258" y="2596396"/>
            <a:ext cx="3651885" cy="36518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74231" y="4138851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0083" y="4262795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481304" y="256948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Predictive Power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9481304" y="3095506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'Abdomen circumference' &amp; 'Weight' were most influential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481304" y="3957399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Followed by 'Chest' &amp; 'Hip circumference'</a:t>
            </a:r>
            <a:endParaRPr lang="en-US" sz="17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58" y="2596396"/>
            <a:ext cx="3651885" cy="365188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10393" y="2616756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66246" y="2740700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9481304" y="502336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Misclassifications</a:t>
            </a:r>
            <a:endParaRPr lang="en-US" sz="2450" dirty="0"/>
          </a:p>
        </p:txBody>
      </p:sp>
      <p:sp>
        <p:nvSpPr>
          <p:cNvPr id="16" name="Text 12"/>
          <p:cNvSpPr/>
          <p:nvPr/>
        </p:nvSpPr>
        <p:spPr>
          <a:xfrm>
            <a:off x="9481304" y="5549384"/>
            <a:ext cx="435530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error rate: distinguishing 'Muscular' from 'Fat' individuals</a:t>
            </a:r>
            <a:endParaRPr lang="en-US" sz="17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258" y="2596396"/>
            <a:ext cx="3651885" cy="365188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910393" y="5660827"/>
            <a:ext cx="566976" cy="566976"/>
          </a:xfrm>
          <a:prstGeom prst="roundRect">
            <a:avLst>
              <a:gd name="adj" fmla="val 161115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66246" y="578477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93790" y="65303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successfully captures general trends in body fat classification.</a:t>
            </a:r>
            <a:endParaRPr lang="en-US" sz="1750" dirty="0"/>
          </a:p>
        </p:txBody>
      </p:sp>
      <p:sp>
        <p:nvSpPr>
          <p:cNvPr id="21" name="Rectangle 20"/>
          <p:cNvSpPr/>
          <p:nvPr/>
        </p:nvSpPr>
        <p:spPr>
          <a:xfrm>
            <a:off x="12842543" y="7710985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2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40524" y="1374558"/>
            <a:ext cx="9916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/>
              <a:t>DEPLOYMENT USING STREAMLIT</a:t>
            </a:r>
            <a:endParaRPr lang="en-US" sz="2800" b="1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1040524" y="2806262"/>
            <a:ext cx="1064172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/>
              <a:t>Streamlit</a:t>
            </a:r>
            <a:r>
              <a:rPr lang="en-US" sz="2000" dirty="0"/>
              <a:t> is an open-source Python library that allows developers and data scientists to easily create interactive web applications for machine learning and data analysis.</a:t>
            </a:r>
          </a:p>
          <a:p>
            <a:pPr lvl="1">
              <a:lnSpc>
                <a:spcPct val="150000"/>
              </a:lnSpc>
            </a:pPr>
            <a:r>
              <a:rPr lang="en-US" sz="2000" b="1" dirty="0"/>
              <a:t>Deployment using </a:t>
            </a:r>
            <a:r>
              <a:rPr lang="en-US" sz="2000" b="1" dirty="0" err="1"/>
              <a:t>Streamlit</a:t>
            </a:r>
            <a:r>
              <a:rPr lang="en-US" sz="2000" dirty="0"/>
              <a:t> refers to the process of: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/>
              <a:t>Building a web app</a:t>
            </a:r>
            <a:r>
              <a:rPr lang="en-US" sz="2000" dirty="0"/>
              <a:t> using Python and </a:t>
            </a:r>
            <a:r>
              <a:rPr lang="en-US" sz="2000" dirty="0" err="1"/>
              <a:t>Streamlit</a:t>
            </a:r>
            <a:r>
              <a:rPr lang="en-US" sz="2000" dirty="0"/>
              <a:t> scripts.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/>
              <a:t>Running it locally</a:t>
            </a:r>
            <a:r>
              <a:rPr lang="en-US" sz="2000" dirty="0"/>
              <a:t> using </a:t>
            </a:r>
            <a:r>
              <a:rPr lang="en-US" sz="2000" dirty="0" err="1"/>
              <a:t>streamlit</a:t>
            </a:r>
            <a:r>
              <a:rPr lang="en-US" sz="2000" dirty="0"/>
              <a:t> run your_app.py.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/>
              <a:t>Deploying it online</a:t>
            </a:r>
            <a:r>
              <a:rPr lang="en-US" sz="2000" dirty="0"/>
              <a:t>, for example: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/>
              <a:t>Using </a:t>
            </a:r>
            <a:r>
              <a:rPr lang="en-US" sz="2000" b="1" dirty="0" err="1"/>
              <a:t>Streamlit</a:t>
            </a:r>
            <a:r>
              <a:rPr lang="en-US" sz="2000" b="1" dirty="0"/>
              <a:t> Community Cloud</a:t>
            </a:r>
            <a:r>
              <a:rPr lang="en-US" sz="2000" dirty="0"/>
              <a:t> (free hosting).</a:t>
            </a:r>
          </a:p>
          <a:p>
            <a:pPr marL="1257300" lvl="2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/>
              <a:t>Or platforms like </a:t>
            </a:r>
            <a:r>
              <a:rPr lang="en-US" sz="2000" b="1" dirty="0"/>
              <a:t>Render</a:t>
            </a:r>
            <a:r>
              <a:rPr lang="en-US" sz="2000" dirty="0"/>
              <a:t>, </a:t>
            </a:r>
            <a:r>
              <a:rPr lang="en-US" sz="2000" b="1" dirty="0" err="1"/>
              <a:t>Heroku</a:t>
            </a:r>
            <a:r>
              <a:rPr lang="en-US" sz="2000" dirty="0"/>
              <a:t>, </a:t>
            </a:r>
            <a:r>
              <a:rPr lang="en-US" sz="2000" b="1" dirty="0"/>
              <a:t>AWS</a:t>
            </a:r>
            <a:r>
              <a:rPr lang="en-US" sz="2000" dirty="0"/>
              <a:t>, etc.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err="1"/>
              <a:t>Streamlit</a:t>
            </a:r>
            <a:r>
              <a:rPr lang="en-US" sz="2000" dirty="0"/>
              <a:t> makes deployment simple — you just write Python code, and it turns into a live, user-friendly app without needing HTML, CSS, or JavaScript.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900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2910840"/>
            <a:ext cx="11262360" cy="1862048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90000" dist="508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500" dirty="0" smtClean="0">
                <a:latin typeface="Bahnschrift Condensed" pitchFamily="34" charset="0"/>
              </a:rPr>
              <a:t>THANK    YOU</a:t>
            </a:r>
            <a:endParaRPr lang="en-US" sz="11500" dirty="0">
              <a:latin typeface="Bahnschrift Condense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42543" y="7726751"/>
            <a:ext cx="1787857" cy="518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753</Words>
  <Application>Microsoft Office PowerPoint</Application>
  <PresentationFormat>Custom</PresentationFormat>
  <Paragraphs>201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Inter</vt:lpstr>
      <vt:lpstr>Bahnschrift Condensed</vt:lpstr>
      <vt:lpstr>Petrona Bold</vt:lpstr>
      <vt:lpstr>Consolas</vt:lpstr>
      <vt:lpstr>Calibri</vt:lpstr>
      <vt:lpstr>Inter Bold</vt:lpstr>
      <vt:lpstr>Fraunces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Saurav Aryal</cp:lastModifiedBy>
  <cp:revision>22</cp:revision>
  <dcterms:created xsi:type="dcterms:W3CDTF">2025-06-14T05:10:34Z</dcterms:created>
  <dcterms:modified xsi:type="dcterms:W3CDTF">2025-06-17T08:45:41Z</dcterms:modified>
</cp:coreProperties>
</file>